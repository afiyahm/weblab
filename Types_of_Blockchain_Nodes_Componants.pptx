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7" r:id="rId3"/>
    <p:sldId id="258" r:id="rId4"/>
    <p:sldId id="259" r:id="rId5"/>
    <p:sldId id="261" r:id="rId6"/>
    <p:sldId id="260" r:id="rId7"/>
    <p:sldId id="257" r:id="rId8"/>
    <p:sldId id="262" r:id="rId9"/>
    <p:sldId id="263" r:id="rId10"/>
    <p:sldId id="264" r:id="rId11"/>
    <p:sldId id="265"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8982C8-7238-4CF7-9B3A-444A5A1397AB}" type="datetimeFigureOut">
              <a:rPr lang="en-IN" smtClean="0"/>
              <a:t>06-08-2025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23C2A-D90C-4EC9-9A8A-8CD6C1D18702}" type="slidenum">
              <a:rPr lang="en-IN" smtClean="0"/>
              <a:t>‹#›</a:t>
            </a:fld>
            <a:endParaRPr lang="en-IN"/>
          </a:p>
        </p:txBody>
      </p:sp>
    </p:spTree>
    <p:extLst>
      <p:ext uri="{BB962C8B-B14F-4D97-AF65-F5344CB8AC3E}">
        <p14:creationId xmlns:p14="http://schemas.microsoft.com/office/powerpoint/2010/main" val="117690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37D40-23C2-2E22-3674-9CE06D6CB7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038AD8-0BAE-C537-4F9D-647267B379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7FEE22-E5C0-E3DA-09F4-0D8C084ACF10}"/>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5" name="Footer Placeholder 4">
            <a:extLst>
              <a:ext uri="{FF2B5EF4-FFF2-40B4-BE49-F238E27FC236}">
                <a16:creationId xmlns:a16="http://schemas.microsoft.com/office/drawing/2014/main" id="{4CAAF948-7054-15F6-53C9-E6D30316C6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DCD7F0-33B9-67CE-33DE-CDFD08552B48}"/>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2717014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2019F-1ADD-30DD-929B-9AB08A6F91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3D6550-9C3A-1BFD-92AC-44D827C8F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01CD00-CE9B-E1E0-A400-D3B14F29AA55}"/>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5" name="Footer Placeholder 4">
            <a:extLst>
              <a:ext uri="{FF2B5EF4-FFF2-40B4-BE49-F238E27FC236}">
                <a16:creationId xmlns:a16="http://schemas.microsoft.com/office/drawing/2014/main" id="{BD553AE7-AAFA-55E1-3BA5-3FCA39A596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6B2774-7068-3CEE-6D55-985820552E4B}"/>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3647440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C1FB-194B-D49F-A572-F0987557CD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C64CDF-9C3A-461C-9970-3AB0F55C6D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74A3F9-F5C7-D78E-F5E6-B7835FB79026}"/>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5" name="Footer Placeholder 4">
            <a:extLst>
              <a:ext uri="{FF2B5EF4-FFF2-40B4-BE49-F238E27FC236}">
                <a16:creationId xmlns:a16="http://schemas.microsoft.com/office/drawing/2014/main" id="{5C790EBB-6A20-E58E-3881-C3AF6EC3CB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8E468C-000D-524B-1CC1-D16AA839D1F7}"/>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2778064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1459-4B88-C184-ABFB-27D9C1D6D9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E9B1BA-61D6-50A1-27B7-5C0B1A23C6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FF8F39A-2602-EA1F-3D3E-865F9C11BB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963ABD-C072-2B94-4FA5-454B5A5949C4}"/>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6" name="Footer Placeholder 5">
            <a:extLst>
              <a:ext uri="{FF2B5EF4-FFF2-40B4-BE49-F238E27FC236}">
                <a16:creationId xmlns:a16="http://schemas.microsoft.com/office/drawing/2014/main" id="{D91D9717-C4B2-1575-1436-D10DE55FCC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0EA6D5-193C-AD87-8A84-C4F136F3742F}"/>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4073438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61F4A-8879-E508-CDD1-9338D98360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621B5F-98FC-40F0-CB67-7650361290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F4D357-83EF-6B2F-B668-0B6A2BED2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E4A201-6CF8-E06E-259C-5038570773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EB7FCD-7972-FF54-CF31-A4190B74D0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2ED98C-DF25-91BE-06AA-DEE5549BA563}"/>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8" name="Footer Placeholder 7">
            <a:extLst>
              <a:ext uri="{FF2B5EF4-FFF2-40B4-BE49-F238E27FC236}">
                <a16:creationId xmlns:a16="http://schemas.microsoft.com/office/drawing/2014/main" id="{819EC27C-F172-0498-D4D2-33AE796595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393E0C3-88C3-55D9-3D30-22E86AEC6FFA}"/>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379823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24A93-9B9F-8190-E9A0-BE0EE2CA41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77D2E4-FB9E-D1FB-3236-8CF8E5E17FA2}"/>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4" name="Footer Placeholder 3">
            <a:extLst>
              <a:ext uri="{FF2B5EF4-FFF2-40B4-BE49-F238E27FC236}">
                <a16:creationId xmlns:a16="http://schemas.microsoft.com/office/drawing/2014/main" id="{526B2020-00BA-4066-ABD0-06E7E3AF5D1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1617A2-24C3-15D1-F87C-969176C15396}"/>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39265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864EA8-BB71-DB22-8183-A2E907AD5E30}"/>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3" name="Footer Placeholder 2">
            <a:extLst>
              <a:ext uri="{FF2B5EF4-FFF2-40B4-BE49-F238E27FC236}">
                <a16:creationId xmlns:a16="http://schemas.microsoft.com/office/drawing/2014/main" id="{DB3E9531-9F5E-A69B-A4FC-A13DB9DFA0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BF2B769-9A83-FB1F-3BD9-512722AF21E9}"/>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353109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F3176-B2C4-7A06-D0F1-5912CE456F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072B072-64D4-1B74-68F8-8C655A2A15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2E27DE-ADFF-FF22-34D8-0B7144A87C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7E7351-1C1B-8C27-C30D-B240AE87282D}"/>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6" name="Footer Placeholder 5">
            <a:extLst>
              <a:ext uri="{FF2B5EF4-FFF2-40B4-BE49-F238E27FC236}">
                <a16:creationId xmlns:a16="http://schemas.microsoft.com/office/drawing/2014/main" id="{4AE4D747-7CF1-3B8A-1824-CAF2749D79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DE5A8A-752C-6B8E-3235-12CE3EB565D9}"/>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1380095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8DD0-27C8-EEAD-35DE-8908AC701D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D9F9DA-5415-6B61-892E-E03DA0D3EB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703372-5FD0-3B5F-6219-A997B5F6B6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44088F-3394-9C6D-9A8E-CB75EEBA2580}"/>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6" name="Footer Placeholder 5">
            <a:extLst>
              <a:ext uri="{FF2B5EF4-FFF2-40B4-BE49-F238E27FC236}">
                <a16:creationId xmlns:a16="http://schemas.microsoft.com/office/drawing/2014/main" id="{E9F7137E-0F29-DD17-4C40-05CD93F184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623305-D2BD-61FA-D422-EDB9FAD5389B}"/>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2504221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32178-97E5-F0E2-B744-3799AF0EF0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394AFC-38E4-170D-830B-68C3A750DA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A25A09-AC6E-CAB1-8D45-EF032FBC3D6B}"/>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5" name="Footer Placeholder 4">
            <a:extLst>
              <a:ext uri="{FF2B5EF4-FFF2-40B4-BE49-F238E27FC236}">
                <a16:creationId xmlns:a16="http://schemas.microsoft.com/office/drawing/2014/main" id="{EA00DCC3-8737-2178-7A76-F9535B23A9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FAFF83-EB0E-D821-7C44-6C1B6F4828E8}"/>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2132471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4A25A4-E9D0-B153-6E05-D55C562C2A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62B163-FFCB-E378-EFF4-80FFBFD77C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48FBFE-B89D-A6FB-B8C0-8DDFD24BB359}"/>
              </a:ext>
            </a:extLst>
          </p:cNvPr>
          <p:cNvSpPr>
            <a:spLocks noGrp="1"/>
          </p:cNvSpPr>
          <p:nvPr>
            <p:ph type="dt" sz="half" idx="10"/>
          </p:nvPr>
        </p:nvSpPr>
        <p:spPr/>
        <p:txBody>
          <a:bodyPr/>
          <a:lstStyle/>
          <a:p>
            <a:fld id="{5E1B4FE0-0395-4CF7-B268-7D2E23C686C5}" type="datetimeFigureOut">
              <a:rPr lang="en-IN" smtClean="0"/>
              <a:t>06-08-2025</a:t>
            </a:fld>
            <a:endParaRPr lang="en-IN"/>
          </a:p>
        </p:txBody>
      </p:sp>
      <p:sp>
        <p:nvSpPr>
          <p:cNvPr id="5" name="Footer Placeholder 4">
            <a:extLst>
              <a:ext uri="{FF2B5EF4-FFF2-40B4-BE49-F238E27FC236}">
                <a16:creationId xmlns:a16="http://schemas.microsoft.com/office/drawing/2014/main" id="{FBB898C5-B560-0B8D-7FCA-9B592B82D6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93D48C-2668-7904-34F2-F93DEFFA2E83}"/>
              </a:ext>
            </a:extLst>
          </p:cNvPr>
          <p:cNvSpPr>
            <a:spLocks noGrp="1"/>
          </p:cNvSpPr>
          <p:nvPr>
            <p:ph type="sldNum" sz="quarter" idx="12"/>
          </p:nvPr>
        </p:nvSpPr>
        <p:spPr/>
        <p:txBody>
          <a:bodyPr/>
          <a:lstStyle/>
          <a:p>
            <a:fld id="{D81005D9-8A86-42FD-9F19-EA61B1F1D022}" type="slidenum">
              <a:rPr lang="en-IN" smtClean="0"/>
              <a:t>‹#›</a:t>
            </a:fld>
            <a:endParaRPr lang="en-IN"/>
          </a:p>
        </p:txBody>
      </p:sp>
    </p:spTree>
    <p:extLst>
      <p:ext uri="{BB962C8B-B14F-4D97-AF65-F5344CB8AC3E}">
        <p14:creationId xmlns:p14="http://schemas.microsoft.com/office/powerpoint/2010/main" val="2439526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74E95F-319C-9F85-321C-BC5F475C1A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06D04A-DB21-E09F-18AB-119AB848CF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7CDC89-00A8-3420-6BEC-481FAB7BB7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1B4FE0-0395-4CF7-B268-7D2E23C686C5}" type="datetimeFigureOut">
              <a:rPr lang="en-IN" smtClean="0"/>
              <a:t>06-08-2025</a:t>
            </a:fld>
            <a:endParaRPr lang="en-IN"/>
          </a:p>
        </p:txBody>
      </p:sp>
      <p:sp>
        <p:nvSpPr>
          <p:cNvPr id="5" name="Footer Placeholder 4">
            <a:extLst>
              <a:ext uri="{FF2B5EF4-FFF2-40B4-BE49-F238E27FC236}">
                <a16:creationId xmlns:a16="http://schemas.microsoft.com/office/drawing/2014/main" id="{EF79183F-0C3A-1745-4F09-33009B9306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697A135-A168-0FCA-9385-E861175313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005D9-8A86-42FD-9F19-EA61B1F1D022}" type="slidenum">
              <a:rPr lang="en-IN" smtClean="0"/>
              <a:t>‹#›</a:t>
            </a:fld>
            <a:endParaRPr lang="en-IN"/>
          </a:p>
        </p:txBody>
      </p:sp>
    </p:spTree>
    <p:extLst>
      <p:ext uri="{BB962C8B-B14F-4D97-AF65-F5344CB8AC3E}">
        <p14:creationId xmlns:p14="http://schemas.microsoft.com/office/powerpoint/2010/main" val="2477843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8EE13-8713-DEFF-7319-CDBEEC5883F1}"/>
              </a:ext>
            </a:extLst>
          </p:cNvPr>
          <p:cNvSpPr>
            <a:spLocks noGrp="1"/>
          </p:cNvSpPr>
          <p:nvPr>
            <p:ph type="title"/>
          </p:nvPr>
        </p:nvSpPr>
        <p:spPr>
          <a:xfrm>
            <a:off x="838199" y="221063"/>
            <a:ext cx="7003701" cy="828989"/>
          </a:xfrm>
        </p:spPr>
        <p:txBody>
          <a:bodyPr>
            <a:normAutofit/>
          </a:bodyPr>
          <a:lstStyle/>
          <a:p>
            <a:r>
              <a:rPr lang="en-IN" b="1" dirty="0">
                <a:solidFill>
                  <a:srgbClr val="C00000"/>
                </a:solidFill>
              </a:rPr>
              <a:t>Types Of Blockchain </a:t>
            </a:r>
            <a:endParaRPr lang="en-IN" dirty="0"/>
          </a:p>
        </p:txBody>
      </p:sp>
      <p:pic>
        <p:nvPicPr>
          <p:cNvPr id="7" name="Picture 2" descr="Blockchain: A Single, Immutable, Serialized Source of Truth ...">
            <a:extLst>
              <a:ext uri="{FF2B5EF4-FFF2-40B4-BE49-F238E27FC236}">
                <a16:creationId xmlns:a16="http://schemas.microsoft.com/office/drawing/2014/main" id="{95BCBD5D-1904-9FFC-B6E2-3E59C7143EF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1" y="1034980"/>
            <a:ext cx="10515600" cy="5526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78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6E001-D3D5-8E96-A752-3874CE307080}"/>
              </a:ext>
            </a:extLst>
          </p:cNvPr>
          <p:cNvSpPr>
            <a:spLocks noGrp="1"/>
          </p:cNvSpPr>
          <p:nvPr>
            <p:ph type="title"/>
          </p:nvPr>
        </p:nvSpPr>
        <p:spPr>
          <a:xfrm>
            <a:off x="838200" y="545284"/>
            <a:ext cx="8708472" cy="805344"/>
          </a:xfrm>
        </p:spPr>
        <p:txBody>
          <a:bodyPr>
            <a:normAutofit/>
          </a:bodyPr>
          <a:lstStyle/>
          <a:p>
            <a:r>
              <a:rPr lang="en-IN" sz="3200" b="1" dirty="0">
                <a:latin typeface="Times New Roman" panose="02020603050405020304" pitchFamily="18" charset="0"/>
                <a:cs typeface="Times New Roman" panose="02020603050405020304" pitchFamily="18" charset="0"/>
              </a:rPr>
              <a:t>Types Of Blocks</a:t>
            </a:r>
          </a:p>
        </p:txBody>
      </p:sp>
      <p:sp>
        <p:nvSpPr>
          <p:cNvPr id="3" name="Content Placeholder 2">
            <a:extLst>
              <a:ext uri="{FF2B5EF4-FFF2-40B4-BE49-F238E27FC236}">
                <a16:creationId xmlns:a16="http://schemas.microsoft.com/office/drawing/2014/main" id="{A1FDC4C5-685A-95E6-2E0D-04F3D3B14299}"/>
              </a:ext>
            </a:extLst>
          </p:cNvPr>
          <p:cNvSpPr>
            <a:spLocks noGrp="1"/>
          </p:cNvSpPr>
          <p:nvPr>
            <p:ph idx="1"/>
          </p:nvPr>
        </p:nvSpPr>
        <p:spPr/>
        <p:txBody>
          <a:bodyPr/>
          <a:lstStyle/>
          <a:p>
            <a:pPr>
              <a:lnSpc>
                <a:spcPct val="250000"/>
              </a:lnSpc>
            </a:pPr>
            <a:r>
              <a:rPr lang="en-IN" sz="2000" dirty="0">
                <a:latin typeface="Times New Roman" panose="02020603050405020304" pitchFamily="18" charset="0"/>
                <a:cs typeface="Times New Roman" panose="02020603050405020304" pitchFamily="18" charset="0"/>
              </a:rPr>
              <a:t>Genesis Block: First block of Blockchain</a:t>
            </a:r>
          </a:p>
          <a:p>
            <a:pPr>
              <a:lnSpc>
                <a:spcPct val="250000"/>
              </a:lnSpc>
            </a:pPr>
            <a:r>
              <a:rPr lang="en-IN" sz="2000" dirty="0">
                <a:latin typeface="Times New Roman" panose="02020603050405020304" pitchFamily="18" charset="0"/>
                <a:cs typeface="Times New Roman" panose="02020603050405020304" pitchFamily="18" charset="0"/>
              </a:rPr>
              <a:t>Valid Block: Already Mined by Miners and added to blockchain</a:t>
            </a:r>
          </a:p>
          <a:p>
            <a:pPr>
              <a:lnSpc>
                <a:spcPct val="250000"/>
              </a:lnSpc>
            </a:pPr>
            <a:r>
              <a:rPr lang="en-IN" sz="2000" dirty="0">
                <a:latin typeface="Times New Roman" panose="02020603050405020304" pitchFamily="18" charset="0"/>
                <a:cs typeface="Times New Roman" panose="02020603050405020304" pitchFamily="18" charset="0"/>
              </a:rPr>
              <a:t>Orphan Block: block that do not meet consensus </a:t>
            </a:r>
          </a:p>
          <a:p>
            <a:pPr marL="0" indent="0">
              <a:buNone/>
            </a:pPr>
            <a:endParaRPr lang="en-IN" dirty="0"/>
          </a:p>
        </p:txBody>
      </p:sp>
    </p:spTree>
    <p:extLst>
      <p:ext uri="{BB962C8B-B14F-4D97-AF65-F5344CB8AC3E}">
        <p14:creationId xmlns:p14="http://schemas.microsoft.com/office/powerpoint/2010/main" val="618509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9B4F255-F97A-764C-551E-014FFF8A9C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5802" y="1677798"/>
            <a:ext cx="9515789" cy="4815077"/>
          </a:xfrm>
        </p:spPr>
      </p:pic>
      <p:sp>
        <p:nvSpPr>
          <p:cNvPr id="2" name="TextBox 1">
            <a:extLst>
              <a:ext uri="{FF2B5EF4-FFF2-40B4-BE49-F238E27FC236}">
                <a16:creationId xmlns:a16="http://schemas.microsoft.com/office/drawing/2014/main" id="{A2BC957D-A7E9-17D3-166A-DE3F4AF8BAB7}"/>
              </a:ext>
            </a:extLst>
          </p:cNvPr>
          <p:cNvSpPr txBox="1"/>
          <p:nvPr/>
        </p:nvSpPr>
        <p:spPr>
          <a:xfrm>
            <a:off x="973123" y="671119"/>
            <a:ext cx="5905849"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Types of Blockchain</a:t>
            </a:r>
          </a:p>
        </p:txBody>
      </p:sp>
    </p:spTree>
    <p:extLst>
      <p:ext uri="{BB962C8B-B14F-4D97-AF65-F5344CB8AC3E}">
        <p14:creationId xmlns:p14="http://schemas.microsoft.com/office/powerpoint/2010/main" val="3803343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B52D7E-5204-EC88-228B-69DEFDBB6AF3}"/>
              </a:ext>
            </a:extLst>
          </p:cNvPr>
          <p:cNvSpPr>
            <a:spLocks noGrp="1"/>
          </p:cNvSpPr>
          <p:nvPr>
            <p:ph idx="1"/>
          </p:nvPr>
        </p:nvSpPr>
        <p:spPr>
          <a:xfrm>
            <a:off x="291402" y="512465"/>
            <a:ext cx="10885714" cy="6511332"/>
          </a:xfrm>
        </p:spPr>
        <p:txBody>
          <a:bodyPr>
            <a:noAutofit/>
          </a:bodyPr>
          <a:lstStyle/>
          <a:p>
            <a:r>
              <a:rPr lang="en-US" sz="2400" b="1" dirty="0">
                <a:solidFill>
                  <a:srgbClr val="C00000"/>
                </a:solidFill>
              </a:rPr>
              <a:t>Public Blockchain:</a:t>
            </a:r>
          </a:p>
          <a:p>
            <a:r>
              <a:rPr lang="en-US" sz="1800" dirty="0">
                <a:latin typeface="+mj-lt"/>
              </a:rPr>
              <a:t>These blockchains are completely open to following the idea of decentralization. </a:t>
            </a:r>
          </a:p>
          <a:p>
            <a:r>
              <a:rPr lang="en-US" sz="1800" dirty="0">
                <a:latin typeface="+mj-lt"/>
              </a:rPr>
              <a:t>They don’t have any restrictions, anyone having a computer and internet can participate in the network.</a:t>
            </a:r>
          </a:p>
          <a:p>
            <a:r>
              <a:rPr lang="en-US" sz="1800" dirty="0">
                <a:latin typeface="+mj-lt"/>
              </a:rPr>
              <a:t>As the name is public this blockchain is open to the public, which means it is not owned by anyone. </a:t>
            </a:r>
          </a:p>
          <a:p>
            <a:r>
              <a:rPr lang="en-US" sz="1800" dirty="0">
                <a:latin typeface="+mj-lt"/>
              </a:rPr>
              <a:t>Anyone having internet and a computer with good hardware can participate in this public blockchain.</a:t>
            </a:r>
          </a:p>
          <a:p>
            <a:r>
              <a:rPr lang="en-US" sz="1800" dirty="0">
                <a:latin typeface="+mj-lt"/>
              </a:rPr>
              <a:t>All the computer in the network hold the copy of other nodes or block present in the network</a:t>
            </a:r>
          </a:p>
          <a:p>
            <a:r>
              <a:rPr lang="en-US" sz="1800" dirty="0">
                <a:latin typeface="+mj-lt"/>
              </a:rPr>
              <a:t>In this public blockchain, we can also perform verification of transactions or records</a:t>
            </a:r>
          </a:p>
          <a:p>
            <a:endParaRPr lang="en-US" sz="1800" dirty="0"/>
          </a:p>
          <a:p>
            <a:r>
              <a:rPr lang="en-US" sz="1800" b="1" dirty="0">
                <a:solidFill>
                  <a:srgbClr val="C00000"/>
                </a:solidFill>
              </a:rPr>
              <a:t>Advantages:</a:t>
            </a:r>
            <a:endParaRPr lang="en-US" sz="1800" dirty="0"/>
          </a:p>
          <a:p>
            <a:r>
              <a:rPr lang="en-US" sz="1800" b="1" dirty="0"/>
              <a:t>Trustable</a:t>
            </a:r>
            <a:r>
              <a:rPr lang="en-US" sz="1800" dirty="0"/>
              <a:t>: </a:t>
            </a:r>
            <a:r>
              <a:rPr lang="en-US" sz="1800" dirty="0">
                <a:latin typeface="+mj-lt"/>
              </a:rPr>
              <a:t>There are algorithms to detect no fraud. Participants need not worry about the other nodes in the network</a:t>
            </a:r>
          </a:p>
          <a:p>
            <a:r>
              <a:rPr lang="en-US" sz="1800" b="1" dirty="0"/>
              <a:t>Secure:</a:t>
            </a:r>
            <a:r>
              <a:rPr lang="en-US" sz="1800" dirty="0"/>
              <a:t> </a:t>
            </a:r>
            <a:r>
              <a:rPr lang="en-US" sz="1800" dirty="0">
                <a:latin typeface="+mj-lt"/>
              </a:rPr>
              <a:t>This blockchain is large in size as it is open to the public. In a large size, there is greater distribution of records</a:t>
            </a:r>
          </a:p>
          <a:p>
            <a:r>
              <a:rPr lang="en-US" sz="1800" b="1" dirty="0"/>
              <a:t>Anonymous Nature</a:t>
            </a:r>
            <a:r>
              <a:rPr lang="en-US" sz="1800" dirty="0"/>
              <a:t>: </a:t>
            </a:r>
            <a:r>
              <a:rPr lang="en-US" sz="1800" dirty="0">
                <a:latin typeface="+mj-lt"/>
              </a:rPr>
              <a:t>It is a secure platform to make your transaction properly at the same time, you are not required to reveal your name and identity in order to participate.</a:t>
            </a:r>
          </a:p>
          <a:p>
            <a:r>
              <a:rPr lang="en-US" sz="1800" b="1" dirty="0">
                <a:latin typeface="+mj-lt"/>
              </a:rPr>
              <a:t>Decentralized</a:t>
            </a:r>
            <a:r>
              <a:rPr lang="en-US" sz="1800" dirty="0">
                <a:latin typeface="+mj-lt"/>
              </a:rPr>
              <a:t>: There is no single platform that maintains the network, instead every user has a copy of the ledger.</a:t>
            </a:r>
          </a:p>
          <a:p>
            <a:endParaRPr lang="en-US" sz="1400" dirty="0"/>
          </a:p>
        </p:txBody>
      </p:sp>
    </p:spTree>
    <p:extLst>
      <p:ext uri="{BB962C8B-B14F-4D97-AF65-F5344CB8AC3E}">
        <p14:creationId xmlns:p14="http://schemas.microsoft.com/office/powerpoint/2010/main" val="561134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03D49-A29F-AC28-1383-7847B68444D3}"/>
              </a:ext>
            </a:extLst>
          </p:cNvPr>
          <p:cNvSpPr>
            <a:spLocks noGrp="1"/>
          </p:cNvSpPr>
          <p:nvPr>
            <p:ph idx="1"/>
          </p:nvPr>
        </p:nvSpPr>
        <p:spPr>
          <a:xfrm>
            <a:off x="838200" y="1085222"/>
            <a:ext cx="10515600" cy="5091741"/>
          </a:xfrm>
        </p:spPr>
        <p:txBody>
          <a:bodyPr>
            <a:normAutofit/>
          </a:bodyPr>
          <a:lstStyle/>
          <a:p>
            <a:r>
              <a:rPr lang="en-US" sz="2000" b="1" dirty="0">
                <a:solidFill>
                  <a:srgbClr val="C00000"/>
                </a:solidFill>
              </a:rPr>
              <a:t>Disadvantages:</a:t>
            </a:r>
            <a:endParaRPr lang="en-US" sz="2000" dirty="0"/>
          </a:p>
          <a:p>
            <a:r>
              <a:rPr lang="en-US" sz="2000" b="1" dirty="0"/>
              <a:t>Processing</a:t>
            </a:r>
            <a:r>
              <a:rPr lang="en-US" sz="2000" dirty="0"/>
              <a:t>: </a:t>
            </a:r>
            <a:r>
              <a:rPr lang="en-US" sz="2000" dirty="0">
                <a:latin typeface="+mj-lt"/>
              </a:rPr>
              <a:t>The rate of the transaction process is very slow, due to its large size. Verification of each node is a very time-consuming process.</a:t>
            </a:r>
          </a:p>
          <a:p>
            <a:r>
              <a:rPr lang="en-US" sz="2000" b="1" dirty="0"/>
              <a:t>Energy Consumption</a:t>
            </a:r>
            <a:r>
              <a:rPr lang="en-US" sz="2000" dirty="0"/>
              <a:t>: </a:t>
            </a:r>
            <a:r>
              <a:rPr lang="en-US" sz="2000" dirty="0">
                <a:latin typeface="+mj-lt"/>
              </a:rPr>
              <a:t>Proof of work is high energy-consuming. It requires good computer hardware to participate in the network</a:t>
            </a:r>
          </a:p>
          <a:p>
            <a:r>
              <a:rPr lang="en-US" sz="2000" b="1" dirty="0"/>
              <a:t>Acceptance</a:t>
            </a:r>
            <a:r>
              <a:rPr lang="en-US" sz="2000" dirty="0"/>
              <a:t>: </a:t>
            </a:r>
            <a:r>
              <a:rPr lang="en-US" sz="2000" dirty="0">
                <a:latin typeface="+mj-lt"/>
              </a:rPr>
              <a:t>No central authority is there so governments are facing the issue to implement the technology faster</a:t>
            </a:r>
            <a:r>
              <a:rPr lang="en-US" sz="2000" dirty="0"/>
              <a:t>.</a:t>
            </a:r>
          </a:p>
          <a:p>
            <a:pPr>
              <a:lnSpc>
                <a:spcPct val="170000"/>
              </a:lnSpc>
            </a:pPr>
            <a:r>
              <a:rPr lang="en-US" sz="2000" b="1" dirty="0"/>
              <a:t>Use Cases</a:t>
            </a:r>
            <a:r>
              <a:rPr lang="en-US" sz="2000" dirty="0"/>
              <a:t>: </a:t>
            </a:r>
            <a:r>
              <a:rPr lang="en-US" sz="2000" dirty="0">
                <a:latin typeface="+mj-lt"/>
              </a:rPr>
              <a:t>Public Blockchain is secured with proof of work or proof of stake they can be used to displace traditional financial systems. The more advanced side of this blockchain is the smart contract that enabled this blockchain to support decentralization. Examples of public blockchain are Bitcoin, Ethereum.</a:t>
            </a:r>
          </a:p>
          <a:p>
            <a:pPr>
              <a:lnSpc>
                <a:spcPct val="170000"/>
              </a:lnSpc>
            </a:pPr>
            <a:endParaRPr lang="en-IN" sz="2000" dirty="0"/>
          </a:p>
          <a:p>
            <a:endParaRPr lang="en-IN" dirty="0"/>
          </a:p>
        </p:txBody>
      </p:sp>
    </p:spTree>
    <p:extLst>
      <p:ext uri="{BB962C8B-B14F-4D97-AF65-F5344CB8AC3E}">
        <p14:creationId xmlns:p14="http://schemas.microsoft.com/office/powerpoint/2010/main" val="3799032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81CB05-125D-BE45-3D96-2FFC1D73D1E6}"/>
              </a:ext>
            </a:extLst>
          </p:cNvPr>
          <p:cNvSpPr>
            <a:spLocks noGrp="1"/>
          </p:cNvSpPr>
          <p:nvPr>
            <p:ph idx="1"/>
          </p:nvPr>
        </p:nvSpPr>
        <p:spPr>
          <a:xfrm>
            <a:off x="365928" y="70338"/>
            <a:ext cx="10515600" cy="5564014"/>
          </a:xfrm>
        </p:spPr>
        <p:txBody>
          <a:bodyPr>
            <a:noAutofit/>
          </a:bodyPr>
          <a:lstStyle/>
          <a:p>
            <a:pPr>
              <a:lnSpc>
                <a:spcPct val="100000"/>
              </a:lnSpc>
            </a:pPr>
            <a:endParaRPr lang="en-US" sz="1800" dirty="0"/>
          </a:p>
          <a:p>
            <a:pPr>
              <a:lnSpc>
                <a:spcPct val="100000"/>
              </a:lnSpc>
            </a:pPr>
            <a:r>
              <a:rPr lang="en-US" sz="2400" b="1" dirty="0">
                <a:solidFill>
                  <a:srgbClr val="C00000"/>
                </a:solidFill>
              </a:rPr>
              <a:t>Private Blockchain:</a:t>
            </a:r>
          </a:p>
          <a:p>
            <a:pPr>
              <a:lnSpc>
                <a:spcPct val="100000"/>
              </a:lnSpc>
            </a:pPr>
            <a:r>
              <a:rPr lang="en-US" sz="1800" dirty="0"/>
              <a:t>These blockchains are not as decentralized as the public blockchain only selected nodes can participate in the process, making it more secure than the others.</a:t>
            </a:r>
          </a:p>
          <a:p>
            <a:pPr>
              <a:lnSpc>
                <a:spcPct val="100000"/>
              </a:lnSpc>
            </a:pPr>
            <a:endParaRPr lang="en-US" sz="1800" dirty="0"/>
          </a:p>
          <a:p>
            <a:pPr>
              <a:lnSpc>
                <a:spcPct val="100000"/>
              </a:lnSpc>
            </a:pPr>
            <a:r>
              <a:rPr lang="en-US" sz="1800" dirty="0"/>
              <a:t>These are not as open as a public blockchain.</a:t>
            </a:r>
          </a:p>
          <a:p>
            <a:pPr>
              <a:lnSpc>
                <a:spcPct val="100000"/>
              </a:lnSpc>
            </a:pPr>
            <a:r>
              <a:rPr lang="en-US" sz="1800" dirty="0"/>
              <a:t>They are open to some authorized users only.</a:t>
            </a:r>
          </a:p>
          <a:p>
            <a:pPr>
              <a:lnSpc>
                <a:spcPct val="100000"/>
              </a:lnSpc>
            </a:pPr>
            <a:r>
              <a:rPr lang="en-US" sz="1800" dirty="0"/>
              <a:t>These blockchains are operated in a closed network.</a:t>
            </a:r>
          </a:p>
          <a:p>
            <a:pPr>
              <a:lnSpc>
                <a:spcPct val="100000"/>
              </a:lnSpc>
            </a:pPr>
            <a:r>
              <a:rPr lang="en-US" sz="1800" dirty="0"/>
              <a:t>In this few people are allowed to participate in a network within a company/organization.</a:t>
            </a:r>
          </a:p>
          <a:p>
            <a:pPr>
              <a:lnSpc>
                <a:spcPct val="100000"/>
              </a:lnSpc>
            </a:pPr>
            <a:endParaRPr lang="en-US" sz="1800" dirty="0"/>
          </a:p>
          <a:p>
            <a:pPr>
              <a:lnSpc>
                <a:spcPct val="100000"/>
              </a:lnSpc>
            </a:pPr>
            <a:r>
              <a:rPr lang="en-US" sz="1800" b="1" dirty="0">
                <a:solidFill>
                  <a:srgbClr val="C00000"/>
                </a:solidFill>
              </a:rPr>
              <a:t>Advantages:</a:t>
            </a:r>
          </a:p>
          <a:p>
            <a:pPr>
              <a:lnSpc>
                <a:spcPct val="100000"/>
              </a:lnSpc>
            </a:pPr>
            <a:r>
              <a:rPr lang="en-US" sz="1800" dirty="0"/>
              <a:t>Speed: The rate of the transaction is high, due to its small size. Verification of each node is less time-consuming.</a:t>
            </a:r>
          </a:p>
          <a:p>
            <a:pPr>
              <a:lnSpc>
                <a:spcPct val="100000"/>
              </a:lnSpc>
            </a:pPr>
            <a:r>
              <a:rPr lang="en-US" sz="1800" dirty="0"/>
              <a:t>Scalability: We can modify the scalability. The size of the network can be decided manually.</a:t>
            </a:r>
          </a:p>
          <a:p>
            <a:pPr>
              <a:lnSpc>
                <a:spcPct val="100000"/>
              </a:lnSpc>
            </a:pPr>
            <a:r>
              <a:rPr lang="en-US" sz="1800" dirty="0"/>
              <a:t>Privacy: It has increased the level of privacy for confidentiality reasons as the businesses required.</a:t>
            </a:r>
          </a:p>
          <a:p>
            <a:pPr>
              <a:lnSpc>
                <a:spcPct val="100000"/>
              </a:lnSpc>
            </a:pPr>
            <a:r>
              <a:rPr lang="en-US" sz="1800" dirty="0"/>
              <a:t>Balanced: It is more balanced as only some user has the access to the transaction which improves the performance of the network.</a:t>
            </a:r>
            <a:endParaRPr lang="en-IN" sz="1800" dirty="0"/>
          </a:p>
        </p:txBody>
      </p:sp>
    </p:spTree>
    <p:extLst>
      <p:ext uri="{BB962C8B-B14F-4D97-AF65-F5344CB8AC3E}">
        <p14:creationId xmlns:p14="http://schemas.microsoft.com/office/powerpoint/2010/main" val="343959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8AF36D-56BB-B8B5-9C8A-682063C26988}"/>
              </a:ext>
            </a:extLst>
          </p:cNvPr>
          <p:cNvSpPr>
            <a:spLocks noGrp="1"/>
          </p:cNvSpPr>
          <p:nvPr>
            <p:ph idx="1"/>
          </p:nvPr>
        </p:nvSpPr>
        <p:spPr>
          <a:xfrm>
            <a:off x="576943" y="1031805"/>
            <a:ext cx="10515600" cy="4351338"/>
          </a:xfrm>
        </p:spPr>
        <p:txBody>
          <a:bodyPr>
            <a:normAutofit/>
          </a:bodyPr>
          <a:lstStyle/>
          <a:p>
            <a:pPr>
              <a:lnSpc>
                <a:spcPct val="100000"/>
              </a:lnSpc>
            </a:pPr>
            <a:r>
              <a:rPr lang="en-US" sz="1800" dirty="0"/>
              <a:t>Disadvantages:</a:t>
            </a:r>
          </a:p>
          <a:p>
            <a:pPr>
              <a:lnSpc>
                <a:spcPct val="100000"/>
              </a:lnSpc>
            </a:pPr>
            <a:endParaRPr lang="en-US" sz="1800" dirty="0"/>
          </a:p>
          <a:p>
            <a:pPr>
              <a:lnSpc>
                <a:spcPct val="100000"/>
              </a:lnSpc>
            </a:pPr>
            <a:r>
              <a:rPr lang="en-US" sz="1800" dirty="0">
                <a:solidFill>
                  <a:srgbClr val="C00000"/>
                </a:solidFill>
              </a:rPr>
              <a:t>Security-</a:t>
            </a:r>
            <a:r>
              <a:rPr lang="en-US" sz="1800" dirty="0"/>
              <a:t> The number of nodes in this type is limited so chances of manipulation are there. These blockchains are more vulnerable.</a:t>
            </a:r>
          </a:p>
          <a:p>
            <a:pPr>
              <a:lnSpc>
                <a:spcPct val="100000"/>
              </a:lnSpc>
            </a:pPr>
            <a:r>
              <a:rPr lang="en-US" sz="1800" dirty="0">
                <a:solidFill>
                  <a:srgbClr val="C00000"/>
                </a:solidFill>
              </a:rPr>
              <a:t>Centralized</a:t>
            </a:r>
            <a:r>
              <a:rPr lang="en-US" sz="1800" dirty="0"/>
              <a:t>- Trust building is one of the main disadvantages due to its central nature. Organizations can use this for malpractices.</a:t>
            </a:r>
          </a:p>
          <a:p>
            <a:pPr>
              <a:lnSpc>
                <a:spcPct val="100000"/>
              </a:lnSpc>
            </a:pPr>
            <a:r>
              <a:rPr lang="en-US" sz="1800" dirty="0">
                <a:solidFill>
                  <a:srgbClr val="C00000"/>
                </a:solidFill>
              </a:rPr>
              <a:t>Count</a:t>
            </a:r>
            <a:r>
              <a:rPr lang="en-US" sz="1800" dirty="0"/>
              <a:t>- Since there are few nodes if nodes go offline the entire system of blockchain can be endangered.</a:t>
            </a:r>
          </a:p>
          <a:p>
            <a:pPr>
              <a:lnSpc>
                <a:spcPct val="100000"/>
              </a:lnSpc>
            </a:pPr>
            <a:r>
              <a:rPr lang="en-US" sz="1800" dirty="0">
                <a:solidFill>
                  <a:srgbClr val="C00000"/>
                </a:solidFill>
              </a:rPr>
              <a:t>Use Cases</a:t>
            </a:r>
            <a:r>
              <a:rPr lang="en-US" sz="1800" dirty="0"/>
              <a:t>: With proper security and maintenance, this blockchain is a great asset to secure information without exposing it to the public eye. Therefore companies use them for internal auditing, voting, and asset management. An example of private blockchains is Hyperledger, Corda.</a:t>
            </a:r>
            <a:endParaRPr lang="en-IN" sz="1800" dirty="0"/>
          </a:p>
        </p:txBody>
      </p:sp>
    </p:spTree>
    <p:extLst>
      <p:ext uri="{BB962C8B-B14F-4D97-AF65-F5344CB8AC3E}">
        <p14:creationId xmlns:p14="http://schemas.microsoft.com/office/powerpoint/2010/main" val="2816299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6E6A-B735-981D-B074-0BCEAC52EC50}"/>
              </a:ext>
            </a:extLst>
          </p:cNvPr>
          <p:cNvSpPr>
            <a:spLocks noGrp="1"/>
          </p:cNvSpPr>
          <p:nvPr>
            <p:ph type="title"/>
          </p:nvPr>
        </p:nvSpPr>
        <p:spPr>
          <a:xfrm>
            <a:off x="838200" y="761423"/>
            <a:ext cx="9652279" cy="384089"/>
          </a:xfrm>
        </p:spPr>
        <p:txBody>
          <a:bodyPr>
            <a:normAutofit fontScale="90000"/>
          </a:bodyPr>
          <a:lstStyle/>
          <a:p>
            <a:r>
              <a:rPr lang="en-IN" sz="2700" b="1" dirty="0">
                <a:solidFill>
                  <a:srgbClr val="C00000"/>
                </a:solidFill>
              </a:rPr>
              <a:t>Hybrid/Consortium Blockchain</a:t>
            </a:r>
            <a:br>
              <a:rPr lang="en-IN" dirty="0"/>
            </a:br>
            <a:endParaRPr lang="en-IN" dirty="0"/>
          </a:p>
        </p:txBody>
      </p:sp>
      <p:sp>
        <p:nvSpPr>
          <p:cNvPr id="3" name="Content Placeholder 2">
            <a:extLst>
              <a:ext uri="{FF2B5EF4-FFF2-40B4-BE49-F238E27FC236}">
                <a16:creationId xmlns:a16="http://schemas.microsoft.com/office/drawing/2014/main" id="{6E6BC07D-782C-13DD-0AD5-56BE3BAF256B}"/>
              </a:ext>
            </a:extLst>
          </p:cNvPr>
          <p:cNvSpPr>
            <a:spLocks noGrp="1"/>
          </p:cNvSpPr>
          <p:nvPr>
            <p:ph idx="1"/>
          </p:nvPr>
        </p:nvSpPr>
        <p:spPr>
          <a:xfrm>
            <a:off x="532563" y="1145512"/>
            <a:ext cx="10821237" cy="5031451"/>
          </a:xfrm>
        </p:spPr>
        <p:txBody>
          <a:bodyPr>
            <a:normAutofit fontScale="62500" lnSpcReduction="20000"/>
          </a:bodyPr>
          <a:lstStyle/>
          <a:p>
            <a:endParaRPr lang="en-US" dirty="0"/>
          </a:p>
          <a:p>
            <a:r>
              <a:rPr lang="en-US" dirty="0">
                <a:latin typeface="+mj-lt"/>
              </a:rPr>
              <a:t>It is the mixed content of the private and public blockchain, where some part is controlled by some organization and other makes are made visible as a public blockchain.</a:t>
            </a:r>
          </a:p>
          <a:p>
            <a:endParaRPr lang="en-US" dirty="0">
              <a:latin typeface="+mj-lt"/>
            </a:endParaRPr>
          </a:p>
          <a:p>
            <a:r>
              <a:rPr lang="en-US" dirty="0">
                <a:latin typeface="+mj-lt"/>
              </a:rPr>
              <a:t>It is a combination of both public and private blockchain. </a:t>
            </a:r>
          </a:p>
          <a:p>
            <a:r>
              <a:rPr lang="en-US" dirty="0">
                <a:latin typeface="+mj-lt"/>
              </a:rPr>
              <a:t>Permission-based and permissionless systems are used.</a:t>
            </a:r>
          </a:p>
          <a:p>
            <a:r>
              <a:rPr lang="en-US" dirty="0">
                <a:latin typeface="+mj-lt"/>
              </a:rPr>
              <a:t>User access information via smart contracts</a:t>
            </a:r>
          </a:p>
          <a:p>
            <a:r>
              <a:rPr lang="en-US" dirty="0">
                <a:latin typeface="+mj-lt"/>
              </a:rPr>
              <a:t>Even a primary entity owns a hybrid blockchain it cannot alter the transaction</a:t>
            </a:r>
          </a:p>
          <a:p>
            <a:endParaRPr lang="en-US" dirty="0"/>
          </a:p>
          <a:p>
            <a:r>
              <a:rPr lang="en-US" sz="3200" dirty="0">
                <a:solidFill>
                  <a:srgbClr val="C00000"/>
                </a:solidFill>
              </a:rPr>
              <a:t>Advantages:</a:t>
            </a:r>
            <a:endParaRPr lang="en-US" dirty="0"/>
          </a:p>
          <a:p>
            <a:r>
              <a:rPr lang="en-US" dirty="0">
                <a:solidFill>
                  <a:srgbClr val="C00000"/>
                </a:solidFill>
              </a:rPr>
              <a:t>Ecosystem</a:t>
            </a:r>
            <a:r>
              <a:rPr lang="en-US" dirty="0"/>
              <a:t>: </a:t>
            </a:r>
            <a:r>
              <a:rPr lang="en-US" dirty="0">
                <a:latin typeface="+mj-lt"/>
              </a:rPr>
              <a:t>Most advantageous thing about this blockchain is its hybrid nature. It cannot be hacked as 51% of users don’t have access to the network</a:t>
            </a:r>
          </a:p>
          <a:p>
            <a:r>
              <a:rPr lang="en-US" dirty="0">
                <a:solidFill>
                  <a:srgbClr val="C00000"/>
                </a:solidFill>
              </a:rPr>
              <a:t>Cost:</a:t>
            </a:r>
            <a:r>
              <a:rPr lang="en-US" dirty="0"/>
              <a:t> </a:t>
            </a:r>
            <a:r>
              <a:rPr lang="en-US" dirty="0">
                <a:latin typeface="+mj-lt"/>
              </a:rPr>
              <a:t>Transactions are cheap as only a few nodes verify the transaction. All the nodes don’t carry the verification hence less computational cost.</a:t>
            </a:r>
          </a:p>
          <a:p>
            <a:r>
              <a:rPr lang="en-US" dirty="0">
                <a:solidFill>
                  <a:srgbClr val="C00000"/>
                </a:solidFill>
              </a:rPr>
              <a:t>Architecture</a:t>
            </a:r>
            <a:r>
              <a:rPr lang="en-US" dirty="0"/>
              <a:t>: </a:t>
            </a:r>
            <a:r>
              <a:rPr lang="en-US" dirty="0">
                <a:latin typeface="+mj-lt"/>
              </a:rPr>
              <a:t>It is highly customizable and still maintains integrity, security, and transparency.</a:t>
            </a:r>
          </a:p>
          <a:p>
            <a:r>
              <a:rPr lang="en-US" b="1" dirty="0">
                <a:solidFill>
                  <a:srgbClr val="C00000"/>
                </a:solidFill>
                <a:latin typeface="+mj-lt"/>
              </a:rPr>
              <a:t>Operations</a:t>
            </a:r>
            <a:r>
              <a:rPr lang="en-US" dirty="0">
                <a:latin typeface="+mj-lt"/>
              </a:rPr>
              <a:t>: It can choose the participants in the blockchain and decide which transaction can be made public.</a:t>
            </a:r>
            <a:endParaRPr lang="en-IN" dirty="0">
              <a:latin typeface="+mj-lt"/>
            </a:endParaRPr>
          </a:p>
        </p:txBody>
      </p:sp>
    </p:spTree>
    <p:extLst>
      <p:ext uri="{BB962C8B-B14F-4D97-AF65-F5344CB8AC3E}">
        <p14:creationId xmlns:p14="http://schemas.microsoft.com/office/powerpoint/2010/main" val="1351200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7A1BF-0AF9-6583-91B7-659CC6FB79E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DC71DE5B-8A29-466E-1982-5BE89E467B72}"/>
              </a:ext>
            </a:extLst>
          </p:cNvPr>
          <p:cNvSpPr>
            <a:spLocks noGrp="1"/>
          </p:cNvSpPr>
          <p:nvPr>
            <p:ph idx="1"/>
          </p:nvPr>
        </p:nvSpPr>
        <p:spPr/>
        <p:txBody>
          <a:bodyPr>
            <a:normAutofit lnSpcReduction="10000"/>
          </a:bodyPr>
          <a:lstStyle/>
          <a:p>
            <a:pPr>
              <a:lnSpc>
                <a:spcPct val="100000"/>
              </a:lnSpc>
            </a:pPr>
            <a:r>
              <a:rPr lang="en-US" sz="2000" dirty="0">
                <a:solidFill>
                  <a:srgbClr val="C00000"/>
                </a:solidFill>
              </a:rPr>
              <a:t>Disadvantages:</a:t>
            </a:r>
            <a:endParaRPr lang="en-US" sz="2000" dirty="0"/>
          </a:p>
          <a:p>
            <a:pPr>
              <a:lnSpc>
                <a:spcPct val="100000"/>
              </a:lnSpc>
            </a:pPr>
            <a:r>
              <a:rPr lang="en-US" sz="2000" dirty="0">
                <a:solidFill>
                  <a:srgbClr val="C00000"/>
                </a:solidFill>
              </a:rPr>
              <a:t>Efficiency</a:t>
            </a:r>
            <a:r>
              <a:rPr lang="en-US" sz="2000" dirty="0"/>
              <a:t>: </a:t>
            </a:r>
            <a:r>
              <a:rPr lang="en-US" sz="2000" dirty="0">
                <a:latin typeface="+mj-lt"/>
              </a:rPr>
              <a:t>Not everyone is in the position to implement a hybrid Blockchain. The organization also faces some difficulty in terms of efficiency in maintenance.</a:t>
            </a:r>
          </a:p>
          <a:p>
            <a:pPr>
              <a:lnSpc>
                <a:spcPct val="100000"/>
              </a:lnSpc>
            </a:pPr>
            <a:r>
              <a:rPr lang="en-US" sz="2000" dirty="0">
                <a:solidFill>
                  <a:srgbClr val="C00000"/>
                </a:solidFill>
              </a:rPr>
              <a:t>Transparency</a:t>
            </a:r>
            <a:r>
              <a:rPr lang="en-US" sz="2000" dirty="0"/>
              <a:t>: </a:t>
            </a:r>
            <a:r>
              <a:rPr lang="en-US" sz="2000" dirty="0">
                <a:latin typeface="+mj-lt"/>
              </a:rPr>
              <a:t>There is a possibility that someone can hide information from the user. If someone wants to get access through a hybrid blockchain it depends on the organization whether they will give or not.</a:t>
            </a:r>
          </a:p>
          <a:p>
            <a:pPr>
              <a:lnSpc>
                <a:spcPct val="100000"/>
              </a:lnSpc>
            </a:pPr>
            <a:r>
              <a:rPr lang="en-US" sz="2000" dirty="0">
                <a:solidFill>
                  <a:srgbClr val="C00000"/>
                </a:solidFill>
              </a:rPr>
              <a:t>Ecosystem</a:t>
            </a:r>
            <a:r>
              <a:rPr lang="en-US" sz="2000" dirty="0"/>
              <a:t>: </a:t>
            </a:r>
            <a:r>
              <a:rPr lang="en-US" sz="2000" dirty="0">
                <a:latin typeface="+mj-lt"/>
              </a:rPr>
              <a:t>Due to its closed ecosystem this blockchain lacks the incentives for network participation</a:t>
            </a:r>
            <a:r>
              <a:rPr lang="en-US" sz="2000" dirty="0"/>
              <a:t>.</a:t>
            </a:r>
          </a:p>
          <a:p>
            <a:pPr>
              <a:lnSpc>
                <a:spcPct val="100000"/>
              </a:lnSpc>
            </a:pPr>
            <a:endParaRPr lang="en-US" sz="2000" dirty="0"/>
          </a:p>
          <a:p>
            <a:pPr>
              <a:lnSpc>
                <a:spcPct val="100000"/>
              </a:lnSpc>
            </a:pPr>
            <a:r>
              <a:rPr lang="en-US" sz="2000" dirty="0">
                <a:solidFill>
                  <a:srgbClr val="C00000"/>
                </a:solidFill>
              </a:rPr>
              <a:t>Use Case</a:t>
            </a:r>
            <a:r>
              <a:rPr lang="en-US" sz="2000" dirty="0"/>
              <a:t>: </a:t>
            </a:r>
            <a:r>
              <a:rPr lang="en-US" sz="2000" dirty="0">
                <a:latin typeface="+mj-lt"/>
              </a:rPr>
              <a:t>It provides a greater solution to the health care industry, government, real estate, and financial companies. It provides a remedy where data is to be accessed publicly but needs to be shielded privately. Examples of Hybrid Blockchain are Ripple network and XRP token.</a:t>
            </a:r>
            <a:endParaRPr lang="en-IN" sz="2000" dirty="0">
              <a:latin typeface="+mj-lt"/>
            </a:endParaRPr>
          </a:p>
        </p:txBody>
      </p:sp>
    </p:spTree>
    <p:extLst>
      <p:ext uri="{BB962C8B-B14F-4D97-AF65-F5344CB8AC3E}">
        <p14:creationId xmlns:p14="http://schemas.microsoft.com/office/powerpoint/2010/main" val="3751323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C580-4DAF-872C-E59E-59D088B552BF}"/>
              </a:ext>
            </a:extLst>
          </p:cNvPr>
          <p:cNvSpPr>
            <a:spLocks noGrp="1"/>
          </p:cNvSpPr>
          <p:nvPr>
            <p:ph type="title"/>
          </p:nvPr>
        </p:nvSpPr>
        <p:spPr>
          <a:xfrm>
            <a:off x="838200" y="365125"/>
            <a:ext cx="10515600" cy="780387"/>
          </a:xfrm>
        </p:spPr>
        <p:txBody>
          <a:bodyPr>
            <a:normAutofit/>
          </a:bodyPr>
          <a:lstStyle/>
          <a:p>
            <a:r>
              <a:rPr lang="en-IN" sz="2400" b="1" dirty="0">
                <a:solidFill>
                  <a:srgbClr val="C00000"/>
                </a:solidFill>
              </a:rPr>
              <a:t>Consortium Blockchain:</a:t>
            </a:r>
          </a:p>
        </p:txBody>
      </p:sp>
      <p:sp>
        <p:nvSpPr>
          <p:cNvPr id="3" name="Content Placeholder 2">
            <a:extLst>
              <a:ext uri="{FF2B5EF4-FFF2-40B4-BE49-F238E27FC236}">
                <a16:creationId xmlns:a16="http://schemas.microsoft.com/office/drawing/2014/main" id="{DEE09E09-2024-5123-E921-0017E80A4322}"/>
              </a:ext>
            </a:extLst>
          </p:cNvPr>
          <p:cNvSpPr>
            <a:spLocks noGrp="1"/>
          </p:cNvSpPr>
          <p:nvPr>
            <p:ph idx="1"/>
          </p:nvPr>
        </p:nvSpPr>
        <p:spPr>
          <a:xfrm>
            <a:off x="586991" y="1333255"/>
            <a:ext cx="10515600" cy="4926867"/>
          </a:xfrm>
        </p:spPr>
        <p:txBody>
          <a:bodyPr>
            <a:normAutofit fontScale="62500" lnSpcReduction="20000"/>
          </a:bodyPr>
          <a:lstStyle/>
          <a:p>
            <a:r>
              <a:rPr lang="en-US" dirty="0"/>
              <a:t>It is a creative approach that solves the needs of the organization. This blockchain validates the transaction and also initiates or receives transactions.</a:t>
            </a:r>
          </a:p>
          <a:p>
            <a:endParaRPr lang="en-US" dirty="0"/>
          </a:p>
          <a:p>
            <a:r>
              <a:rPr lang="en-US" dirty="0"/>
              <a:t>Also known as Federated Blockchain. </a:t>
            </a:r>
          </a:p>
          <a:p>
            <a:r>
              <a:rPr lang="en-US" dirty="0"/>
              <a:t>This is an innovative method to solve the organization’s needs. </a:t>
            </a:r>
          </a:p>
          <a:p>
            <a:r>
              <a:rPr lang="en-US" dirty="0"/>
              <a:t>Some part is public and some part is private. </a:t>
            </a:r>
          </a:p>
          <a:p>
            <a:r>
              <a:rPr lang="en-US" dirty="0"/>
              <a:t>In this type, more than one organization manages the blockchain.</a:t>
            </a:r>
          </a:p>
          <a:p>
            <a:endParaRPr lang="en-US" dirty="0"/>
          </a:p>
          <a:p>
            <a:r>
              <a:rPr lang="en-US" sz="3300" dirty="0">
                <a:solidFill>
                  <a:srgbClr val="C00000"/>
                </a:solidFill>
              </a:rPr>
              <a:t>Advantages:</a:t>
            </a:r>
            <a:endParaRPr lang="en-US" dirty="0"/>
          </a:p>
          <a:p>
            <a:r>
              <a:rPr lang="en-US" dirty="0"/>
              <a:t>Speed: A limited number of users make verification fast. The high speed makes this more usable for organizations.</a:t>
            </a:r>
          </a:p>
          <a:p>
            <a:r>
              <a:rPr lang="en-US" dirty="0"/>
              <a:t>Authority: Multiple organizations can take part and make it decentralized at every level. Decentralized authority, makes it more secure.</a:t>
            </a:r>
          </a:p>
          <a:p>
            <a:r>
              <a:rPr lang="en-US" dirty="0"/>
              <a:t>Privacy: The information of the checked blocks is unknown to the public view. but any member belonging to the blockchain can access it.</a:t>
            </a:r>
          </a:p>
          <a:p>
            <a:r>
              <a:rPr lang="en-US" dirty="0"/>
              <a:t>Flexible: There is much divergence in the flexibility of the blockchain. Since it is not a very large decision can be taken faster.</a:t>
            </a:r>
            <a:endParaRPr lang="en-IN" dirty="0"/>
          </a:p>
        </p:txBody>
      </p:sp>
    </p:spTree>
    <p:extLst>
      <p:ext uri="{BB962C8B-B14F-4D97-AF65-F5344CB8AC3E}">
        <p14:creationId xmlns:p14="http://schemas.microsoft.com/office/powerpoint/2010/main" val="4192143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2752-8814-7D0B-C10F-9B60F92CB9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809100-E08A-A91D-971C-0B04B32E8334}"/>
              </a:ext>
            </a:extLst>
          </p:cNvPr>
          <p:cNvSpPr>
            <a:spLocks noGrp="1"/>
          </p:cNvSpPr>
          <p:nvPr>
            <p:ph idx="1"/>
          </p:nvPr>
        </p:nvSpPr>
        <p:spPr/>
        <p:txBody>
          <a:bodyPr>
            <a:normAutofit/>
          </a:bodyPr>
          <a:lstStyle/>
          <a:p>
            <a:pPr>
              <a:lnSpc>
                <a:spcPct val="100000"/>
              </a:lnSpc>
            </a:pPr>
            <a:r>
              <a:rPr lang="en-US" sz="2000" dirty="0">
                <a:solidFill>
                  <a:srgbClr val="C00000"/>
                </a:solidFill>
              </a:rPr>
              <a:t>Disadvantages:</a:t>
            </a:r>
          </a:p>
          <a:p>
            <a:pPr>
              <a:lnSpc>
                <a:spcPct val="100000"/>
              </a:lnSpc>
            </a:pPr>
            <a:r>
              <a:rPr lang="en-US" sz="2000" dirty="0">
                <a:solidFill>
                  <a:srgbClr val="C00000"/>
                </a:solidFill>
              </a:rPr>
              <a:t>Approval</a:t>
            </a:r>
            <a:r>
              <a:rPr lang="en-US" sz="2000" dirty="0"/>
              <a:t>: All the members approve the protocol making it less flexible. Since one or more organizations are involved there can be differences in the vision of interest.</a:t>
            </a:r>
          </a:p>
          <a:p>
            <a:pPr>
              <a:lnSpc>
                <a:spcPct val="100000"/>
              </a:lnSpc>
            </a:pPr>
            <a:r>
              <a:rPr lang="en-US" sz="2000" dirty="0">
                <a:solidFill>
                  <a:srgbClr val="C00000"/>
                </a:solidFill>
              </a:rPr>
              <a:t>Transparency</a:t>
            </a:r>
            <a:r>
              <a:rPr lang="en-US" sz="2000" dirty="0"/>
              <a:t>: It can be hacked if the organization becomes corrupt. Organizations may hide information from the users.</a:t>
            </a:r>
          </a:p>
          <a:p>
            <a:pPr>
              <a:lnSpc>
                <a:spcPct val="100000"/>
              </a:lnSpc>
            </a:pPr>
            <a:r>
              <a:rPr lang="en-US" sz="2000" dirty="0">
                <a:solidFill>
                  <a:srgbClr val="C00000"/>
                </a:solidFill>
              </a:rPr>
              <a:t>Vulnerability:</a:t>
            </a:r>
            <a:r>
              <a:rPr lang="en-US" sz="2000" dirty="0"/>
              <a:t> If few nodes are getting compromised there is a greater chance of vulnerability in this blockchain</a:t>
            </a:r>
          </a:p>
          <a:p>
            <a:pPr>
              <a:lnSpc>
                <a:spcPct val="100000"/>
              </a:lnSpc>
            </a:pPr>
            <a:r>
              <a:rPr lang="en-US" sz="2000" dirty="0">
                <a:solidFill>
                  <a:srgbClr val="C00000"/>
                </a:solidFill>
              </a:rPr>
              <a:t>Use Cases</a:t>
            </a:r>
            <a:r>
              <a:rPr lang="en-US" sz="2000" dirty="0"/>
              <a:t>: It has high potential in businesses, banks, and other payment processors. Food tracking of the organizations frequently collaborates with their sectors making it a federated solution ideal for their use. Examples of consortium Blockchain are </a:t>
            </a:r>
            <a:r>
              <a:rPr lang="en-US" sz="2000" dirty="0">
                <a:solidFill>
                  <a:schemeClr val="accent2">
                    <a:lumMod val="75000"/>
                  </a:schemeClr>
                </a:solidFill>
              </a:rPr>
              <a:t>Tender mint and Multichain.</a:t>
            </a:r>
            <a:endParaRPr lang="en-IN" sz="2000" dirty="0">
              <a:solidFill>
                <a:schemeClr val="accent2">
                  <a:lumMod val="75000"/>
                </a:schemeClr>
              </a:solidFill>
            </a:endParaRPr>
          </a:p>
        </p:txBody>
      </p:sp>
    </p:spTree>
    <p:extLst>
      <p:ext uri="{BB962C8B-B14F-4D97-AF65-F5344CB8AC3E}">
        <p14:creationId xmlns:p14="http://schemas.microsoft.com/office/powerpoint/2010/main" val="3946899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A20EE7-32D5-2754-8CBD-ABE5D221A050}"/>
              </a:ext>
            </a:extLst>
          </p:cNvPr>
          <p:cNvSpPr>
            <a:spLocks noGrp="1"/>
          </p:cNvSpPr>
          <p:nvPr>
            <p:ph idx="1"/>
          </p:nvPr>
        </p:nvSpPr>
        <p:spPr>
          <a:xfrm>
            <a:off x="838200" y="1095270"/>
            <a:ext cx="10515600" cy="5081693"/>
          </a:xfrm>
        </p:spPr>
        <p:txBody>
          <a:bodyPr/>
          <a:lstStyle/>
          <a:p>
            <a:r>
              <a:rPr lang="en-IN" b="0" i="0" dirty="0">
                <a:solidFill>
                  <a:srgbClr val="101628"/>
                </a:solidFill>
                <a:effectLst/>
                <a:latin typeface="Raleway" panose="020F0502020204030204" pitchFamily="2" charset="0"/>
              </a:rPr>
              <a:t>what a blockchain node?</a:t>
            </a:r>
          </a:p>
          <a:p>
            <a:r>
              <a:rPr lang="en-US" b="0" i="0" dirty="0">
                <a:solidFill>
                  <a:srgbClr val="101628"/>
                </a:solidFill>
                <a:effectLst/>
                <a:latin typeface="Raleway" pitchFamily="2" charset="0"/>
              </a:rPr>
              <a:t>there are two main types of nodes – </a:t>
            </a:r>
            <a:r>
              <a:rPr lang="en-US" sz="2400" b="1" dirty="0">
                <a:solidFill>
                  <a:srgbClr val="C00000"/>
                </a:solidFill>
                <a:latin typeface="Raleway" pitchFamily="2" charset="0"/>
              </a:rPr>
              <a:t>F</a:t>
            </a:r>
            <a:r>
              <a:rPr lang="en-US" sz="2400" b="1" i="0" dirty="0">
                <a:solidFill>
                  <a:srgbClr val="C00000"/>
                </a:solidFill>
                <a:effectLst/>
                <a:latin typeface="Raleway" pitchFamily="2" charset="0"/>
              </a:rPr>
              <a:t>ull nodes and Light nodes</a:t>
            </a:r>
            <a:endParaRPr lang="en-IN" sz="2400" b="1" dirty="0">
              <a:solidFill>
                <a:srgbClr val="C00000"/>
              </a:solidFill>
            </a:endParaRPr>
          </a:p>
        </p:txBody>
      </p:sp>
      <p:pic>
        <p:nvPicPr>
          <p:cNvPr id="5" name="Graphic 4">
            <a:extLst>
              <a:ext uri="{FF2B5EF4-FFF2-40B4-BE49-F238E27FC236}">
                <a16:creationId xmlns:a16="http://schemas.microsoft.com/office/drawing/2014/main" id="{0459AF4A-AFCC-2F90-A694-E566F9AD37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96238" y="2552282"/>
            <a:ext cx="9344967" cy="3940594"/>
          </a:xfrm>
          <a:prstGeom prst="rect">
            <a:avLst/>
          </a:prstGeom>
        </p:spPr>
      </p:pic>
    </p:spTree>
    <p:extLst>
      <p:ext uri="{BB962C8B-B14F-4D97-AF65-F5344CB8AC3E}">
        <p14:creationId xmlns:p14="http://schemas.microsoft.com/office/powerpoint/2010/main" val="14165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8340-55AC-5515-160F-53DC581CD428}"/>
              </a:ext>
            </a:extLst>
          </p:cNvPr>
          <p:cNvSpPr>
            <a:spLocks noGrp="1"/>
          </p:cNvSpPr>
          <p:nvPr>
            <p:ph type="title"/>
          </p:nvPr>
        </p:nvSpPr>
        <p:spPr>
          <a:xfrm>
            <a:off x="838200" y="365125"/>
            <a:ext cx="10515600" cy="1122031"/>
          </a:xfrm>
        </p:spPr>
        <p:txBody>
          <a:bodyPr>
            <a:normAutofit/>
          </a:bodyPr>
          <a:lstStyle/>
          <a:p>
            <a:pPr marL="571500" indent="-571500">
              <a:buFont typeface="Courier New" panose="02070309020205020404" pitchFamily="49" charset="0"/>
              <a:buChar char="o"/>
            </a:pPr>
            <a:r>
              <a:rPr lang="en-US" sz="3600" b="1" dirty="0">
                <a:solidFill>
                  <a:srgbClr val="C00000"/>
                </a:solidFill>
              </a:rPr>
              <a:t>Full Nodes</a:t>
            </a:r>
            <a:endParaRPr lang="en-IN" sz="3600" b="1" dirty="0">
              <a:solidFill>
                <a:srgbClr val="C00000"/>
              </a:solidFill>
            </a:endParaRPr>
          </a:p>
        </p:txBody>
      </p:sp>
      <p:sp>
        <p:nvSpPr>
          <p:cNvPr id="3" name="Content Placeholder 2">
            <a:extLst>
              <a:ext uri="{FF2B5EF4-FFF2-40B4-BE49-F238E27FC236}">
                <a16:creationId xmlns:a16="http://schemas.microsoft.com/office/drawing/2014/main" id="{8ABCA805-56DC-2257-5CD8-9B7888AE96DD}"/>
              </a:ext>
            </a:extLst>
          </p:cNvPr>
          <p:cNvSpPr>
            <a:spLocks noGrp="1"/>
          </p:cNvSpPr>
          <p:nvPr>
            <p:ph idx="1"/>
          </p:nvPr>
        </p:nvSpPr>
        <p:spPr>
          <a:xfrm>
            <a:off x="637233" y="1487156"/>
            <a:ext cx="10515600" cy="4351338"/>
          </a:xfrm>
        </p:spPr>
        <p:txBody>
          <a:bodyPr>
            <a:normAutofit/>
          </a:bodyPr>
          <a:lstStyle/>
          <a:p>
            <a:pPr>
              <a:lnSpc>
                <a:spcPct val="150000"/>
              </a:lnSpc>
            </a:pPr>
            <a:r>
              <a:rPr lang="en-US" sz="2000" b="0" i="0" dirty="0">
                <a:solidFill>
                  <a:srgbClr val="252525"/>
                </a:solidFill>
                <a:effectLst/>
                <a:latin typeface="Open Sans" panose="020B0606030504020204" pitchFamily="34" charset="0"/>
              </a:rPr>
              <a:t>Full nodes serve as servers in decentralized networks, maintaining consensus and verifying transactions.</a:t>
            </a:r>
          </a:p>
          <a:p>
            <a:pPr>
              <a:lnSpc>
                <a:spcPct val="150000"/>
              </a:lnSpc>
            </a:pPr>
            <a:r>
              <a:rPr lang="en-US" sz="2000" b="0" i="0" dirty="0">
                <a:solidFill>
                  <a:srgbClr val="252525"/>
                </a:solidFill>
                <a:effectLst/>
                <a:latin typeface="Open Sans" panose="020B0606030504020204" pitchFamily="34" charset="0"/>
              </a:rPr>
              <a:t> They store a secure blockchain copy and enable custom functions like instant send and private transactions. </a:t>
            </a:r>
          </a:p>
          <a:p>
            <a:pPr>
              <a:lnSpc>
                <a:spcPct val="150000"/>
              </a:lnSpc>
            </a:pPr>
            <a:r>
              <a:rPr lang="en-US" sz="2000" b="0" i="0" dirty="0">
                <a:solidFill>
                  <a:srgbClr val="252525"/>
                </a:solidFill>
                <a:effectLst/>
                <a:latin typeface="Open Sans" panose="020B0606030504020204" pitchFamily="34" charset="0"/>
              </a:rPr>
              <a:t>If over 51% disagree, proposals are skipped, </a:t>
            </a:r>
          </a:p>
          <a:p>
            <a:pPr>
              <a:lnSpc>
                <a:spcPct val="150000"/>
              </a:lnSpc>
            </a:pPr>
            <a:r>
              <a:rPr lang="en-US" sz="2000" b="0" i="0" dirty="0">
                <a:solidFill>
                  <a:srgbClr val="252525"/>
                </a:solidFill>
                <a:effectLst/>
                <a:latin typeface="Open Sans" panose="020B0606030504020204" pitchFamily="34" charset="0"/>
              </a:rPr>
              <a:t>leading to hard forks, such as the Bitcoin Cash Fork.</a:t>
            </a:r>
            <a:endParaRPr lang="en-IN" sz="2000" dirty="0"/>
          </a:p>
        </p:txBody>
      </p:sp>
    </p:spTree>
    <p:extLst>
      <p:ext uri="{BB962C8B-B14F-4D97-AF65-F5344CB8AC3E}">
        <p14:creationId xmlns:p14="http://schemas.microsoft.com/office/powerpoint/2010/main" val="435448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F040-18FF-5F55-AC88-968087B99F01}"/>
              </a:ext>
            </a:extLst>
          </p:cNvPr>
          <p:cNvSpPr>
            <a:spLocks noGrp="1"/>
          </p:cNvSpPr>
          <p:nvPr>
            <p:ph type="title"/>
          </p:nvPr>
        </p:nvSpPr>
        <p:spPr>
          <a:xfrm>
            <a:off x="592153" y="714143"/>
            <a:ext cx="10515600" cy="880871"/>
          </a:xfrm>
        </p:spPr>
        <p:txBody>
          <a:bodyPr>
            <a:normAutofit/>
          </a:bodyPr>
          <a:lstStyle/>
          <a:p>
            <a:pPr marL="342900" indent="-342900" fontAlgn="base">
              <a:buFont typeface="Arial" panose="020B0604020202020204" pitchFamily="34" charset="0"/>
              <a:buChar char="•"/>
            </a:pPr>
            <a:r>
              <a:rPr lang="en-IN" sz="2000" b="1" i="1" dirty="0">
                <a:solidFill>
                  <a:srgbClr val="101628"/>
                </a:solidFill>
                <a:effectLst/>
                <a:latin typeface="+mn-lt"/>
              </a:rPr>
              <a:t>Pruned Full Node</a:t>
            </a:r>
          </a:p>
        </p:txBody>
      </p:sp>
      <p:sp>
        <p:nvSpPr>
          <p:cNvPr id="3" name="Content Placeholder 2">
            <a:extLst>
              <a:ext uri="{FF2B5EF4-FFF2-40B4-BE49-F238E27FC236}">
                <a16:creationId xmlns:a16="http://schemas.microsoft.com/office/drawing/2014/main" id="{307CBB84-4350-CCD1-4017-4248716316C3}"/>
              </a:ext>
            </a:extLst>
          </p:cNvPr>
          <p:cNvSpPr>
            <a:spLocks noGrp="1"/>
          </p:cNvSpPr>
          <p:nvPr>
            <p:ph idx="1"/>
          </p:nvPr>
        </p:nvSpPr>
        <p:spPr>
          <a:xfrm>
            <a:off x="592153" y="1496334"/>
            <a:ext cx="10515600" cy="4351338"/>
          </a:xfrm>
        </p:spPr>
        <p:txBody>
          <a:bodyPr>
            <a:normAutofit/>
          </a:bodyPr>
          <a:lstStyle/>
          <a:p>
            <a:r>
              <a:rPr lang="en-US" sz="2000" dirty="0"/>
              <a:t>The pruned full node downloads blocks from the beginning and deletes oldest ones after reaching a set limit, retaining only headers and chain placement. </a:t>
            </a:r>
          </a:p>
          <a:p>
            <a:r>
              <a:rPr lang="en-US" sz="2000" dirty="0"/>
              <a:t>This method requires validating previous blocks through the entire blockchain before storing the latest blocks.</a:t>
            </a:r>
          </a:p>
          <a:p>
            <a:r>
              <a:rPr lang="en-IN" sz="2000" b="1" i="1" dirty="0">
                <a:solidFill>
                  <a:srgbClr val="101628"/>
                </a:solidFill>
                <a:effectLst/>
              </a:rPr>
              <a:t>Archival Full Node:</a:t>
            </a:r>
          </a:p>
          <a:p>
            <a:r>
              <a:rPr lang="en-US" sz="2000" dirty="0"/>
              <a:t>Archival full nodes are servers hosting the full blockchain, maintaining consensus and validating blocks. </a:t>
            </a:r>
          </a:p>
          <a:p>
            <a:r>
              <a:rPr lang="en-US" sz="2000" dirty="0"/>
              <a:t>They can be divided into subtypes, including those that add blocks and those that cannot.</a:t>
            </a:r>
          </a:p>
          <a:p>
            <a:r>
              <a:rPr lang="en-US" sz="2000" dirty="0"/>
              <a:t> The difference between pruned and archival nodes is their hard drive space usage.</a:t>
            </a:r>
            <a:endParaRPr lang="en-IN" sz="2000" dirty="0"/>
          </a:p>
        </p:txBody>
      </p:sp>
    </p:spTree>
    <p:extLst>
      <p:ext uri="{BB962C8B-B14F-4D97-AF65-F5344CB8AC3E}">
        <p14:creationId xmlns:p14="http://schemas.microsoft.com/office/powerpoint/2010/main" val="1879048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CEFDA-5F18-14AD-6EA5-466AFEB2193B}"/>
              </a:ext>
            </a:extLst>
          </p:cNvPr>
          <p:cNvSpPr>
            <a:spLocks noGrp="1"/>
          </p:cNvSpPr>
          <p:nvPr>
            <p:ph type="title"/>
          </p:nvPr>
        </p:nvSpPr>
        <p:spPr/>
        <p:txBody>
          <a:bodyPr>
            <a:normAutofit/>
          </a:bodyPr>
          <a:lstStyle/>
          <a:p>
            <a:r>
              <a:rPr lang="en-US" sz="2800" b="1" dirty="0">
                <a:solidFill>
                  <a:srgbClr val="C00000"/>
                </a:solidFill>
              </a:rPr>
              <a:t>Main participants in the blockchain</a:t>
            </a:r>
            <a:endParaRPr lang="en-IN" sz="2800" b="1" dirty="0">
              <a:solidFill>
                <a:srgbClr val="C00000"/>
              </a:solidFill>
            </a:endParaRPr>
          </a:p>
        </p:txBody>
      </p:sp>
      <p:sp>
        <p:nvSpPr>
          <p:cNvPr id="3" name="Content Placeholder 2">
            <a:extLst>
              <a:ext uri="{FF2B5EF4-FFF2-40B4-BE49-F238E27FC236}">
                <a16:creationId xmlns:a16="http://schemas.microsoft.com/office/drawing/2014/main" id="{8C7B7A13-1979-513C-221E-065602D9D177}"/>
              </a:ext>
            </a:extLst>
          </p:cNvPr>
          <p:cNvSpPr>
            <a:spLocks noGrp="1"/>
          </p:cNvSpPr>
          <p:nvPr>
            <p:ph idx="1"/>
          </p:nvPr>
        </p:nvSpPr>
        <p:spPr>
          <a:xfrm>
            <a:off x="727668" y="1690688"/>
            <a:ext cx="10515600" cy="4351338"/>
          </a:xfrm>
        </p:spPr>
        <p:txBody>
          <a:bodyPr>
            <a:normAutofit/>
          </a:bodyPr>
          <a:lstStyle/>
          <a:p>
            <a:pPr>
              <a:lnSpc>
                <a:spcPct val="200000"/>
              </a:lnSpc>
            </a:pPr>
            <a:r>
              <a:rPr lang="en-IN" sz="1800" b="1" i="0" dirty="0">
                <a:effectLst/>
                <a:latin typeface="Raleway" pitchFamily="2" charset="0"/>
              </a:rPr>
              <a:t>Miners (Mining Nodes)</a:t>
            </a:r>
            <a:endParaRPr lang="en-IN" sz="1800" b="1" i="0" dirty="0">
              <a:effectLst/>
              <a:latin typeface="+mj-lt"/>
            </a:endParaRPr>
          </a:p>
          <a:p>
            <a:pPr>
              <a:lnSpc>
                <a:spcPct val="200000"/>
              </a:lnSpc>
            </a:pPr>
            <a:r>
              <a:rPr lang="en-IN" sz="1800" b="1" i="0" dirty="0" err="1">
                <a:effectLst/>
                <a:latin typeface="Raleway" pitchFamily="2" charset="0"/>
              </a:rPr>
              <a:t>Stakers</a:t>
            </a:r>
            <a:r>
              <a:rPr lang="en-IN" sz="1800" b="1" i="0" dirty="0">
                <a:effectLst/>
                <a:latin typeface="Raleway" pitchFamily="2" charset="0"/>
              </a:rPr>
              <a:t> (Staking Nodes)</a:t>
            </a:r>
          </a:p>
          <a:p>
            <a:pPr>
              <a:lnSpc>
                <a:spcPct val="200000"/>
              </a:lnSpc>
            </a:pPr>
            <a:r>
              <a:rPr lang="en-IN" sz="1800" b="1" i="0" dirty="0">
                <a:effectLst/>
                <a:latin typeface="Raleway" pitchFamily="2" charset="0"/>
              </a:rPr>
              <a:t>Authority Nodes</a:t>
            </a:r>
          </a:p>
          <a:p>
            <a:endParaRPr lang="en-IN" dirty="0"/>
          </a:p>
        </p:txBody>
      </p:sp>
      <p:pic>
        <p:nvPicPr>
          <p:cNvPr id="1026" name="Picture 2">
            <a:extLst>
              <a:ext uri="{FF2B5EF4-FFF2-40B4-BE49-F238E27FC236}">
                <a16:creationId xmlns:a16="http://schemas.microsoft.com/office/drawing/2014/main" id="{78829F3C-3766-B72B-4937-FC49EB97EB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2158" y="1921079"/>
            <a:ext cx="8020270" cy="3380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501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69A0D-9287-C8B9-A75D-AE457C1A9007}"/>
              </a:ext>
            </a:extLst>
          </p:cNvPr>
          <p:cNvSpPr>
            <a:spLocks noGrp="1"/>
          </p:cNvSpPr>
          <p:nvPr>
            <p:ph type="title"/>
          </p:nvPr>
        </p:nvSpPr>
        <p:spPr>
          <a:xfrm>
            <a:off x="556846" y="838478"/>
            <a:ext cx="8084736" cy="629662"/>
          </a:xfrm>
        </p:spPr>
        <p:txBody>
          <a:bodyPr>
            <a:normAutofit fontScale="90000"/>
          </a:bodyPr>
          <a:lstStyle/>
          <a:p>
            <a:pPr marL="571500" indent="-571500">
              <a:buFont typeface="Courier New" panose="02070309020205020404" pitchFamily="49" charset="0"/>
              <a:buChar char="o"/>
            </a:pPr>
            <a:r>
              <a:rPr lang="en-US" sz="3600" b="1" dirty="0">
                <a:solidFill>
                  <a:srgbClr val="C00000"/>
                </a:solidFill>
              </a:rPr>
              <a:t>Lightweight (SPV) Nodes</a:t>
            </a:r>
            <a:br>
              <a:rPr lang="en-US" dirty="0"/>
            </a:br>
            <a:endParaRPr lang="en-IN" dirty="0"/>
          </a:p>
        </p:txBody>
      </p:sp>
      <p:sp>
        <p:nvSpPr>
          <p:cNvPr id="3" name="Content Placeholder 2">
            <a:extLst>
              <a:ext uri="{FF2B5EF4-FFF2-40B4-BE49-F238E27FC236}">
                <a16:creationId xmlns:a16="http://schemas.microsoft.com/office/drawing/2014/main" id="{D2F850CF-931D-11ED-B2C2-915AC1F1D725}"/>
              </a:ext>
            </a:extLst>
          </p:cNvPr>
          <p:cNvSpPr>
            <a:spLocks noGrp="1"/>
          </p:cNvSpPr>
          <p:nvPr>
            <p:ph idx="1"/>
          </p:nvPr>
        </p:nvSpPr>
        <p:spPr>
          <a:xfrm>
            <a:off x="838200" y="1306286"/>
            <a:ext cx="10515600" cy="4870677"/>
          </a:xfrm>
        </p:spPr>
        <p:txBody>
          <a:bodyPr>
            <a:normAutofit/>
          </a:bodyPr>
          <a:lstStyle/>
          <a:p>
            <a:r>
              <a:rPr lang="en-US" sz="2400" dirty="0">
                <a:solidFill>
                  <a:srgbClr val="C00000"/>
                </a:solidFill>
              </a:rPr>
              <a:t>Lightweight node or Simple Payment Verification (SPV) node, </a:t>
            </a:r>
          </a:p>
          <a:p>
            <a:endParaRPr lang="en-US" sz="2400" dirty="0">
              <a:solidFill>
                <a:srgbClr val="C00000"/>
              </a:solidFill>
            </a:endParaRPr>
          </a:p>
          <a:p>
            <a:pPr>
              <a:lnSpc>
                <a:spcPct val="150000"/>
              </a:lnSpc>
            </a:pPr>
            <a:r>
              <a:rPr lang="en-US" sz="2400" dirty="0"/>
              <a:t>These types of nodes communicate with the blockchain while relying on full nodes to provide them with the necessary information. </a:t>
            </a:r>
          </a:p>
          <a:p>
            <a:pPr>
              <a:lnSpc>
                <a:spcPct val="150000"/>
              </a:lnSpc>
            </a:pPr>
            <a:r>
              <a:rPr lang="en-US" sz="2400" dirty="0"/>
              <a:t>As they don’t store a copy of the chain, they only query the current status for which block is last, and broadcast transactions for processing.</a:t>
            </a:r>
          </a:p>
          <a:p>
            <a:pPr>
              <a:lnSpc>
                <a:spcPct val="150000"/>
              </a:lnSpc>
            </a:pPr>
            <a:r>
              <a:rPr lang="en-US" sz="2400" dirty="0"/>
              <a:t>Having in mind the above features, it’s clear to see that running SPV node doesn’t require many resources, but it does sacrifice security for the sake of convenience.</a:t>
            </a:r>
            <a:endParaRPr lang="en-IN" sz="2400" dirty="0"/>
          </a:p>
        </p:txBody>
      </p:sp>
    </p:spTree>
    <p:extLst>
      <p:ext uri="{BB962C8B-B14F-4D97-AF65-F5344CB8AC3E}">
        <p14:creationId xmlns:p14="http://schemas.microsoft.com/office/powerpoint/2010/main" val="1647871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937F2-B42E-435F-686F-CB935F3AF6FE}"/>
              </a:ext>
            </a:extLst>
          </p:cNvPr>
          <p:cNvSpPr>
            <a:spLocks noGrp="1"/>
          </p:cNvSpPr>
          <p:nvPr>
            <p:ph type="title"/>
          </p:nvPr>
        </p:nvSpPr>
        <p:spPr/>
        <p:txBody>
          <a:bodyPr>
            <a:normAutofit/>
          </a:bodyPr>
          <a:lstStyle/>
          <a:p>
            <a:pPr marL="457200" indent="-457200">
              <a:buFont typeface="Courier New" panose="02070309020205020404" pitchFamily="49" charset="0"/>
              <a:buChar char="o"/>
            </a:pPr>
            <a:r>
              <a:rPr lang="en-US" sz="3200" dirty="0">
                <a:solidFill>
                  <a:srgbClr val="C00000"/>
                </a:solidFill>
                <a:latin typeface="+mn-lt"/>
              </a:rPr>
              <a:t>Master Nodes</a:t>
            </a:r>
            <a:endParaRPr lang="en-IN" sz="3200" dirty="0">
              <a:solidFill>
                <a:srgbClr val="C00000"/>
              </a:solidFill>
              <a:latin typeface="+mn-lt"/>
            </a:endParaRPr>
          </a:p>
        </p:txBody>
      </p:sp>
      <p:sp>
        <p:nvSpPr>
          <p:cNvPr id="3" name="Content Placeholder 2">
            <a:extLst>
              <a:ext uri="{FF2B5EF4-FFF2-40B4-BE49-F238E27FC236}">
                <a16:creationId xmlns:a16="http://schemas.microsoft.com/office/drawing/2014/main" id="{3FA093FB-3635-78D8-9C0A-053A17F5FA85}"/>
              </a:ext>
            </a:extLst>
          </p:cNvPr>
          <p:cNvSpPr>
            <a:spLocks noGrp="1"/>
          </p:cNvSpPr>
          <p:nvPr>
            <p:ph idx="1"/>
          </p:nvPr>
        </p:nvSpPr>
        <p:spPr>
          <a:xfrm>
            <a:off x="506604" y="1544271"/>
            <a:ext cx="10515600" cy="4351338"/>
          </a:xfrm>
        </p:spPr>
        <p:txBody>
          <a:bodyPr/>
          <a:lstStyle/>
          <a:p>
            <a:pPr>
              <a:lnSpc>
                <a:spcPct val="150000"/>
              </a:lnSpc>
            </a:pPr>
            <a:r>
              <a:rPr lang="en-US" sz="2400" dirty="0"/>
              <a:t>Compared to full nodes, master nodes themselves cannot add blocks to the blockchain. Their only purpose is to keep a record of </a:t>
            </a:r>
            <a:r>
              <a:rPr lang="en-US" sz="2400" dirty="0">
                <a:solidFill>
                  <a:srgbClr val="FF0000"/>
                </a:solidFill>
              </a:rPr>
              <a:t>transactions and validate them</a:t>
            </a:r>
            <a:r>
              <a:rPr lang="en-US" sz="2400" dirty="0"/>
              <a:t>. </a:t>
            </a:r>
          </a:p>
          <a:p>
            <a:pPr>
              <a:lnSpc>
                <a:spcPct val="150000"/>
              </a:lnSpc>
            </a:pPr>
            <a:r>
              <a:rPr lang="en-US" sz="2400" b="0" i="0" dirty="0">
                <a:solidFill>
                  <a:srgbClr val="101628"/>
                </a:solidFill>
                <a:effectLst/>
              </a:rPr>
              <a:t>Whether it will be </a:t>
            </a:r>
            <a:r>
              <a:rPr lang="en-US" sz="2400" b="0" i="0" dirty="0">
                <a:solidFill>
                  <a:srgbClr val="C00000"/>
                </a:solidFill>
                <a:effectLst/>
              </a:rPr>
              <a:t>miners or </a:t>
            </a:r>
            <a:r>
              <a:rPr lang="en-US" sz="2400" b="0" i="0" dirty="0" err="1">
                <a:solidFill>
                  <a:srgbClr val="C00000"/>
                </a:solidFill>
                <a:effectLst/>
              </a:rPr>
              <a:t>stakers</a:t>
            </a:r>
            <a:endParaRPr lang="en-US" sz="2400" dirty="0">
              <a:solidFill>
                <a:srgbClr val="C00000"/>
              </a:solidFill>
            </a:endParaRPr>
          </a:p>
          <a:p>
            <a:pPr>
              <a:lnSpc>
                <a:spcPct val="150000"/>
              </a:lnSpc>
            </a:pPr>
            <a:r>
              <a:rPr lang="en-US" sz="2400" b="0" i="0" dirty="0">
                <a:solidFill>
                  <a:srgbClr val="101628"/>
                </a:solidFill>
                <a:effectLst/>
              </a:rPr>
              <a:t>It Secure the network but can earn a share of </a:t>
            </a:r>
            <a:r>
              <a:rPr lang="en-US" sz="2400" b="0" i="0" dirty="0">
                <a:effectLst/>
              </a:rPr>
              <a:t>the </a:t>
            </a:r>
            <a:r>
              <a:rPr lang="en-US" sz="2400" b="0" i="0" dirty="0">
                <a:solidFill>
                  <a:srgbClr val="C00000"/>
                </a:solidFill>
                <a:effectLst/>
              </a:rPr>
              <a:t>rewards </a:t>
            </a:r>
            <a:r>
              <a:rPr lang="en-US" sz="2400" b="0" i="0" dirty="0">
                <a:solidFill>
                  <a:srgbClr val="101628"/>
                </a:solidFill>
                <a:effectLst/>
              </a:rPr>
              <a:t>for your services</a:t>
            </a:r>
            <a:r>
              <a:rPr lang="en-US" sz="2400" b="0" i="0" dirty="0">
                <a:solidFill>
                  <a:srgbClr val="101628"/>
                </a:solidFill>
                <a:effectLst/>
                <a:latin typeface="Raleway" pitchFamily="2" charset="0"/>
              </a:rPr>
              <a:t>.</a:t>
            </a:r>
            <a:endParaRPr lang="en-IN" sz="2400" dirty="0"/>
          </a:p>
        </p:txBody>
      </p:sp>
    </p:spTree>
    <p:extLst>
      <p:ext uri="{BB962C8B-B14F-4D97-AF65-F5344CB8AC3E}">
        <p14:creationId xmlns:p14="http://schemas.microsoft.com/office/powerpoint/2010/main" val="371695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1562</Words>
  <Application>Microsoft Office PowerPoint</Application>
  <PresentationFormat>Widescreen</PresentationFormat>
  <Paragraphs>110</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Courier New</vt:lpstr>
      <vt:lpstr>Open Sans</vt:lpstr>
      <vt:lpstr>Raleway</vt:lpstr>
      <vt:lpstr>Times New Roman</vt:lpstr>
      <vt:lpstr>Office Theme</vt:lpstr>
      <vt:lpstr>Types Of Blockchain </vt:lpstr>
      <vt:lpstr>Types Of Blocks</vt:lpstr>
      <vt:lpstr>PowerPoint Presentation</vt:lpstr>
      <vt:lpstr>PowerPoint Presentation</vt:lpstr>
      <vt:lpstr>PowerPoint Presentation</vt:lpstr>
      <vt:lpstr>PowerPoint Presentation</vt:lpstr>
      <vt:lpstr>PowerPoint Presentation</vt:lpstr>
      <vt:lpstr>Hybrid/Consortium Blockchain </vt:lpstr>
      <vt:lpstr>PowerPoint Presentation</vt:lpstr>
      <vt:lpstr>Consortium Blockchain:</vt:lpstr>
      <vt:lpstr>PowerPoint Presentation</vt:lpstr>
      <vt:lpstr>PowerPoint Presentation</vt:lpstr>
      <vt:lpstr>Full Nodes</vt:lpstr>
      <vt:lpstr>Pruned Full Node</vt:lpstr>
      <vt:lpstr>Main participants in the blockchain</vt:lpstr>
      <vt:lpstr>Lightweight (SPV) Nodes </vt:lpstr>
      <vt:lpstr>Master Nodes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Blockchain</dc:title>
  <dc:creator>Nandini Patil</dc:creator>
  <cp:lastModifiedBy>Hasina Shafique Alam</cp:lastModifiedBy>
  <cp:revision>5</cp:revision>
  <dcterms:created xsi:type="dcterms:W3CDTF">2023-08-08T04:04:24Z</dcterms:created>
  <dcterms:modified xsi:type="dcterms:W3CDTF">2025-08-06T07:04:15Z</dcterms:modified>
</cp:coreProperties>
</file>