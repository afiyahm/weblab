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6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snapToGrid="0">
      <p:cViewPr varScale="1">
        <p:scale>
          <a:sx n="69" d="100"/>
          <a:sy n="69" d="100"/>
        </p:scale>
        <p:origin x="-756" y="-102"/>
      </p:cViewPr>
      <p:guideLst>
        <p:guide orient="horz" pos="2160"/>
        <p:guide pos="3840"/>
      </p:guideLst>
    </p:cSldViewPr>
  </p:slideViewPr>
  <p:outlineViewPr>
    <p:cViewPr>
      <p:scale>
        <a:sx n="33" d="100"/>
        <a:sy n="33" d="100"/>
      </p:scale>
      <p:origin x="36" y="786"/>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2850931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3051270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684068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3265133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1495285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3164541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1525785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3336443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2335436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3727919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C6AB9C9-C79B-4518-9F02-A958C4F634BB}" type="datetimeFigureOut">
              <a:rPr lang="en-IN" smtClean="0"/>
              <a:pPr/>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3447496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6AB9C9-C79B-4518-9F02-A958C4F634BB}" type="datetimeFigureOut">
              <a:rPr lang="en-IN" smtClean="0"/>
              <a:pPr/>
              <a:t>29-07-2024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3AEAA4-07DA-43A5-A314-CA2DFF87616C}" type="slidenum">
              <a:rPr lang="en-IN" smtClean="0"/>
              <a:pPr/>
              <a:t>‹#›</a:t>
            </a:fld>
            <a:endParaRPr lang="en-IN"/>
          </a:p>
        </p:txBody>
      </p:sp>
    </p:spTree>
    <p:extLst>
      <p:ext uri="{BB962C8B-B14F-4D97-AF65-F5344CB8AC3E}">
        <p14:creationId xmlns:p14="http://schemas.microsoft.com/office/powerpoint/2010/main" xmlns="" val="3923313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cademy.bit2me.com/en/which-is-a-private-key/" TargetMode="External"/><Relationship Id="rId2" Type="http://schemas.openxmlformats.org/officeDocument/2006/relationships/hyperlink" Target="https://academy.bit2me.com/en/what-is-public-ke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cryptionconsulting.com/education-center/what-is-a-certificate-authority/" TargetMode="External"/><Relationship Id="rId2" Type="http://schemas.openxmlformats.org/officeDocument/2006/relationships/hyperlink" Target="https://encryptionconsulting.com/education-center/what-are-digital-certificate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946" y="365125"/>
            <a:ext cx="5320146" cy="1325563"/>
          </a:xfrm>
        </p:spPr>
        <p:txBody>
          <a:bodyPr/>
          <a:lstStyle/>
          <a:p>
            <a:r>
              <a:rPr lang="en-IN" b="1" dirty="0" smtClean="0">
                <a:solidFill>
                  <a:srgbClr val="C00000"/>
                </a:solidFill>
              </a:rPr>
              <a:t>Blockchain Technology		</a:t>
            </a:r>
            <a:endParaRPr lang="en-US" dirty="0"/>
          </a:p>
        </p:txBody>
      </p:sp>
      <p:pic>
        <p:nvPicPr>
          <p:cNvPr id="4" name="Picture 2" descr="Blockchain: A Single, Immutable, Serialized Source of Truth ..."/>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0" y="1943894"/>
            <a:ext cx="12192000" cy="4914106"/>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p:cNvSpPr txBox="1"/>
          <p:nvPr/>
        </p:nvSpPr>
        <p:spPr>
          <a:xfrm>
            <a:off x="6691744" y="429491"/>
            <a:ext cx="4073237" cy="1477328"/>
          </a:xfrm>
          <a:prstGeom prst="rect">
            <a:avLst/>
          </a:prstGeom>
          <a:noFill/>
        </p:spPr>
        <p:txBody>
          <a:bodyPr wrap="square" rtlCol="0">
            <a:spAutoFit/>
          </a:bodyPr>
          <a:lstStyle/>
          <a:p>
            <a:r>
              <a:rPr lang="en-IN" b="1" dirty="0" smtClean="0">
                <a:latin typeface="Times New Roman" pitchFamily="18" charset="0"/>
                <a:cs typeface="Times New Roman" pitchFamily="18" charset="0"/>
              </a:rPr>
              <a:t>Unit 1: </a:t>
            </a:r>
          </a:p>
          <a:p>
            <a:r>
              <a:rPr lang="en-IN" b="1" dirty="0" smtClean="0">
                <a:latin typeface="Times New Roman" pitchFamily="18" charset="0"/>
                <a:cs typeface="Times New Roman" pitchFamily="18" charset="0"/>
              </a:rPr>
              <a:t>Introduction To Blockchain</a:t>
            </a:r>
          </a:p>
          <a:p>
            <a:r>
              <a:rPr lang="en-IN" b="1" dirty="0" smtClean="0"/>
              <a:t>1.9 : ECDSA </a:t>
            </a:r>
            <a:r>
              <a:rPr lang="en-US" b="1" dirty="0" smtClean="0">
                <a:solidFill>
                  <a:srgbClr val="FF0000"/>
                </a:solidFill>
                <a:latin typeface="Times New Roman" pitchFamily="18" charset="0"/>
                <a:cs typeface="Times New Roman" pitchFamily="18" charset="0"/>
              </a:rPr>
              <a:t/>
            </a:r>
            <a:br>
              <a:rPr lang="en-US" b="1" dirty="0" smtClean="0">
                <a:solidFill>
                  <a:srgbClr val="FF0000"/>
                </a:solidFill>
                <a:latin typeface="Times New Roman" pitchFamily="18" charset="0"/>
                <a:cs typeface="Times New Roman" pitchFamily="18" charset="0"/>
              </a:rPr>
            </a:br>
            <a:endParaRPr lang="en-IN" b="1" dirty="0" smtClean="0">
              <a:solidFill>
                <a:srgbClr val="FFFF00"/>
              </a:solidFill>
              <a:latin typeface="Times New Roman" pitchFamily="18" charset="0"/>
              <a:cs typeface="Times New Roman" pitchFamily="18"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617" y="144966"/>
            <a:ext cx="11346873" cy="6269689"/>
          </a:xfrm>
        </p:spPr>
        <p:txBody>
          <a:bodyPr>
            <a:normAutofit lnSpcReduction="10000"/>
          </a:bodyPr>
          <a:lstStyle/>
          <a:p>
            <a:pPr>
              <a:lnSpc>
                <a:spcPct val="150000"/>
              </a:lnSpc>
            </a:pPr>
            <a:r>
              <a:rPr lang="en-US" sz="2200" dirty="0" smtClean="0">
                <a:latin typeface="Times New Roman" pitchFamily="18" charset="0"/>
                <a:cs typeface="Times New Roman" pitchFamily="18" charset="0"/>
              </a:rPr>
              <a:t>Elliptic curve cryptography is a type of public key cryptography that uses the algebraic structure of elliptic curves with finite fields as its foundation </a:t>
            </a:r>
            <a:r>
              <a:rPr lang="en-US" sz="2200" dirty="0" smtClean="0">
                <a:latin typeface="Times New Roman" pitchFamily="18" charset="0"/>
                <a:cs typeface="Times New Roman" pitchFamily="18" charset="0"/>
              </a:rPr>
              <a:t>.</a:t>
            </a:r>
          </a:p>
          <a:p>
            <a:pPr>
              <a:lnSpc>
                <a:spcPct val="150000"/>
              </a:lnSpc>
            </a:pPr>
            <a:r>
              <a:rPr lang="en-US" sz="2200" dirty="0" smtClean="0">
                <a:latin typeface="Times New Roman" pitchFamily="18" charset="0"/>
                <a:cs typeface="Times New Roman" pitchFamily="18" charset="0"/>
              </a:rPr>
              <a:t>Elliptic curve cryptography is primarily used to generate pseudo-random numbers, digital signatures, and other data.</a:t>
            </a:r>
            <a:endParaRPr lang="en-US" sz="2200" dirty="0" smtClean="0">
              <a:latin typeface="Times New Roman" pitchFamily="18" charset="0"/>
              <a:cs typeface="Times New Roman" pitchFamily="18" charset="0"/>
            </a:endParaRPr>
          </a:p>
          <a:p>
            <a:pPr>
              <a:lnSpc>
                <a:spcPct val="150000"/>
              </a:lnSpc>
            </a:pPr>
            <a:r>
              <a:rPr lang="en-US" sz="2200" dirty="0" smtClean="0">
                <a:latin typeface="Times New Roman" pitchFamily="18" charset="0"/>
                <a:cs typeface="Times New Roman" pitchFamily="18" charset="0"/>
              </a:rPr>
              <a:t>This </a:t>
            </a:r>
            <a:r>
              <a:rPr lang="en-US" sz="2200" dirty="0">
                <a:latin typeface="Times New Roman" pitchFamily="18" charset="0"/>
                <a:cs typeface="Times New Roman" pitchFamily="18" charset="0"/>
              </a:rPr>
              <a:t>signing system generates two keys that are called a private key and </a:t>
            </a:r>
            <a:r>
              <a:rPr lang="en-US" sz="2200" b="1" dirty="0">
                <a:latin typeface="Times New Roman" pitchFamily="18" charset="0"/>
                <a:cs typeface="Times New Roman" pitchFamily="18" charset="0"/>
                <a:hlinkClick r:id="rId2"/>
              </a:rPr>
              <a:t>public key</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nSpc>
                <a:spcPct val="150000"/>
              </a:lnSpc>
            </a:pPr>
            <a:r>
              <a:rPr lang="en-US" sz="2200" dirty="0" smtClean="0">
                <a:latin typeface="Times New Roman" pitchFamily="18" charset="0"/>
                <a:cs typeface="Times New Roman" pitchFamily="18" charset="0"/>
              </a:rPr>
              <a:t>Both </a:t>
            </a:r>
            <a:r>
              <a:rPr lang="en-US" sz="2200" dirty="0">
                <a:latin typeface="Times New Roman" pitchFamily="18" charset="0"/>
                <a:cs typeface="Times New Roman" pitchFamily="18" charset="0"/>
              </a:rPr>
              <a:t>keys are related by a complex mathematical operation performed on an elliptic curve function.</a:t>
            </a:r>
          </a:p>
          <a:p>
            <a:pPr>
              <a:lnSpc>
                <a:spcPct val="150000"/>
              </a:lnSpc>
            </a:pPr>
            <a:r>
              <a:rPr lang="en-US" sz="2200" dirty="0">
                <a:latin typeface="Times New Roman" pitchFamily="18" charset="0"/>
                <a:cs typeface="Times New Roman" pitchFamily="18" charset="0"/>
              </a:rPr>
              <a:t>Under this operating scheme, ECDSA guarantees in the first instance the following:</a:t>
            </a:r>
          </a:p>
          <a:p>
            <a:pPr marL="0" indent="0">
              <a:lnSpc>
                <a:spcPct val="150000"/>
              </a:lnSpc>
              <a:buNone/>
            </a:pPr>
            <a:r>
              <a:rPr lang="en-US" sz="2200" dirty="0">
                <a:latin typeface="Times New Roman" pitchFamily="18" charset="0"/>
                <a:cs typeface="Times New Roman" pitchFamily="18" charset="0"/>
              </a:rPr>
              <a:t>1.Unique and unrepeatable signatures for each generation set </a:t>
            </a:r>
            <a:r>
              <a:rPr lang="en-US" sz="2200" b="1" dirty="0">
                <a:latin typeface="Times New Roman" pitchFamily="18" charset="0"/>
                <a:cs typeface="Times New Roman" pitchFamily="18" charset="0"/>
                <a:hlinkClick r:id="rId3"/>
              </a:rPr>
              <a:t>private keys</a:t>
            </a:r>
            <a:r>
              <a:rPr lang="en-US" sz="2200" dirty="0">
                <a:latin typeface="Times New Roman" pitchFamily="18" charset="0"/>
                <a:cs typeface="Times New Roman" pitchFamily="18" charset="0"/>
              </a:rPr>
              <a:t> and public.</a:t>
            </a:r>
          </a:p>
          <a:p>
            <a:pPr marL="0" indent="0">
              <a:lnSpc>
                <a:spcPct val="150000"/>
              </a:lnSpc>
              <a:buNone/>
            </a:pPr>
            <a:r>
              <a:rPr lang="en-US" sz="2200" dirty="0">
                <a:latin typeface="Times New Roman" pitchFamily="18" charset="0"/>
                <a:cs typeface="Times New Roman" pitchFamily="18" charset="0"/>
              </a:rPr>
              <a:t>2.The practical impossibility of </a:t>
            </a:r>
            <a:r>
              <a:rPr lang="en-US" sz="2200" dirty="0" smtClean="0">
                <a:latin typeface="Times New Roman" pitchFamily="18" charset="0"/>
                <a:cs typeface="Times New Roman" pitchFamily="18" charset="0"/>
              </a:rPr>
              <a:t>falsifying  </a:t>
            </a:r>
            <a:r>
              <a:rPr lang="en-US" sz="2200" dirty="0">
                <a:latin typeface="Times New Roman" pitchFamily="18" charset="0"/>
                <a:cs typeface="Times New Roman" pitchFamily="18" charset="0"/>
              </a:rPr>
              <a:t>digital signatures. This is so because the computational power necessary for this is outside the current limits.</a:t>
            </a:r>
          </a:p>
          <a:p>
            <a:pPr marL="0" indent="0">
              <a:buNone/>
            </a:pPr>
            <a:endParaRPr lang="en-IN" dirty="0"/>
          </a:p>
        </p:txBody>
      </p:sp>
    </p:spTree>
    <p:extLst>
      <p:ext uri="{BB962C8B-B14F-4D97-AF65-F5344CB8AC3E}">
        <p14:creationId xmlns:p14="http://schemas.microsoft.com/office/powerpoint/2010/main" xmlns="" val="3827191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0945" y="484909"/>
            <a:ext cx="11350927" cy="6150067"/>
          </a:xfrm>
        </p:spPr>
        <p:txBody>
          <a:bodyPr>
            <a:normAutofit fontScale="92500"/>
          </a:bodyPr>
          <a:lstStyle/>
          <a:p>
            <a:pPr marL="342900" indent="-342900" algn="l">
              <a:lnSpc>
                <a:spcPct val="150000"/>
              </a:lnSpc>
              <a:buFont typeface="Arial" panose="020B0604020202020204" pitchFamily="34" charset="0"/>
              <a:buChar char="•"/>
            </a:pPr>
            <a:r>
              <a:rPr lang="en-IN" sz="2200" dirty="0">
                <a:latin typeface="Times New Roman" pitchFamily="18" charset="0"/>
                <a:cs typeface="Times New Roman" pitchFamily="18" charset="0"/>
              </a:rPr>
              <a:t>The Elliptic Curve Digital Signature Algorithm (ECDSA) is a Digital Signature Algorithm (DSA) which uses keys derived from elliptic curve cryptography (ECC). It is a particularly efficient equation based on public key cryptography (PKC).</a:t>
            </a:r>
          </a:p>
          <a:p>
            <a:pPr marL="342900" indent="-342900" algn="l">
              <a:lnSpc>
                <a:spcPct val="150000"/>
              </a:lnSpc>
              <a:buFont typeface="Arial" panose="020B0604020202020204" pitchFamily="34" charset="0"/>
              <a:buChar char="•"/>
            </a:pPr>
            <a:r>
              <a:rPr lang="en-US" sz="2200" dirty="0">
                <a:latin typeface="Times New Roman" pitchFamily="18" charset="0"/>
                <a:cs typeface="Times New Roman" pitchFamily="18" charset="0"/>
              </a:rPr>
              <a:t>ECDSA is used across many security systems, is popular for use in secure messaging apps, and it is the basis of Bitcoin security</a:t>
            </a:r>
          </a:p>
          <a:p>
            <a:pPr marL="342900" indent="-342900" algn="l">
              <a:lnSpc>
                <a:spcPct val="150000"/>
              </a:lnSpc>
              <a:buFont typeface="Arial" panose="020B0604020202020204" pitchFamily="34" charset="0"/>
              <a:buChar char="•"/>
            </a:pPr>
            <a:r>
              <a:rPr lang="en-US" sz="2200" dirty="0">
                <a:latin typeface="Times New Roman" pitchFamily="18" charset="0"/>
                <a:cs typeface="Times New Roman" pitchFamily="18" charset="0"/>
              </a:rPr>
              <a:t>ECDSA’s use of smaller keys to create the same level of security as any other digital signature algorithm. </a:t>
            </a:r>
          </a:p>
          <a:p>
            <a:pPr marL="342900" indent="-342900" algn="l">
              <a:lnSpc>
                <a:spcPct val="150000"/>
              </a:lnSpc>
              <a:buFont typeface="Arial" panose="020B0604020202020204" pitchFamily="34" charset="0"/>
              <a:buChar char="•"/>
            </a:pPr>
            <a:r>
              <a:rPr lang="en-US" sz="2200" dirty="0">
                <a:latin typeface="Times New Roman" pitchFamily="18" charset="0"/>
                <a:cs typeface="Times New Roman" pitchFamily="18" charset="0"/>
              </a:rPr>
              <a:t>ECDSA is used to create ECDSA certificates, which is a type of electronic document used for authentication of the owner of the certificate. Certificates contain information about the key used to create the certificate, information about the owner of the certificate, and the signature of the issuer of the certificate, who is a verified trusted entity. </a:t>
            </a:r>
            <a:endParaRPr lang="en-US" sz="2200" dirty="0" smtClean="0">
              <a:latin typeface="Times New Roman" pitchFamily="18" charset="0"/>
              <a:cs typeface="Times New Roman" pitchFamily="18" charset="0"/>
            </a:endParaRPr>
          </a:p>
          <a:p>
            <a:pPr marL="342900" indent="-342900" algn="l">
              <a:lnSpc>
                <a:spcPct val="150000"/>
              </a:lnSpc>
              <a:buFont typeface="Arial" panose="020B0604020202020204" pitchFamily="34" charset="0"/>
              <a:buChar char="•"/>
            </a:pPr>
            <a:r>
              <a:rPr lang="en-US" sz="2200" dirty="0" smtClean="0">
                <a:latin typeface="Times New Roman" pitchFamily="18" charset="0"/>
                <a:cs typeface="Times New Roman" pitchFamily="18" charset="0"/>
              </a:rPr>
              <a:t>This </a:t>
            </a:r>
            <a:r>
              <a:rPr lang="en-US" sz="2200" dirty="0">
                <a:latin typeface="Times New Roman" pitchFamily="18" charset="0"/>
                <a:cs typeface="Times New Roman" pitchFamily="18" charset="0"/>
              </a:rPr>
              <a:t>trusted issuer is normally a certificate authority which also has a signed </a:t>
            </a:r>
            <a:r>
              <a:rPr lang="en-US" sz="2200" b="1" dirty="0">
                <a:latin typeface="Times New Roman" pitchFamily="18" charset="0"/>
                <a:cs typeface="Times New Roman" pitchFamily="18" charset="0"/>
                <a:hlinkClick r:id="rId2"/>
              </a:rPr>
              <a:t>certificate</a:t>
            </a:r>
            <a:r>
              <a:rPr lang="en-US" sz="2200" dirty="0">
                <a:latin typeface="Times New Roman" pitchFamily="18" charset="0"/>
                <a:cs typeface="Times New Roman" pitchFamily="18" charset="0"/>
              </a:rPr>
              <a:t>, which can be traced back through the chain of trust to the original issuing </a:t>
            </a:r>
            <a:r>
              <a:rPr lang="en-US" sz="2200" b="1" dirty="0">
                <a:latin typeface="Times New Roman" pitchFamily="18" charset="0"/>
                <a:cs typeface="Times New Roman" pitchFamily="18" charset="0"/>
                <a:hlinkClick r:id="rId3"/>
              </a:rPr>
              <a:t>certificate authority</a:t>
            </a:r>
            <a:r>
              <a:rPr lang="en-US" sz="2200" dirty="0">
                <a:latin typeface="Times New Roman" pitchFamily="18" charset="0"/>
                <a:cs typeface="Times New Roman" pitchFamily="18" charset="0"/>
              </a:rPr>
              <a:t>.</a:t>
            </a:r>
            <a:endParaRPr lang="en-IN" sz="2200" dirty="0">
              <a:latin typeface="Times New Roman" pitchFamily="18" charset="0"/>
              <a:cs typeface="Times New Roman" pitchFamily="18" charset="0"/>
            </a:endParaRPr>
          </a:p>
          <a:p>
            <a:pPr algn="l"/>
            <a:endParaRPr lang="en-IN" dirty="0"/>
          </a:p>
        </p:txBody>
      </p:sp>
    </p:spTree>
    <p:extLst>
      <p:ext uri="{BB962C8B-B14F-4D97-AF65-F5344CB8AC3E}">
        <p14:creationId xmlns:p14="http://schemas.microsoft.com/office/powerpoint/2010/main" xmlns="" val="1368842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153</Words>
  <Application>Microsoft Office PowerPoint</Application>
  <PresentationFormat>Custom</PresentationFormat>
  <Paragraphs>16</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Blockchain Technology  </vt:lpstr>
      <vt:lpstr>Slide 2</vt:lpstr>
      <vt:lpstr>Slide 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ECDSA</dc:title>
  <dc:creator>DELL</dc:creator>
  <cp:lastModifiedBy>dypcet</cp:lastModifiedBy>
  <cp:revision>7</cp:revision>
  <dcterms:created xsi:type="dcterms:W3CDTF">2022-03-28T05:58:06Z</dcterms:created>
  <dcterms:modified xsi:type="dcterms:W3CDTF">2024-07-30T03:51:40Z</dcterms:modified>
</cp:coreProperties>
</file>