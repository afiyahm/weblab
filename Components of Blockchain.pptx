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8" d="100"/>
          <a:sy n="148" d="100"/>
        </p:scale>
        <p:origin x="96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4900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2056019" y="-1222724"/>
            <a:ext cx="5032058" cy="5032058"/>
          </a:xfrm>
          <a:prstGeom prst="ellipse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3" name="Title"/>
          <p:cNvSpPr/>
          <p:nvPr/>
        </p:nvSpPr>
        <p:spPr>
          <a:xfrm>
            <a:off x="758381" y="2122408"/>
            <a:ext cx="7620000" cy="8987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97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Components of Blockchain</a:t>
            </a:r>
            <a:endParaRPr lang="en-US" sz="4097" dirty="0"/>
          </a:p>
        </p:txBody>
      </p:sp>
      <p:sp>
        <p:nvSpPr>
          <p:cNvPr id="4" name="StaticPath"/>
          <p:cNvSpPr/>
          <p:nvPr/>
        </p:nvSpPr>
        <p:spPr>
          <a:xfrm>
            <a:off x="7190137" y="3357658"/>
            <a:ext cx="2394585" cy="2394585"/>
          </a:xfrm>
          <a:prstGeom prst="ellipse">
            <a:avLst/>
          </a:prstGeom>
          <a:solidFill>
            <a:srgbClr val="000000">
              <a:alpha val="0"/>
            </a:srgbClr>
          </a:solidFill>
          <a:ln w="423333">
            <a:solidFill>
              <a:srgbClr val="FF9800"/>
            </a:solidFill>
            <a:prstDash val="solid"/>
          </a:ln>
        </p:spPr>
      </p:sp>
      <p:sp>
        <p:nvSpPr>
          <p:cNvPr id="5" name="StaticPath"/>
          <p:cNvSpPr/>
          <p:nvPr/>
        </p:nvSpPr>
        <p:spPr>
          <a:xfrm>
            <a:off x="-957929" y="-1222724"/>
            <a:ext cx="1991678" cy="1991677"/>
          </a:xfrm>
          <a:prstGeom prst="ellipse">
            <a:avLst/>
          </a:prstGeom>
          <a:solidFill>
            <a:srgbClr val="000000">
              <a:alpha val="0"/>
            </a:srgbClr>
          </a:solidFill>
          <a:ln w="423333">
            <a:solidFill>
              <a:srgbClr val="FF9800"/>
            </a:solidFill>
            <a:prstDash val="solid"/>
          </a:ln>
        </p:spPr>
      </p:sp>
      <p:sp>
        <p:nvSpPr>
          <p:cNvPr id="6" name="StaticPath"/>
          <p:cNvSpPr/>
          <p:nvPr/>
        </p:nvSpPr>
        <p:spPr>
          <a:xfrm>
            <a:off x="303609" y="4340114"/>
            <a:ext cx="571500" cy="57150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" name="StaticPath"/>
          <p:cNvSpPr/>
          <p:nvPr/>
        </p:nvSpPr>
        <p:spPr>
          <a:xfrm>
            <a:off x="939165" y="4348163"/>
            <a:ext cx="571500" cy="57150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8" name="StaticPath"/>
          <p:cNvSpPr/>
          <p:nvPr/>
        </p:nvSpPr>
        <p:spPr>
          <a:xfrm>
            <a:off x="620268" y="4338923"/>
            <a:ext cx="571500" cy="571500"/>
          </a:xfrm>
          <a:prstGeom prst="ellipse">
            <a:avLst/>
          </a:prstGeom>
          <a:solidFill>
            <a:srgbClr val="FF98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3852767" y="169640"/>
            <a:ext cx="3157538" cy="3157538"/>
          </a:xfrm>
          <a:prstGeom prst="ellipse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" name="StaticPath"/>
          <p:cNvSpPr/>
          <p:nvPr/>
        </p:nvSpPr>
        <p:spPr>
          <a:xfrm>
            <a:off x="3906869" y="-1913049"/>
            <a:ext cx="2428875" cy="2428875"/>
          </a:xfrm>
          <a:prstGeom prst="ellipse">
            <a:avLst/>
          </a:prstGeom>
          <a:solidFill>
            <a:srgbClr val="000000">
              <a:alpha val="0"/>
            </a:srgbClr>
          </a:solidFill>
          <a:ln w="423333">
            <a:solidFill>
              <a:srgbClr val="FF9800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4304062" y="1697879"/>
            <a:ext cx="2302794" cy="2776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74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Key Blockchain Components</a:t>
            </a:r>
            <a:endParaRPr lang="en-US" sz="2474" dirty="0"/>
          </a:p>
        </p:txBody>
      </p:sp>
      <p:sp>
        <p:nvSpPr>
          <p:cNvPr id="5" name="Bullet circle 1"/>
          <p:cNvSpPr/>
          <p:nvPr/>
        </p:nvSpPr>
        <p:spPr>
          <a:xfrm>
            <a:off x="347662" y="857250"/>
            <a:ext cx="474345" cy="474345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6" name="Bullet index 1"/>
          <p:cNvSpPr/>
          <p:nvPr/>
        </p:nvSpPr>
        <p:spPr>
          <a:xfrm>
            <a:off x="879634" y="966788"/>
            <a:ext cx="475726" cy="2410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93" b="1" dirty="0">
                <a:solidFill>
                  <a:srgbClr val="333333"/>
                </a:solidFill>
                <a:latin typeface="Prompt-Bold" pitchFamily="34" charset="0"/>
                <a:ea typeface="Prompt-Bold" pitchFamily="34" charset="-122"/>
                <a:cs typeface="Prompt-Bold" pitchFamily="34" charset="-120"/>
              </a:rPr>
              <a:t>01</a:t>
            </a:r>
            <a:endParaRPr lang="en-US" sz="1493" dirty="0"/>
          </a:p>
        </p:txBody>
      </p:sp>
      <p:sp>
        <p:nvSpPr>
          <p:cNvPr id="7" name="Bullet text 1"/>
          <p:cNvSpPr/>
          <p:nvPr/>
        </p:nvSpPr>
        <p:spPr>
          <a:xfrm>
            <a:off x="1388221" y="966788"/>
            <a:ext cx="2525268" cy="2497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6" dirty="0">
                <a:solidFill>
                  <a:srgbClr val="333333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Distributed Ledger</a:t>
            </a:r>
            <a:endParaRPr lang="en-US" sz="2006" dirty="0"/>
          </a:p>
        </p:txBody>
      </p:sp>
      <p:sp>
        <p:nvSpPr>
          <p:cNvPr id="8" name="Bullet circle 2"/>
          <p:cNvSpPr/>
          <p:nvPr/>
        </p:nvSpPr>
        <p:spPr>
          <a:xfrm>
            <a:off x="347662" y="1619250"/>
            <a:ext cx="474345" cy="474345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9" name="Bullet index 2"/>
          <p:cNvSpPr/>
          <p:nvPr/>
        </p:nvSpPr>
        <p:spPr>
          <a:xfrm>
            <a:off x="879634" y="1728788"/>
            <a:ext cx="475726" cy="2410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93" b="1" dirty="0">
                <a:solidFill>
                  <a:srgbClr val="333333"/>
                </a:solidFill>
                <a:latin typeface="Prompt-Bold" pitchFamily="34" charset="0"/>
                <a:ea typeface="Prompt-Bold" pitchFamily="34" charset="-122"/>
                <a:cs typeface="Prompt-Bold" pitchFamily="34" charset="-120"/>
              </a:rPr>
              <a:t>02</a:t>
            </a:r>
            <a:endParaRPr lang="en-US" sz="1493" dirty="0"/>
          </a:p>
        </p:txBody>
      </p:sp>
      <p:sp>
        <p:nvSpPr>
          <p:cNvPr id="10" name="Bullet text 2"/>
          <p:cNvSpPr/>
          <p:nvPr/>
        </p:nvSpPr>
        <p:spPr>
          <a:xfrm>
            <a:off x="1388221" y="1728788"/>
            <a:ext cx="2525268" cy="2497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6" dirty="0">
                <a:solidFill>
                  <a:srgbClr val="333333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Cryptography</a:t>
            </a:r>
            <a:endParaRPr lang="en-US" sz="2006" dirty="0"/>
          </a:p>
        </p:txBody>
      </p:sp>
      <p:sp>
        <p:nvSpPr>
          <p:cNvPr id="11" name="Bullet circle 3"/>
          <p:cNvSpPr/>
          <p:nvPr/>
        </p:nvSpPr>
        <p:spPr>
          <a:xfrm>
            <a:off x="347662" y="2381250"/>
            <a:ext cx="474345" cy="474345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12" name="Bullet index 3"/>
          <p:cNvSpPr/>
          <p:nvPr/>
        </p:nvSpPr>
        <p:spPr>
          <a:xfrm>
            <a:off x="879634" y="2490788"/>
            <a:ext cx="475726" cy="2410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93" b="1" dirty="0">
                <a:solidFill>
                  <a:srgbClr val="333333"/>
                </a:solidFill>
                <a:latin typeface="Prompt-Bold" pitchFamily="34" charset="0"/>
                <a:ea typeface="Prompt-Bold" pitchFamily="34" charset="-122"/>
                <a:cs typeface="Prompt-Bold" pitchFamily="34" charset="-120"/>
              </a:rPr>
              <a:t>03</a:t>
            </a:r>
            <a:endParaRPr lang="en-US" sz="1493" dirty="0"/>
          </a:p>
        </p:txBody>
      </p:sp>
      <p:sp>
        <p:nvSpPr>
          <p:cNvPr id="13" name="Bullet text 3"/>
          <p:cNvSpPr/>
          <p:nvPr/>
        </p:nvSpPr>
        <p:spPr>
          <a:xfrm>
            <a:off x="1388221" y="2490788"/>
            <a:ext cx="2525268" cy="2497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6" dirty="0">
                <a:solidFill>
                  <a:srgbClr val="333333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Consensus Mechanism</a:t>
            </a:r>
            <a:endParaRPr lang="en-US" sz="2006" dirty="0"/>
          </a:p>
        </p:txBody>
      </p:sp>
      <p:sp>
        <p:nvSpPr>
          <p:cNvPr id="14" name="Bullet circle 4"/>
          <p:cNvSpPr/>
          <p:nvPr/>
        </p:nvSpPr>
        <p:spPr>
          <a:xfrm>
            <a:off x="347662" y="3143250"/>
            <a:ext cx="474345" cy="474345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15" name="Bullet index 4"/>
          <p:cNvSpPr/>
          <p:nvPr/>
        </p:nvSpPr>
        <p:spPr>
          <a:xfrm>
            <a:off x="879634" y="3252788"/>
            <a:ext cx="475726" cy="2410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93" b="1" dirty="0">
                <a:solidFill>
                  <a:srgbClr val="333333"/>
                </a:solidFill>
                <a:latin typeface="Prompt-Bold" pitchFamily="34" charset="0"/>
                <a:ea typeface="Prompt-Bold" pitchFamily="34" charset="-122"/>
                <a:cs typeface="Prompt-Bold" pitchFamily="34" charset="-120"/>
              </a:rPr>
              <a:t>04</a:t>
            </a:r>
            <a:endParaRPr lang="en-US" sz="1493" dirty="0"/>
          </a:p>
        </p:txBody>
      </p:sp>
      <p:sp>
        <p:nvSpPr>
          <p:cNvPr id="16" name="Bullet text 4"/>
          <p:cNvSpPr/>
          <p:nvPr/>
        </p:nvSpPr>
        <p:spPr>
          <a:xfrm>
            <a:off x="1388221" y="3252788"/>
            <a:ext cx="2525268" cy="2497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6" dirty="0">
                <a:solidFill>
                  <a:srgbClr val="333333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Smart Contracts</a:t>
            </a:r>
            <a:endParaRPr lang="en-US" sz="2006" dirty="0"/>
          </a:p>
        </p:txBody>
      </p:sp>
      <p:sp>
        <p:nvSpPr>
          <p:cNvPr id="17" name="Bullet circle 5"/>
          <p:cNvSpPr/>
          <p:nvPr/>
        </p:nvSpPr>
        <p:spPr>
          <a:xfrm>
            <a:off x="347662" y="3905250"/>
            <a:ext cx="474345" cy="474345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18" name="Bullet index 5"/>
          <p:cNvSpPr/>
          <p:nvPr/>
        </p:nvSpPr>
        <p:spPr>
          <a:xfrm>
            <a:off x="879634" y="4014788"/>
            <a:ext cx="475726" cy="2410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93" b="1" dirty="0">
                <a:solidFill>
                  <a:srgbClr val="333333"/>
                </a:solidFill>
                <a:latin typeface="Prompt-Bold" pitchFamily="34" charset="0"/>
                <a:ea typeface="Prompt-Bold" pitchFamily="34" charset="-122"/>
                <a:cs typeface="Prompt-Bold" pitchFamily="34" charset="-120"/>
              </a:rPr>
              <a:t>05</a:t>
            </a:r>
            <a:endParaRPr lang="en-US" sz="1493" dirty="0"/>
          </a:p>
        </p:txBody>
      </p:sp>
      <p:sp>
        <p:nvSpPr>
          <p:cNvPr id="19" name="Bullet text 5"/>
          <p:cNvSpPr/>
          <p:nvPr/>
        </p:nvSpPr>
        <p:spPr>
          <a:xfrm>
            <a:off x="1388221" y="4014788"/>
            <a:ext cx="2525268" cy="2497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6" dirty="0">
                <a:solidFill>
                  <a:srgbClr val="333333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Nodes</a:t>
            </a:r>
            <a:endParaRPr lang="en-US" sz="2006" dirty="0"/>
          </a:p>
        </p:txBody>
      </p:sp>
      <p:pic>
        <p:nvPicPr>
          <p:cNvPr id="20" name="Imag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916" y="2586085"/>
            <a:ext cx="2321719" cy="232171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itle"/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Distributed Ledger</a:t>
            </a:r>
            <a:endParaRPr lang="en-US" sz="1900" dirty="0"/>
          </a:p>
        </p:txBody>
      </p:sp>
      <p:sp>
        <p:nvSpPr>
          <p:cNvPr id="4" name="Subtitle 1"/>
          <p:cNvSpPr/>
          <p:nvPr/>
        </p:nvSpPr>
        <p:spPr>
          <a:xfrm>
            <a:off x="714375" y="1190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5" name="Paragraph 1"/>
          <p:cNvSpPr/>
          <p:nvPr/>
        </p:nvSpPr>
        <p:spPr>
          <a:xfrm>
            <a:off x="714375" y="1571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85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A distributed ledger is a database that is consensually shared and synchronized across multiple sites, institutions, or geographies. It ensures transparency and immutability.</a:t>
            </a:r>
            <a:endParaRPr lang="en-US" sz="1285" dirty="0"/>
          </a:p>
        </p:txBody>
      </p:sp>
      <p:sp>
        <p:nvSpPr>
          <p:cNvPr id="6" name="Subtitle 2"/>
          <p:cNvSpPr/>
          <p:nvPr/>
        </p:nvSpPr>
        <p:spPr>
          <a:xfrm>
            <a:off x="714375" y="2524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Function</a:t>
            </a:r>
            <a:endParaRPr lang="en-US" sz="1500" dirty="0"/>
          </a:p>
        </p:txBody>
      </p:sp>
      <p:sp>
        <p:nvSpPr>
          <p:cNvPr id="7" name="Paragraph 2"/>
          <p:cNvSpPr/>
          <p:nvPr/>
        </p:nvSpPr>
        <p:spPr>
          <a:xfrm>
            <a:off x="714375" y="2905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85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It records all transactions across the network in a secure and verifiable way, preventing data tampering.</a:t>
            </a:r>
            <a:endParaRPr lang="en-US" sz="1285" dirty="0"/>
          </a:p>
        </p:txBody>
      </p:sp>
      <p:sp>
        <p:nvSpPr>
          <p:cNvPr id="8" name="Subtitle 3"/>
          <p:cNvSpPr/>
          <p:nvPr/>
        </p:nvSpPr>
        <p:spPr>
          <a:xfrm>
            <a:off x="714375" y="36195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Importance</a:t>
            </a:r>
            <a:endParaRPr lang="en-US" sz="1500" dirty="0"/>
          </a:p>
        </p:txBody>
      </p:sp>
      <p:sp>
        <p:nvSpPr>
          <p:cNvPr id="9" name="Paragraph 3"/>
          <p:cNvSpPr/>
          <p:nvPr/>
        </p:nvSpPr>
        <p:spPr>
          <a:xfrm>
            <a:off x="714375" y="40005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85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Crucial for decentralization, it eliminates the need for a central authority and provides a single source of truth.</a:t>
            </a:r>
            <a:endParaRPr lang="en-US" sz="1285" dirty="0"/>
          </a:p>
        </p:txBody>
      </p:sp>
      <p:pic>
        <p:nvPicPr>
          <p:cNvPr id="10" name="Imag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333500"/>
            <a:ext cx="2352675" cy="2352675"/>
          </a:xfrm>
          <a:prstGeom prst="rect">
            <a:avLst/>
          </a:prstGeom>
        </p:spPr>
      </p:pic>
      <p:sp>
        <p:nvSpPr>
          <p:cNvPr id="11" name="StaticPath"/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</p:sp>
      <p:sp>
        <p:nvSpPr>
          <p:cNvPr id="12" name="StaticPath"/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itle"/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Cryptography</a:t>
            </a:r>
            <a:endParaRPr lang="en-US" sz="1900" dirty="0"/>
          </a:p>
        </p:txBody>
      </p:sp>
      <p:sp>
        <p:nvSpPr>
          <p:cNvPr id="4" name="Subtitle 1"/>
          <p:cNvSpPr/>
          <p:nvPr/>
        </p:nvSpPr>
        <p:spPr>
          <a:xfrm>
            <a:off x="714375" y="1190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5" name="Paragraph 1"/>
          <p:cNvSpPr/>
          <p:nvPr/>
        </p:nvSpPr>
        <p:spPr>
          <a:xfrm>
            <a:off x="714375" y="1571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95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Cryptography in blockchain secures data and ensures that transactions are performed safely and anonymously using encryption techniques.</a:t>
            </a:r>
            <a:endParaRPr lang="en-US" sz="1295" dirty="0"/>
          </a:p>
        </p:txBody>
      </p:sp>
      <p:sp>
        <p:nvSpPr>
          <p:cNvPr id="6" name="Subtitle 2"/>
          <p:cNvSpPr/>
          <p:nvPr/>
        </p:nvSpPr>
        <p:spPr>
          <a:xfrm>
            <a:off x="714375" y="2524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Function</a:t>
            </a:r>
            <a:endParaRPr lang="en-US" sz="1500" dirty="0"/>
          </a:p>
        </p:txBody>
      </p:sp>
      <p:sp>
        <p:nvSpPr>
          <p:cNvPr id="7" name="Paragraph 2"/>
          <p:cNvSpPr/>
          <p:nvPr/>
        </p:nvSpPr>
        <p:spPr>
          <a:xfrm>
            <a:off x="714375" y="2905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95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It enables secure communication and transaction validation by converting information into an unreadable format for unauthorized users.</a:t>
            </a:r>
            <a:endParaRPr lang="en-US" sz="1295" dirty="0"/>
          </a:p>
        </p:txBody>
      </p:sp>
      <p:sp>
        <p:nvSpPr>
          <p:cNvPr id="8" name="Subtitle 3"/>
          <p:cNvSpPr/>
          <p:nvPr/>
        </p:nvSpPr>
        <p:spPr>
          <a:xfrm>
            <a:off x="714375" y="36195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Importance</a:t>
            </a:r>
            <a:endParaRPr lang="en-US" sz="1500" dirty="0"/>
          </a:p>
        </p:txBody>
      </p:sp>
      <p:sp>
        <p:nvSpPr>
          <p:cNvPr id="9" name="Paragraph 3"/>
          <p:cNvSpPr/>
          <p:nvPr/>
        </p:nvSpPr>
        <p:spPr>
          <a:xfrm>
            <a:off x="714375" y="40005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95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Essential for privacy and security, it protects data from malicious actors and supports the trustless nature of blockchain.</a:t>
            </a:r>
            <a:endParaRPr lang="en-US" sz="1295" dirty="0"/>
          </a:p>
        </p:txBody>
      </p:sp>
      <p:pic>
        <p:nvPicPr>
          <p:cNvPr id="10" name="Imag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333500"/>
            <a:ext cx="2352675" cy="2352675"/>
          </a:xfrm>
          <a:prstGeom prst="rect">
            <a:avLst/>
          </a:prstGeom>
        </p:spPr>
      </p:pic>
      <p:sp>
        <p:nvSpPr>
          <p:cNvPr id="11" name="StaticPath"/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</p:sp>
      <p:sp>
        <p:nvSpPr>
          <p:cNvPr id="12" name="StaticPath"/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itle"/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Consensus Mechanism</a:t>
            </a:r>
            <a:endParaRPr lang="en-US" sz="1900" dirty="0"/>
          </a:p>
        </p:txBody>
      </p:sp>
      <p:sp>
        <p:nvSpPr>
          <p:cNvPr id="4" name="Subtitle 1"/>
          <p:cNvSpPr/>
          <p:nvPr/>
        </p:nvSpPr>
        <p:spPr>
          <a:xfrm>
            <a:off x="714375" y="1190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5" name="Paragraph 1"/>
          <p:cNvSpPr/>
          <p:nvPr/>
        </p:nvSpPr>
        <p:spPr>
          <a:xfrm>
            <a:off x="714375" y="1571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61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A consensus mechanism is a process used to achieve agreement on a single data value among distributed systems, crucial in validating blockchain transactions.</a:t>
            </a:r>
            <a:endParaRPr lang="en-US" sz="1261" dirty="0"/>
          </a:p>
        </p:txBody>
      </p:sp>
      <p:sp>
        <p:nvSpPr>
          <p:cNvPr id="6" name="Subtitle 2"/>
          <p:cNvSpPr/>
          <p:nvPr/>
        </p:nvSpPr>
        <p:spPr>
          <a:xfrm>
            <a:off x="714375" y="2524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Function</a:t>
            </a:r>
            <a:endParaRPr lang="en-US" sz="1500" dirty="0"/>
          </a:p>
        </p:txBody>
      </p:sp>
      <p:sp>
        <p:nvSpPr>
          <p:cNvPr id="7" name="Paragraph 2"/>
          <p:cNvSpPr/>
          <p:nvPr/>
        </p:nvSpPr>
        <p:spPr>
          <a:xfrm>
            <a:off x="714375" y="2905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61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It ensures that all participants in the blockchain network agree on the current state of the ledger without needing a central authority.</a:t>
            </a:r>
            <a:endParaRPr lang="en-US" sz="1261" dirty="0"/>
          </a:p>
        </p:txBody>
      </p:sp>
      <p:sp>
        <p:nvSpPr>
          <p:cNvPr id="8" name="Subtitle 3"/>
          <p:cNvSpPr/>
          <p:nvPr/>
        </p:nvSpPr>
        <p:spPr>
          <a:xfrm>
            <a:off x="714375" y="36195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Importance</a:t>
            </a:r>
            <a:endParaRPr lang="en-US" sz="1500" dirty="0"/>
          </a:p>
        </p:txBody>
      </p:sp>
      <p:sp>
        <p:nvSpPr>
          <p:cNvPr id="9" name="Paragraph 3"/>
          <p:cNvSpPr/>
          <p:nvPr/>
        </p:nvSpPr>
        <p:spPr>
          <a:xfrm>
            <a:off x="714375" y="40005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61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Vital for integrity and trust, consensus mechanisms like Proof of Work or Proof of Stake prevent fraud and double-spending.</a:t>
            </a:r>
            <a:endParaRPr lang="en-US" sz="1261" dirty="0"/>
          </a:p>
        </p:txBody>
      </p:sp>
      <p:pic>
        <p:nvPicPr>
          <p:cNvPr id="10" name="Imag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333500"/>
            <a:ext cx="2352675" cy="2352675"/>
          </a:xfrm>
          <a:prstGeom prst="rect">
            <a:avLst/>
          </a:prstGeom>
        </p:spPr>
      </p:pic>
      <p:sp>
        <p:nvSpPr>
          <p:cNvPr id="11" name="StaticPath"/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</p:sp>
      <p:sp>
        <p:nvSpPr>
          <p:cNvPr id="12" name="StaticPath"/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itle"/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Smart Contracts</a:t>
            </a:r>
            <a:endParaRPr lang="en-US" sz="1900" dirty="0"/>
          </a:p>
        </p:txBody>
      </p:sp>
      <p:sp>
        <p:nvSpPr>
          <p:cNvPr id="4" name="Subtitle 1"/>
          <p:cNvSpPr/>
          <p:nvPr/>
        </p:nvSpPr>
        <p:spPr>
          <a:xfrm>
            <a:off x="714375" y="1190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5" name="Paragraph 1"/>
          <p:cNvSpPr/>
          <p:nvPr/>
        </p:nvSpPr>
        <p:spPr>
          <a:xfrm>
            <a:off x="714375" y="1571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5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Smart contracts are self-executing programs stored on the blockchain that automatically enforce rules and execute actions when predefined conditions are met.</a:t>
            </a:r>
            <a:endParaRPr lang="en-US" sz="1305" dirty="0"/>
          </a:p>
        </p:txBody>
      </p:sp>
      <p:sp>
        <p:nvSpPr>
          <p:cNvPr id="6" name="Subtitle 2"/>
          <p:cNvSpPr/>
          <p:nvPr/>
        </p:nvSpPr>
        <p:spPr>
          <a:xfrm>
            <a:off x="714375" y="2524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Function</a:t>
            </a:r>
            <a:endParaRPr lang="en-US" sz="1500" dirty="0"/>
          </a:p>
        </p:txBody>
      </p:sp>
      <p:sp>
        <p:nvSpPr>
          <p:cNvPr id="7" name="Paragraph 2"/>
          <p:cNvSpPr/>
          <p:nvPr/>
        </p:nvSpPr>
        <p:spPr>
          <a:xfrm>
            <a:off x="714375" y="2905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5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They facilitate, verify, or enforce agreements without the need for intermediaries, reducing costs and errors.</a:t>
            </a:r>
            <a:endParaRPr lang="en-US" sz="1305" dirty="0"/>
          </a:p>
        </p:txBody>
      </p:sp>
      <p:sp>
        <p:nvSpPr>
          <p:cNvPr id="8" name="Subtitle 3"/>
          <p:cNvSpPr/>
          <p:nvPr/>
        </p:nvSpPr>
        <p:spPr>
          <a:xfrm>
            <a:off x="714375" y="36195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Importance</a:t>
            </a:r>
            <a:endParaRPr lang="en-US" sz="1500" dirty="0"/>
          </a:p>
        </p:txBody>
      </p:sp>
      <p:sp>
        <p:nvSpPr>
          <p:cNvPr id="9" name="Paragraph 3"/>
          <p:cNvSpPr/>
          <p:nvPr/>
        </p:nvSpPr>
        <p:spPr>
          <a:xfrm>
            <a:off x="714375" y="40005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5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Critical for automation and trust, smart contracts enhance the efficiency and reliability of blockchain applications.</a:t>
            </a:r>
            <a:endParaRPr lang="en-US" sz="1305" dirty="0"/>
          </a:p>
        </p:txBody>
      </p:sp>
      <p:pic>
        <p:nvPicPr>
          <p:cNvPr id="10" name="Imag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333500"/>
            <a:ext cx="2352675" cy="2352675"/>
          </a:xfrm>
          <a:prstGeom prst="rect">
            <a:avLst/>
          </a:prstGeom>
        </p:spPr>
      </p:pic>
      <p:sp>
        <p:nvSpPr>
          <p:cNvPr id="11" name="StaticPath"/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</p:sp>
      <p:sp>
        <p:nvSpPr>
          <p:cNvPr id="12" name="StaticPath"/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itle"/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Nodes</a:t>
            </a:r>
            <a:endParaRPr lang="en-US" sz="1900" dirty="0"/>
          </a:p>
        </p:txBody>
      </p:sp>
      <p:sp>
        <p:nvSpPr>
          <p:cNvPr id="4" name="Subtitle 1"/>
          <p:cNvSpPr/>
          <p:nvPr/>
        </p:nvSpPr>
        <p:spPr>
          <a:xfrm>
            <a:off x="714375" y="1190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5" name="Paragraph 1"/>
          <p:cNvSpPr/>
          <p:nvPr/>
        </p:nvSpPr>
        <p:spPr>
          <a:xfrm>
            <a:off x="714375" y="1571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99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Nodes are individual devices or computers that participate in a blockchain network, maintaining a copy of the ledger and validating transactions.</a:t>
            </a:r>
            <a:endParaRPr lang="en-US" sz="1299" dirty="0"/>
          </a:p>
        </p:txBody>
      </p:sp>
      <p:sp>
        <p:nvSpPr>
          <p:cNvPr id="6" name="Subtitle 2"/>
          <p:cNvSpPr/>
          <p:nvPr/>
        </p:nvSpPr>
        <p:spPr>
          <a:xfrm>
            <a:off x="714375" y="2524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Function</a:t>
            </a:r>
            <a:endParaRPr lang="en-US" sz="1500" dirty="0"/>
          </a:p>
        </p:txBody>
      </p:sp>
      <p:sp>
        <p:nvSpPr>
          <p:cNvPr id="7" name="Paragraph 2"/>
          <p:cNvSpPr/>
          <p:nvPr/>
        </p:nvSpPr>
        <p:spPr>
          <a:xfrm>
            <a:off x="714375" y="2905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99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They facilitate decentralized data storage and communication, playing a critical role in the network's operation and security.</a:t>
            </a:r>
            <a:endParaRPr lang="en-US" sz="1299" dirty="0"/>
          </a:p>
        </p:txBody>
      </p:sp>
      <p:sp>
        <p:nvSpPr>
          <p:cNvPr id="8" name="Subtitle 3"/>
          <p:cNvSpPr/>
          <p:nvPr/>
        </p:nvSpPr>
        <p:spPr>
          <a:xfrm>
            <a:off x="714375" y="36195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Importance</a:t>
            </a:r>
            <a:endParaRPr lang="en-US" sz="1500" dirty="0"/>
          </a:p>
        </p:txBody>
      </p:sp>
      <p:sp>
        <p:nvSpPr>
          <p:cNvPr id="9" name="Paragraph 3"/>
          <p:cNvSpPr/>
          <p:nvPr/>
        </p:nvSpPr>
        <p:spPr>
          <a:xfrm>
            <a:off x="714375" y="40005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99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Without nodes, a blockchain cannot function. They ensure transparency, security, and decentralization across the system.</a:t>
            </a:r>
            <a:endParaRPr lang="en-US" sz="1299" dirty="0"/>
          </a:p>
        </p:txBody>
      </p:sp>
      <p:pic>
        <p:nvPicPr>
          <p:cNvPr id="10" name="Imag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333500"/>
            <a:ext cx="2352675" cy="2352675"/>
          </a:xfrm>
          <a:prstGeom prst="rect">
            <a:avLst/>
          </a:prstGeom>
        </p:spPr>
      </p:pic>
      <p:sp>
        <p:nvSpPr>
          <p:cNvPr id="11" name="StaticPath"/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</p:sp>
      <p:sp>
        <p:nvSpPr>
          <p:cNvPr id="12" name="StaticPath"/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-842581" y="437150"/>
            <a:ext cx="4014788" cy="4014788"/>
          </a:xfrm>
          <a:prstGeom prst="ellipse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" name="Title"/>
          <p:cNvSpPr/>
          <p:nvPr/>
        </p:nvSpPr>
        <p:spPr>
          <a:xfrm>
            <a:off x="285417" y="2160080"/>
            <a:ext cx="3467148" cy="8233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8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Conclusion &amp; Discussion</a:t>
            </a:r>
            <a:endParaRPr lang="en-US" sz="3008" dirty="0"/>
          </a:p>
        </p:txBody>
      </p:sp>
      <p:sp>
        <p:nvSpPr>
          <p:cNvPr id="4" name="StaticPath"/>
          <p:cNvSpPr/>
          <p:nvPr/>
        </p:nvSpPr>
        <p:spPr>
          <a:xfrm>
            <a:off x="6677739" y="195072"/>
            <a:ext cx="911543" cy="911543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" name="StaticPath"/>
          <p:cNvSpPr/>
          <p:nvPr/>
        </p:nvSpPr>
        <p:spPr>
          <a:xfrm>
            <a:off x="7963376" y="4002548"/>
            <a:ext cx="677228" cy="677228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6" name="StaticPath"/>
          <p:cNvSpPr/>
          <p:nvPr/>
        </p:nvSpPr>
        <p:spPr>
          <a:xfrm>
            <a:off x="-1162717" y="-991076"/>
            <a:ext cx="2514600" cy="2514600"/>
          </a:xfrm>
          <a:prstGeom prst="ellipse">
            <a:avLst/>
          </a:prstGeom>
          <a:solidFill>
            <a:srgbClr val="000000">
              <a:alpha val="0"/>
            </a:srgbClr>
          </a:solidFill>
          <a:ln w="423333">
            <a:solidFill>
              <a:srgbClr val="FF9800"/>
            </a:solidFill>
            <a:prstDash val="solid"/>
          </a:ln>
        </p:spPr>
      </p:sp>
      <p:sp>
        <p:nvSpPr>
          <p:cNvPr id="7" name="Question topic"/>
          <p:cNvSpPr/>
          <p:nvPr/>
        </p:nvSpPr>
        <p:spPr>
          <a:xfrm>
            <a:off x="2950607" y="689991"/>
            <a:ext cx="2286000" cy="3013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91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Blockchain Fundamentals</a:t>
            </a:r>
            <a:endParaRPr lang="en-US" sz="1291" dirty="0"/>
          </a:p>
        </p:txBody>
      </p:sp>
      <p:sp>
        <p:nvSpPr>
          <p:cNvPr id="8" name="Text"/>
          <p:cNvSpPr/>
          <p:nvPr/>
        </p:nvSpPr>
        <p:spPr>
          <a:xfrm>
            <a:off x="5193649" y="2192369"/>
            <a:ext cx="2810589" cy="1431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38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A deep understanding of blockchain components helps professionals design secure, efficient, and decentralized systems, opening doors to innovation in finance, supply chains, healthcare, and more.</a:t>
            </a:r>
            <a:endParaRPr lang="en-US" sz="938" dirty="0"/>
          </a:p>
        </p:txBody>
      </p:sp>
      <p:sp>
        <p:nvSpPr>
          <p:cNvPr id="9" name="Question"/>
          <p:cNvSpPr/>
          <p:nvPr/>
        </p:nvSpPr>
        <p:spPr>
          <a:xfrm>
            <a:off x="5408343" y="1518428"/>
            <a:ext cx="2381250" cy="2583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3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Why is understanding blockchain components essential?</a:t>
            </a:r>
            <a:endParaRPr lang="en-US" sz="983" dirty="0"/>
          </a:p>
        </p:txBody>
      </p:sp>
      <p:sp>
        <p:nvSpPr>
          <p:cNvPr id="10" name="StaticPath"/>
          <p:cNvSpPr/>
          <p:nvPr/>
        </p:nvSpPr>
        <p:spPr>
          <a:xfrm>
            <a:off x="2976229" y="323231"/>
            <a:ext cx="2128838" cy="1020128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404</Words>
  <Application>Microsoft Office PowerPoint</Application>
  <PresentationFormat>On-screen Show (16:9)</PresentationFormat>
  <Paragraphs>59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OpenSans-Bold</vt:lpstr>
      <vt:lpstr>OpenSans-Regular</vt:lpstr>
      <vt:lpstr>Prompt-Bold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Hasina Shafique Alam</cp:lastModifiedBy>
  <cp:revision>1</cp:revision>
  <dcterms:created xsi:type="dcterms:W3CDTF">2025-08-06T06:28:51Z</dcterms:created>
  <dcterms:modified xsi:type="dcterms:W3CDTF">2025-08-06T06:30:53Z</dcterms:modified>
</cp:coreProperties>
</file>