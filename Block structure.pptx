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7" r:id="rId2"/>
    <p:sldId id="257" r:id="rId3"/>
    <p:sldId id="258" r:id="rId4"/>
    <p:sldId id="259" r:id="rId5"/>
    <p:sldId id="260" r:id="rId6"/>
    <p:sldId id="261" r:id="rId7"/>
    <p:sldId id="262" r:id="rId8"/>
    <p:sldId id="268" r:id="rId9"/>
    <p:sldId id="256" r:id="rId10"/>
    <p:sldId id="272" r:id="rId11"/>
    <p:sldId id="273" r:id="rId12"/>
    <p:sldId id="271" r:id="rId13"/>
    <p:sldId id="269" r:id="rId14"/>
    <p:sldId id="270" r:id="rId15"/>
    <p:sldId id="263" r:id="rId16"/>
    <p:sldId id="264" r:id="rId17"/>
    <p:sldId id="265"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8" d="100"/>
          <a:sy n="108" d="100"/>
        </p:scale>
        <p:origin x="1704"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hyperlink" Target="https://www.investopedia.com/terms/b/bitcoin.asp" TargetMode="Externa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6934" y="534788"/>
            <a:ext cx="7370131" cy="5788424"/>
          </a:xfrm>
        </p:spPr>
        <p:txBody>
          <a:bodyPr>
            <a:normAutofit fontScale="90000"/>
          </a:bodyPr>
          <a:lstStyle/>
          <a:p>
            <a:br>
              <a:rPr lang="en-US" b="1" dirty="0">
                <a:latin typeface="Times New Roman"/>
                <a:ea typeface="Calibri Light"/>
                <a:cs typeface="Calibri Light"/>
              </a:rPr>
            </a:br>
            <a:r>
              <a:rPr lang="en-US" sz="2700" b="1" dirty="0">
                <a:latin typeface="Times New Roman" panose="02020603050405020304" pitchFamily="18" charset="0"/>
                <a:ea typeface="+mj-lt"/>
                <a:cs typeface="Times New Roman" panose="02020603050405020304" pitchFamily="18" charset="0"/>
              </a:rPr>
              <a:t>D. Y. Patil College of Engineering &amp; Technology, Kolhapur.</a:t>
            </a:r>
            <a:br>
              <a:rPr lang="en-US" sz="2700" b="1" dirty="0">
                <a:latin typeface="Times New Roman" panose="02020603050405020304" pitchFamily="18" charset="0"/>
                <a:ea typeface="Calibri Light"/>
                <a:cs typeface="Times New Roman" panose="02020603050405020304" pitchFamily="18" charset="0"/>
              </a:rPr>
            </a:br>
            <a:r>
              <a:rPr lang="en-US" sz="2700" b="1" dirty="0">
                <a:latin typeface="Times New Roman" panose="02020603050405020304" pitchFamily="18" charset="0"/>
                <a:ea typeface="+mj-lt"/>
                <a:cs typeface="Times New Roman" panose="02020603050405020304" pitchFamily="18" charset="0"/>
              </a:rPr>
              <a:t>Department of Computer Science &amp; Engineering</a:t>
            </a:r>
            <a:br>
              <a:rPr lang="en-US" sz="2700" b="1" dirty="0">
                <a:latin typeface="Times New Roman" panose="02020603050405020304" pitchFamily="18" charset="0"/>
                <a:ea typeface="Calibri Light"/>
                <a:cs typeface="Times New Roman" panose="02020603050405020304" pitchFamily="18" charset="0"/>
              </a:rPr>
            </a:br>
            <a:br>
              <a:rPr lang="en-US" sz="2700" b="1" dirty="0">
                <a:latin typeface="Times New Roman" panose="02020603050405020304" pitchFamily="18" charset="0"/>
                <a:ea typeface="Calibri Light"/>
                <a:cs typeface="Times New Roman" panose="02020603050405020304" pitchFamily="18" charset="0"/>
              </a:rPr>
            </a:br>
            <a:br>
              <a:rPr lang="en-US" sz="2800" b="1" dirty="0">
                <a:latin typeface="Calibri Light"/>
                <a:ea typeface="Calibri Light"/>
                <a:cs typeface="Calibri Light"/>
              </a:rPr>
            </a:br>
            <a:br>
              <a:rPr lang="en-US" sz="2800" b="1" dirty="0">
                <a:latin typeface="Times New Roman"/>
                <a:ea typeface="Calibri Light"/>
                <a:cs typeface="Calibri Light"/>
              </a:rPr>
            </a:br>
            <a:r>
              <a:rPr lang="en-US" sz="2700" b="1" dirty="0">
                <a:latin typeface="Times New Roman"/>
                <a:ea typeface="Calibri Light"/>
                <a:cs typeface="Calibri Light"/>
              </a:rPr>
              <a:t>Elective-III (Block Chain Technology)</a:t>
            </a:r>
            <a:br>
              <a:rPr lang="en-US" sz="2700" b="1" dirty="0">
                <a:latin typeface="Times New Roman"/>
                <a:ea typeface="Calibri Light"/>
                <a:cs typeface="Calibri Light"/>
              </a:rPr>
            </a:br>
            <a:r>
              <a:rPr lang="en-US" sz="2000" dirty="0">
                <a:latin typeface="Times New Roman" panose="02020603050405020304" pitchFamily="18" charset="0"/>
                <a:ea typeface="Calibri Light"/>
                <a:cs typeface="Times New Roman" panose="02020603050405020304" pitchFamily="18" charset="0"/>
              </a:rPr>
              <a:t>Topic-</a:t>
            </a:r>
            <a:r>
              <a:rPr lang="en-IN" sz="2000" dirty="0">
                <a:latin typeface="Times New Roman" panose="02020603050405020304" pitchFamily="18" charset="0"/>
                <a:cs typeface="Times New Roman" panose="02020603050405020304" pitchFamily="18" charset="0"/>
              </a:rPr>
              <a:t>Block Structure in Blockchain</a:t>
            </a:r>
            <a:br>
              <a:rPr lang="en-US" sz="2800" b="1" dirty="0">
                <a:latin typeface="Times New Roman"/>
                <a:ea typeface="Calibri Light"/>
                <a:cs typeface="Calibri Light"/>
              </a:rPr>
            </a:br>
            <a:br>
              <a:rPr lang="en-US" sz="2800" b="1" dirty="0">
                <a:latin typeface="Times New Roman"/>
                <a:ea typeface="+mj-lt"/>
                <a:cs typeface="+mj-lt"/>
              </a:rPr>
            </a:br>
            <a:br>
              <a:rPr lang="en-US" sz="2800" b="1" dirty="0">
                <a:latin typeface="Times New Roman"/>
                <a:ea typeface="+mj-lt"/>
                <a:cs typeface="+mj-lt"/>
              </a:rPr>
            </a:br>
            <a:br>
              <a:rPr lang="en-US" sz="2800" b="1" dirty="0">
                <a:latin typeface="Times New Roman"/>
                <a:ea typeface="+mj-lt"/>
                <a:cs typeface="+mj-lt"/>
              </a:rPr>
            </a:br>
            <a:r>
              <a:rPr lang="en-US" sz="2200" b="1" dirty="0" err="1">
                <a:latin typeface="Times New Roman"/>
                <a:ea typeface="+mj-lt"/>
                <a:cs typeface="+mj-lt"/>
              </a:rPr>
              <a:t>Mrs.N.N.Patil</a:t>
            </a:r>
            <a:r>
              <a:rPr lang="en-US" sz="2200" b="1" dirty="0">
                <a:latin typeface="Times New Roman"/>
                <a:ea typeface="+mj-lt"/>
                <a:cs typeface="+mj-lt"/>
              </a:rPr>
              <a:t>(CSE)</a:t>
            </a:r>
            <a:br>
              <a:rPr lang="en-US" sz="2800" b="1" dirty="0">
                <a:latin typeface="Times New Roman"/>
                <a:ea typeface="+mj-lt"/>
                <a:cs typeface="+mj-lt"/>
              </a:rPr>
            </a:br>
            <a:r>
              <a:rPr lang="en-US" sz="1800" b="1" dirty="0">
                <a:latin typeface="Calibri Light"/>
                <a:ea typeface="Calibri Light"/>
                <a:cs typeface="Calibri Light"/>
              </a:rPr>
              <a:t>Academic Year 2025_26</a:t>
            </a:r>
            <a:endParaRPr lang="en-US" sz="1800" dirty="0">
              <a:ea typeface="Calibri Light"/>
              <a:cs typeface="Calibri Light"/>
            </a:endParaRPr>
          </a:p>
        </p:txBody>
      </p:sp>
      <p:sp>
        <p:nvSpPr>
          <p:cNvPr id="4" name="Slide Number Placeholder 3">
            <a:extLst>
              <a:ext uri="{FF2B5EF4-FFF2-40B4-BE49-F238E27FC236}">
                <a16:creationId xmlns:a16="http://schemas.microsoft.com/office/drawing/2014/main" id="{C49D9F3E-D057-820E-76A1-B9403A97E20D}"/>
              </a:ext>
            </a:extLst>
          </p:cNvPr>
          <p:cNvSpPr>
            <a:spLocks noGrp="1"/>
          </p:cNvSpPr>
          <p:nvPr>
            <p:ph type="sldNum" sz="quarter" idx="12"/>
          </p:nvPr>
        </p:nvSpPr>
        <p:spPr/>
        <p:txBody>
          <a:bodyPr/>
          <a:lstStyle/>
          <a:p>
            <a:fld id="{330EA680-D336-4FF7-8B7A-9848BB0A1C32}" type="slidenum">
              <a:rPr lang="en-US" smtClean="0"/>
              <a:t>1</a:t>
            </a:fld>
            <a:endParaRPr lang="en-US"/>
          </a:p>
        </p:txBody>
      </p:sp>
      <p:sp>
        <p:nvSpPr>
          <p:cNvPr id="3" name="Date Placeholder 2"/>
          <p:cNvSpPr>
            <a:spLocks noGrp="1"/>
          </p:cNvSpPr>
          <p:nvPr>
            <p:ph type="dt" sz="half" idx="10"/>
          </p:nvPr>
        </p:nvSpPr>
        <p:spPr/>
        <p:txBody>
          <a:bodyPr/>
          <a:lstStyle/>
          <a:p>
            <a:fld id="{2C3AEBC7-DD8E-4275-BF8B-8C58F40C67CB}" type="datetime1">
              <a:rPr lang="en-IN" smtClean="0"/>
              <a:t>04-08-2025</a:t>
            </a:fld>
            <a:endParaRPr lang="en-IN"/>
          </a:p>
        </p:txBody>
      </p:sp>
    </p:spTree>
    <p:extLst>
      <p:ext uri="{BB962C8B-B14F-4D97-AF65-F5344CB8AC3E}">
        <p14:creationId xmlns:p14="http://schemas.microsoft.com/office/powerpoint/2010/main" val="27632413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200" b="1" dirty="0">
                <a:latin typeface="Times New Roman" panose="02020603050405020304" pitchFamily="18" charset="0"/>
                <a:cs typeface="Times New Roman" panose="02020603050405020304" pitchFamily="18" charset="0"/>
              </a:rPr>
              <a:t>Introduction to Blockchain</a:t>
            </a:r>
          </a:p>
        </p:txBody>
      </p:sp>
      <p:sp>
        <p:nvSpPr>
          <p:cNvPr id="3" name="Content Placeholder 2"/>
          <p:cNvSpPr>
            <a:spLocks noGrp="1"/>
          </p:cNvSpPr>
          <p:nvPr>
            <p:ph idx="1"/>
          </p:nvPr>
        </p:nvSpPr>
        <p:spPr/>
        <p:txBody>
          <a:bodyPr/>
          <a:lstStyle/>
          <a:p>
            <a:pPr>
              <a:lnSpc>
                <a:spcPct val="200000"/>
              </a:lnSpc>
            </a:pPr>
            <a:r>
              <a:rPr sz="2000" dirty="0">
                <a:latin typeface="Times New Roman" panose="02020603050405020304" pitchFamily="18" charset="0"/>
                <a:cs typeface="Times New Roman" panose="02020603050405020304" pitchFamily="18" charset="0"/>
              </a:rPr>
              <a:t>Distributed, decentralized ledger</a:t>
            </a:r>
          </a:p>
          <a:p>
            <a:pPr>
              <a:lnSpc>
                <a:spcPct val="200000"/>
              </a:lnSpc>
            </a:pPr>
            <a:r>
              <a:rPr sz="2000" dirty="0">
                <a:latin typeface="Times New Roman" panose="02020603050405020304" pitchFamily="18" charset="0"/>
                <a:cs typeface="Times New Roman" panose="02020603050405020304" pitchFamily="18" charset="0"/>
              </a:rPr>
              <a:t>Information stored in blocks</a:t>
            </a:r>
          </a:p>
          <a:p>
            <a:pPr>
              <a:lnSpc>
                <a:spcPct val="200000"/>
              </a:lnSpc>
            </a:pPr>
            <a:r>
              <a:rPr sz="2000" dirty="0">
                <a:latin typeface="Times New Roman" panose="02020603050405020304" pitchFamily="18" charset="0"/>
                <a:cs typeface="Times New Roman" panose="02020603050405020304" pitchFamily="18" charset="0"/>
              </a:rPr>
              <a:t>Secured by cryptographic hashes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200" b="1" dirty="0">
                <a:latin typeface="Times New Roman" panose="02020603050405020304" pitchFamily="18" charset="0"/>
                <a:cs typeface="Times New Roman" panose="02020603050405020304" pitchFamily="18" charset="0"/>
              </a:rPr>
              <a:t>What is a Block?</a:t>
            </a:r>
          </a:p>
        </p:txBody>
      </p:sp>
      <p:sp>
        <p:nvSpPr>
          <p:cNvPr id="3" name="Content Placeholder 2"/>
          <p:cNvSpPr>
            <a:spLocks noGrp="1"/>
          </p:cNvSpPr>
          <p:nvPr>
            <p:ph idx="1"/>
          </p:nvPr>
        </p:nvSpPr>
        <p:spPr/>
        <p:txBody>
          <a:bodyPr>
            <a:normAutofit/>
          </a:bodyPr>
          <a:lstStyle/>
          <a:p>
            <a:pPr>
              <a:lnSpc>
                <a:spcPct val="150000"/>
              </a:lnSpc>
            </a:pPr>
            <a:r>
              <a:rPr sz="2000" dirty="0">
                <a:latin typeface="Times New Roman" panose="02020603050405020304" pitchFamily="18" charset="0"/>
                <a:cs typeface="Times New Roman" panose="02020603050405020304" pitchFamily="18" charset="0"/>
              </a:rPr>
              <a:t>Unit of data storage</a:t>
            </a:r>
          </a:p>
          <a:p>
            <a:pPr>
              <a:lnSpc>
                <a:spcPct val="150000"/>
              </a:lnSpc>
            </a:pPr>
            <a:r>
              <a:rPr sz="2000" dirty="0">
                <a:latin typeface="Times New Roman" panose="02020603050405020304" pitchFamily="18" charset="0"/>
                <a:cs typeface="Times New Roman" panose="02020603050405020304" pitchFamily="18" charset="0"/>
              </a:rPr>
              <a:t>Contains transaction info and metadata</a:t>
            </a:r>
          </a:p>
          <a:p>
            <a:pPr lvl="0">
              <a:lnSpc>
                <a:spcPct val="150000"/>
              </a:lnSpc>
            </a:pPr>
            <a:r>
              <a:rPr lang="en-US" sz="2000" dirty="0">
                <a:latin typeface="Times New Roman" panose="02020603050405020304" pitchFamily="18" charset="0"/>
                <a:cs typeface="Times New Roman" panose="02020603050405020304" pitchFamily="18" charset="0"/>
              </a:rPr>
              <a:t>A block is a container for storing multiple transactions.</a:t>
            </a:r>
            <a:endParaRPr lang="en-IN" sz="2000" dirty="0">
              <a:latin typeface="Times New Roman" panose="02020603050405020304" pitchFamily="18" charset="0"/>
              <a:cs typeface="Times New Roman" panose="02020603050405020304" pitchFamily="18" charset="0"/>
            </a:endParaRPr>
          </a:p>
          <a:p>
            <a:pPr lvl="0">
              <a:lnSpc>
                <a:spcPct val="150000"/>
              </a:lnSpc>
            </a:pPr>
            <a:r>
              <a:rPr lang="en-US" sz="2000" dirty="0">
                <a:latin typeface="Times New Roman" panose="02020603050405020304" pitchFamily="18" charset="0"/>
                <a:cs typeface="Times New Roman" panose="02020603050405020304" pitchFamily="18" charset="0"/>
              </a:rPr>
              <a:t>Blocks are linked together to form a chain, ensuring data integrity.</a:t>
            </a:r>
            <a:endParaRPr lang="en-IN" sz="2000" dirty="0">
              <a:latin typeface="Times New Roman" panose="02020603050405020304" pitchFamily="18" charset="0"/>
              <a:cs typeface="Times New Roman" panose="02020603050405020304" pitchFamily="18" charset="0"/>
            </a:endParaRPr>
          </a:p>
          <a:p>
            <a:pPr>
              <a:lnSpc>
                <a:spcPct val="150000"/>
              </a:lnSpc>
            </a:pPr>
            <a:r>
              <a:rPr lang="en-US" sz="2000" dirty="0">
                <a:latin typeface="Times New Roman" panose="02020603050405020304" pitchFamily="18" charset="0"/>
                <a:cs typeface="Times New Roman" panose="02020603050405020304" pitchFamily="18" charset="0"/>
              </a:rPr>
              <a:t>Each block contains transaction data and metadata</a:t>
            </a:r>
          </a:p>
          <a:p>
            <a:pPr>
              <a:lnSpc>
                <a:spcPct val="150000"/>
              </a:lnSpc>
            </a:pPr>
            <a:r>
              <a:rPr lang="en-US" sz="2000" dirty="0">
                <a:latin typeface="Times New Roman" panose="02020603050405020304" pitchFamily="18" charset="0"/>
                <a:cs typeface="Times New Roman" panose="02020603050405020304" pitchFamily="18" charset="0"/>
              </a:rPr>
              <a:t>Linked to previous block using hash</a:t>
            </a:r>
          </a:p>
          <a:p>
            <a:pPr marL="0" indent="0">
              <a:lnSpc>
                <a:spcPct val="150000"/>
              </a:lnSpc>
              <a:buNone/>
            </a:pPr>
            <a:endParaRPr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200" b="1" dirty="0">
                <a:latin typeface="Times New Roman" panose="02020603050405020304" pitchFamily="18" charset="0"/>
                <a:cs typeface="Times New Roman" panose="02020603050405020304" pitchFamily="18" charset="0"/>
              </a:rPr>
              <a:t>Block Structure Overview</a:t>
            </a:r>
          </a:p>
        </p:txBody>
      </p:sp>
      <p:sp>
        <p:nvSpPr>
          <p:cNvPr id="3" name="Content Placeholder 2"/>
          <p:cNvSpPr>
            <a:spLocks noGrp="1"/>
          </p:cNvSpPr>
          <p:nvPr>
            <p:ph idx="1"/>
          </p:nvPr>
        </p:nvSpPr>
        <p:spPr/>
        <p:txBody>
          <a:bodyPr>
            <a:normAutofit/>
          </a:bodyPr>
          <a:lstStyle/>
          <a:p>
            <a:pPr>
              <a:lnSpc>
                <a:spcPct val="200000"/>
              </a:lnSpc>
            </a:pPr>
            <a:r>
              <a:rPr sz="2400" dirty="0">
                <a:latin typeface="Times New Roman" panose="02020603050405020304" pitchFamily="18" charset="0"/>
                <a:cs typeface="Times New Roman" panose="02020603050405020304" pitchFamily="18" charset="0"/>
              </a:rPr>
              <a:t>Block Header</a:t>
            </a:r>
          </a:p>
          <a:p>
            <a:pPr>
              <a:lnSpc>
                <a:spcPct val="200000"/>
              </a:lnSpc>
            </a:pPr>
            <a:r>
              <a:rPr sz="2400" dirty="0">
                <a:latin typeface="Times New Roman" panose="02020603050405020304" pitchFamily="18" charset="0"/>
                <a:cs typeface="Times New Roman" panose="02020603050405020304" pitchFamily="18" charset="0"/>
              </a:rPr>
              <a:t>Transaction List</a:t>
            </a:r>
          </a:p>
          <a:p>
            <a:pPr>
              <a:lnSpc>
                <a:spcPct val="200000"/>
              </a:lnSpc>
            </a:pPr>
            <a:r>
              <a:rPr sz="2400" dirty="0">
                <a:latin typeface="Times New Roman" panose="02020603050405020304" pitchFamily="18" charset="0"/>
                <a:cs typeface="Times New Roman" panose="02020603050405020304" pitchFamily="18" charset="0"/>
              </a:rPr>
              <a:t>Metadata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200" b="1" dirty="0">
                <a:latin typeface="Times New Roman" panose="02020603050405020304" pitchFamily="18" charset="0"/>
                <a:cs typeface="Times New Roman" panose="02020603050405020304" pitchFamily="18" charset="0"/>
              </a:rPr>
              <a:t>Components of a Block</a:t>
            </a:r>
          </a:p>
        </p:txBody>
      </p:sp>
      <p:sp>
        <p:nvSpPr>
          <p:cNvPr id="3" name="Content Placeholder 2"/>
          <p:cNvSpPr>
            <a:spLocks noGrp="1"/>
          </p:cNvSpPr>
          <p:nvPr>
            <p:ph idx="1"/>
          </p:nvPr>
        </p:nvSpPr>
        <p:spPr/>
        <p:txBody>
          <a:bodyPr>
            <a:normAutofit/>
          </a:bodyPr>
          <a:lstStyle/>
          <a:p>
            <a:r>
              <a:rPr sz="1800" dirty="0">
                <a:latin typeface="Times New Roman" panose="02020603050405020304" pitchFamily="18" charset="0"/>
                <a:cs typeface="Times New Roman" panose="02020603050405020304" pitchFamily="18" charset="0"/>
              </a:rPr>
              <a:t>**Block Header:**</a:t>
            </a:r>
          </a:p>
          <a:p>
            <a:r>
              <a:rPr sz="1800" dirty="0">
                <a:latin typeface="Times New Roman" panose="02020603050405020304" pitchFamily="18" charset="0"/>
                <a:cs typeface="Times New Roman" panose="02020603050405020304" pitchFamily="18" charset="0"/>
              </a:rPr>
              <a:t>- Version</a:t>
            </a:r>
          </a:p>
          <a:p>
            <a:r>
              <a:rPr sz="1800" dirty="0">
                <a:latin typeface="Times New Roman" panose="02020603050405020304" pitchFamily="18" charset="0"/>
                <a:cs typeface="Times New Roman" panose="02020603050405020304" pitchFamily="18" charset="0"/>
              </a:rPr>
              <a:t>- Timestamp</a:t>
            </a:r>
          </a:p>
          <a:p>
            <a:r>
              <a:rPr sz="1800" dirty="0">
                <a:latin typeface="Times New Roman" panose="02020603050405020304" pitchFamily="18" charset="0"/>
                <a:cs typeface="Times New Roman" panose="02020603050405020304" pitchFamily="18" charset="0"/>
              </a:rPr>
              <a:t>- Previous Block Hash</a:t>
            </a:r>
          </a:p>
          <a:p>
            <a:r>
              <a:rPr sz="1800" dirty="0">
                <a:latin typeface="Times New Roman" panose="02020603050405020304" pitchFamily="18" charset="0"/>
                <a:cs typeface="Times New Roman" panose="02020603050405020304" pitchFamily="18" charset="0"/>
              </a:rPr>
              <a:t>- Merkle Root</a:t>
            </a:r>
          </a:p>
          <a:p>
            <a:r>
              <a:rPr sz="1800" dirty="0">
                <a:latin typeface="Times New Roman" panose="02020603050405020304" pitchFamily="18" charset="0"/>
                <a:cs typeface="Times New Roman" panose="02020603050405020304" pitchFamily="18" charset="0"/>
              </a:rPr>
              <a:t>- Nonce</a:t>
            </a:r>
          </a:p>
          <a:p>
            <a:r>
              <a:rPr sz="1800" dirty="0">
                <a:latin typeface="Times New Roman" panose="02020603050405020304" pitchFamily="18" charset="0"/>
                <a:cs typeface="Times New Roman" panose="02020603050405020304" pitchFamily="18" charset="0"/>
              </a:rPr>
              <a:t>- Difficulty Target</a:t>
            </a:r>
          </a:p>
          <a:p>
            <a:endParaRPr sz="1800" dirty="0">
              <a:latin typeface="Times New Roman" panose="02020603050405020304" pitchFamily="18" charset="0"/>
              <a:cs typeface="Times New Roman" panose="02020603050405020304" pitchFamily="18" charset="0"/>
            </a:endParaRPr>
          </a:p>
          <a:p>
            <a:r>
              <a:rPr sz="1800" dirty="0">
                <a:latin typeface="Times New Roman" panose="02020603050405020304" pitchFamily="18" charset="0"/>
                <a:cs typeface="Times New Roman" panose="02020603050405020304" pitchFamily="18" charset="0"/>
              </a:rPr>
              <a:t>**Block Body:**</a:t>
            </a:r>
          </a:p>
          <a:p>
            <a:r>
              <a:rPr sz="1800" dirty="0">
                <a:latin typeface="Times New Roman" panose="02020603050405020304" pitchFamily="18" charset="0"/>
                <a:cs typeface="Times New Roman" panose="02020603050405020304" pitchFamily="18" charset="0"/>
              </a:rPr>
              <a:t>- List of validated transactions</a:t>
            </a:r>
          </a:p>
        </p:txBody>
      </p:sp>
      <p:pic>
        <p:nvPicPr>
          <p:cNvPr id="1026" name="Picture 2" descr="Diagram illustrating blockchain block structure and block chaining">
            <a:extLst>
              <a:ext uri="{FF2B5EF4-FFF2-40B4-BE49-F238E27FC236}">
                <a16:creationId xmlns:a16="http://schemas.microsoft.com/office/drawing/2014/main" id="{6B947401-D6D4-8712-6C7E-FF0D5A9CBD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69527" y="1600200"/>
            <a:ext cx="3917273" cy="391727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200" dirty="0">
                <a:latin typeface="Times New Roman" panose="02020603050405020304" pitchFamily="18" charset="0"/>
                <a:cs typeface="Times New Roman" panose="02020603050405020304" pitchFamily="18" charset="0"/>
              </a:rPr>
              <a:t>Block Header in Detail</a:t>
            </a:r>
          </a:p>
        </p:txBody>
      </p:sp>
      <p:sp>
        <p:nvSpPr>
          <p:cNvPr id="3" name="Content Placeholder 2"/>
          <p:cNvSpPr>
            <a:spLocks noGrp="1"/>
          </p:cNvSpPr>
          <p:nvPr>
            <p:ph idx="1"/>
          </p:nvPr>
        </p:nvSpPr>
        <p:spPr/>
        <p:txBody>
          <a:bodyPr/>
          <a:lstStyle/>
          <a:p>
            <a:pPr>
              <a:lnSpc>
                <a:spcPct val="150000"/>
              </a:lnSpc>
            </a:pPr>
            <a:r>
              <a:rPr sz="2000" dirty="0">
                <a:latin typeface="Times New Roman" panose="02020603050405020304" pitchFamily="18" charset="0"/>
                <a:cs typeface="Times New Roman" panose="02020603050405020304" pitchFamily="18" charset="0"/>
              </a:rPr>
              <a:t>Version: Blockchain software version</a:t>
            </a:r>
          </a:p>
          <a:p>
            <a:pPr>
              <a:lnSpc>
                <a:spcPct val="150000"/>
              </a:lnSpc>
            </a:pPr>
            <a:r>
              <a:rPr sz="2000" dirty="0">
                <a:latin typeface="Times New Roman" panose="02020603050405020304" pitchFamily="18" charset="0"/>
                <a:cs typeface="Times New Roman" panose="02020603050405020304" pitchFamily="18" charset="0"/>
              </a:rPr>
              <a:t>Previous Hash: Links to previous block</a:t>
            </a:r>
          </a:p>
          <a:p>
            <a:pPr>
              <a:lnSpc>
                <a:spcPct val="150000"/>
              </a:lnSpc>
            </a:pPr>
            <a:r>
              <a:rPr sz="2000" dirty="0">
                <a:latin typeface="Times New Roman" panose="02020603050405020304" pitchFamily="18" charset="0"/>
                <a:cs typeface="Times New Roman" panose="02020603050405020304" pitchFamily="18" charset="0"/>
              </a:rPr>
              <a:t>Merkle Root: Summary of all transactions</a:t>
            </a:r>
          </a:p>
          <a:p>
            <a:pPr>
              <a:lnSpc>
                <a:spcPct val="150000"/>
              </a:lnSpc>
            </a:pPr>
            <a:r>
              <a:rPr sz="2000" dirty="0">
                <a:latin typeface="Times New Roman" panose="02020603050405020304" pitchFamily="18" charset="0"/>
                <a:cs typeface="Times New Roman" panose="02020603050405020304" pitchFamily="18" charset="0"/>
              </a:rPr>
              <a:t>Timestamp: Time of creation</a:t>
            </a:r>
          </a:p>
          <a:p>
            <a:pPr>
              <a:lnSpc>
                <a:spcPct val="150000"/>
              </a:lnSpc>
            </a:pPr>
            <a:r>
              <a:rPr sz="2000" dirty="0">
                <a:latin typeface="Times New Roman" panose="02020603050405020304" pitchFamily="18" charset="0"/>
                <a:cs typeface="Times New Roman" panose="02020603050405020304" pitchFamily="18" charset="0"/>
              </a:rPr>
              <a:t>Nonce: </a:t>
            </a:r>
            <a:r>
              <a:rPr lang="en-US" sz="2000" dirty="0"/>
              <a:t>Arbitrary number used in mining to find valid hash</a:t>
            </a:r>
            <a:endParaRPr sz="2000" dirty="0">
              <a:latin typeface="Times New Roman" panose="02020603050405020304" pitchFamily="18" charset="0"/>
              <a:cs typeface="Times New Roman" panose="02020603050405020304" pitchFamily="18" charset="0"/>
            </a:endParaRPr>
          </a:p>
          <a:p>
            <a:pPr>
              <a:lnSpc>
                <a:spcPct val="150000"/>
              </a:lnSpc>
            </a:pPr>
            <a:r>
              <a:rPr sz="2000" dirty="0">
                <a:latin typeface="Times New Roman" panose="02020603050405020304" pitchFamily="18" charset="0"/>
                <a:cs typeface="Times New Roman" panose="02020603050405020304" pitchFamily="18" charset="0"/>
              </a:rPr>
              <a:t>Difficulty Target: Mining difficulty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sz="3200" b="1" dirty="0">
                <a:latin typeface="Times New Roman" panose="02020603050405020304" pitchFamily="18" charset="0"/>
                <a:cs typeface="Times New Roman" panose="02020603050405020304" pitchFamily="18" charset="0"/>
              </a:rPr>
              <a:t>Transaction List (Block Body)</a:t>
            </a:r>
          </a:p>
        </p:txBody>
      </p:sp>
      <p:sp>
        <p:nvSpPr>
          <p:cNvPr id="3" name="Content Placeholder 2"/>
          <p:cNvSpPr>
            <a:spLocks noGrp="1"/>
          </p:cNvSpPr>
          <p:nvPr>
            <p:ph idx="1"/>
          </p:nvPr>
        </p:nvSpPr>
        <p:spPr/>
        <p:txBody>
          <a:bodyPr/>
          <a:lstStyle/>
          <a:p>
            <a:pPr>
              <a:lnSpc>
                <a:spcPct val="200000"/>
              </a:lnSpc>
            </a:pPr>
            <a:r>
              <a:rPr sz="2000" dirty="0">
                <a:latin typeface="Times New Roman" panose="02020603050405020304" pitchFamily="18" charset="0"/>
                <a:cs typeface="Times New Roman" panose="02020603050405020304" pitchFamily="18" charset="0"/>
              </a:rPr>
              <a:t>All verified transactions</a:t>
            </a:r>
          </a:p>
          <a:p>
            <a:pPr>
              <a:lnSpc>
                <a:spcPct val="200000"/>
              </a:lnSpc>
            </a:pPr>
            <a:r>
              <a:rPr sz="2000" dirty="0">
                <a:latin typeface="Times New Roman" panose="02020603050405020304" pitchFamily="18" charset="0"/>
                <a:cs typeface="Times New Roman" panose="02020603050405020304" pitchFamily="18" charset="0"/>
              </a:rPr>
              <a:t>Includes sender, receiver, amount, signature</a:t>
            </a:r>
          </a:p>
          <a:p>
            <a:pPr>
              <a:lnSpc>
                <a:spcPct val="200000"/>
              </a:lnSpc>
            </a:pPr>
            <a:r>
              <a:rPr sz="2000" dirty="0">
                <a:latin typeface="Times New Roman" panose="02020603050405020304" pitchFamily="18" charset="0"/>
                <a:cs typeface="Times New Roman" panose="02020603050405020304" pitchFamily="18" charset="0"/>
              </a:rPr>
              <a:t>Validated before inclusion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445CB-CD7D-F311-DD31-DC2D238D0F5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304C3DA-6EF5-CA98-B8D1-BEBE8C419F66}"/>
              </a:ext>
            </a:extLst>
          </p:cNvPr>
          <p:cNvSpPr>
            <a:spLocks noGrp="1"/>
          </p:cNvSpPr>
          <p:nvPr>
            <p:ph idx="1"/>
          </p:nvPr>
        </p:nvSpPr>
        <p:spPr/>
        <p:txBody>
          <a:bodyPr/>
          <a:lstStyle/>
          <a:p>
            <a:pPr>
              <a:lnSpc>
                <a:spcPct val="150000"/>
              </a:lnSpc>
            </a:pPr>
            <a:r>
              <a:rPr lang="en-US" sz="2000" b="1" dirty="0">
                <a:latin typeface="Times New Roman" panose="02020603050405020304" pitchFamily="18" charset="0"/>
                <a:cs typeface="Times New Roman" panose="02020603050405020304" pitchFamily="18" charset="0"/>
              </a:rPr>
              <a:t>Bitcoin Block Structure</a:t>
            </a:r>
            <a:endParaRPr lang="en-IN" sz="2000" dirty="0">
              <a:latin typeface="Times New Roman" panose="02020603050405020304" pitchFamily="18" charset="0"/>
              <a:cs typeface="Times New Roman" panose="02020603050405020304" pitchFamily="18" charset="0"/>
            </a:endParaRPr>
          </a:p>
          <a:p>
            <a:pPr lvl="0">
              <a:lnSpc>
                <a:spcPct val="150000"/>
              </a:lnSpc>
            </a:pPr>
            <a:r>
              <a:rPr lang="en-US" sz="2000" dirty="0">
                <a:latin typeface="Times New Roman" panose="02020603050405020304" pitchFamily="18" charset="0"/>
                <a:cs typeface="Times New Roman" panose="02020603050405020304" pitchFamily="18" charset="0"/>
              </a:rPr>
              <a:t>Header: Version, Previous Hash, Merkle Root, Timestamp, Difficulty, Nonce.</a:t>
            </a:r>
            <a:endParaRPr lang="en-IN" sz="2000" dirty="0">
              <a:latin typeface="Times New Roman" panose="02020603050405020304" pitchFamily="18" charset="0"/>
              <a:cs typeface="Times New Roman" panose="02020603050405020304" pitchFamily="18" charset="0"/>
            </a:endParaRPr>
          </a:p>
          <a:p>
            <a:pPr lvl="0">
              <a:lnSpc>
                <a:spcPct val="150000"/>
              </a:lnSpc>
            </a:pPr>
            <a:r>
              <a:rPr lang="en-US" sz="2000" dirty="0">
                <a:latin typeface="Times New Roman" panose="02020603050405020304" pitchFamily="18" charset="0"/>
                <a:cs typeface="Times New Roman" panose="02020603050405020304" pitchFamily="18" charset="0"/>
              </a:rPr>
              <a:t>Body: List of validated transactions.</a:t>
            </a:r>
            <a:endParaRPr lang="en-IN" sz="20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69516721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84744" y="450177"/>
            <a:ext cx="6378526" cy="587777"/>
          </a:xfrm>
        </p:spPr>
        <p:txBody>
          <a:bodyPr>
            <a:noAutofit/>
          </a:bodyPr>
          <a:lstStyle/>
          <a:p>
            <a:pPr algn="l"/>
            <a:r>
              <a:rPr lang="en-IN" sz="3200" b="1" dirty="0">
                <a:latin typeface="Times New Roman" panose="02020603050405020304" pitchFamily="18" charset="0"/>
                <a:cs typeface="Times New Roman" panose="02020603050405020304" pitchFamily="18" charset="0"/>
              </a:rPr>
              <a:t>Difficulty level in Blockchain</a:t>
            </a:r>
          </a:p>
        </p:txBody>
      </p:sp>
      <p:sp>
        <p:nvSpPr>
          <p:cNvPr id="3" name="Subtitle 2"/>
          <p:cNvSpPr>
            <a:spLocks noGrp="1"/>
          </p:cNvSpPr>
          <p:nvPr>
            <p:ph type="subTitle" idx="1"/>
          </p:nvPr>
        </p:nvSpPr>
        <p:spPr>
          <a:xfrm>
            <a:off x="359626" y="1518082"/>
            <a:ext cx="8614318" cy="4215039"/>
          </a:xfrm>
        </p:spPr>
        <p:txBody>
          <a:bodyPr>
            <a:normAutofit fontScale="92500"/>
          </a:bodyPr>
          <a:lstStyle/>
          <a:p>
            <a:pPr marL="257175" indent="-257175" algn="l">
              <a:buFont typeface="Arial" panose="020B0604020202020204" pitchFamily="34" charset="0"/>
              <a:buChar char="•"/>
            </a:pPr>
            <a:r>
              <a:rPr lang="en-US" sz="2100" dirty="0">
                <a:solidFill>
                  <a:schemeClr val="tx1"/>
                </a:solidFill>
                <a:latin typeface="Times New Roman" panose="02020603050405020304" pitchFamily="18" charset="0"/>
                <a:cs typeface="Times New Roman" panose="02020603050405020304" pitchFamily="18" charset="0"/>
              </a:rPr>
              <a:t>The difficulty is a measure of how difficult it is to mine a Bitcoin block, or in more technical terms, to find a hash below a given target.</a:t>
            </a:r>
          </a:p>
          <a:p>
            <a:pPr marL="257175" indent="-257175" algn="l">
              <a:buFont typeface="Arial" panose="020B0604020202020204" pitchFamily="34" charset="0"/>
              <a:buChar char="•"/>
            </a:pPr>
            <a:r>
              <a:rPr lang="en-US" sz="2100" dirty="0">
                <a:solidFill>
                  <a:schemeClr val="tx1"/>
                </a:solidFill>
                <a:latin typeface="Times New Roman" panose="02020603050405020304" pitchFamily="18" charset="0"/>
                <a:cs typeface="Times New Roman" panose="02020603050405020304" pitchFamily="18" charset="0"/>
              </a:rPr>
              <a:t> A high difficulty means that it will take more computing power to mine the same number of blocks, making the network more secure against attacks.</a:t>
            </a:r>
          </a:p>
          <a:p>
            <a:pPr marL="257175" indent="-257175" algn="l">
              <a:buFont typeface="Arial" panose="020B0604020202020204" pitchFamily="34" charset="0"/>
              <a:buChar char="•"/>
            </a:pPr>
            <a:r>
              <a:rPr lang="en-US" sz="2100" dirty="0">
                <a:solidFill>
                  <a:schemeClr val="tx1"/>
                </a:solidFill>
                <a:latin typeface="Times New Roman" panose="02020603050405020304" pitchFamily="18" charset="0"/>
                <a:cs typeface="Times New Roman" panose="02020603050405020304" pitchFamily="18" charset="0"/>
              </a:rPr>
              <a:t>Cryptocurrency difficulty is a parameter that </a:t>
            </a:r>
            <a:r>
              <a:rPr lang="en-US" sz="2100" u="sng" dirty="0">
                <a:solidFill>
                  <a:schemeClr val="tx1"/>
                </a:solidFill>
                <a:latin typeface="Times New Roman" panose="02020603050405020304" pitchFamily="18" charset="0"/>
                <a:cs typeface="Times New Roman" panose="02020603050405020304" pitchFamily="18" charset="0"/>
                <a:hlinkClick r:id="rId2">
                  <a:extLst>
                    <a:ext uri="{A12FA001-AC4F-418D-AE19-62706E023703}">
                      <ahyp:hlinkClr xmlns:ahyp="http://schemas.microsoft.com/office/drawing/2018/hyperlinkcolor" val="tx"/>
                    </a:ext>
                  </a:extLst>
                </a:hlinkClick>
              </a:rPr>
              <a:t>bitcoin</a:t>
            </a:r>
            <a:r>
              <a:rPr lang="en-US" sz="2100" dirty="0">
                <a:solidFill>
                  <a:schemeClr val="tx1"/>
                </a:solidFill>
                <a:latin typeface="Times New Roman" panose="02020603050405020304" pitchFamily="18" charset="0"/>
                <a:cs typeface="Times New Roman" panose="02020603050405020304" pitchFamily="18" charset="0"/>
              </a:rPr>
              <a:t> and other cryptocurrencies use to keep the average time between blocks steady as the network's hash power changes. </a:t>
            </a:r>
          </a:p>
          <a:p>
            <a:pPr marL="257175" indent="-257175" algn="l">
              <a:buFont typeface="Arial" panose="020B0604020202020204" pitchFamily="34" charset="0"/>
              <a:buChar char="•"/>
            </a:pPr>
            <a:r>
              <a:rPr lang="en-US" sz="2100" b="1" dirty="0">
                <a:solidFill>
                  <a:schemeClr val="tx1"/>
                </a:solidFill>
                <a:latin typeface="Times New Roman" panose="02020603050405020304" pitchFamily="18" charset="0"/>
                <a:cs typeface="Times New Roman" panose="02020603050405020304" pitchFamily="18" charset="0"/>
              </a:rPr>
              <a:t>What is the formula for difficulty?</a:t>
            </a:r>
          </a:p>
          <a:p>
            <a:pPr algn="l"/>
            <a:r>
              <a:rPr lang="en-US" sz="2100" dirty="0">
                <a:solidFill>
                  <a:schemeClr val="tx1"/>
                </a:solidFill>
                <a:latin typeface="Times New Roman" panose="02020603050405020304" pitchFamily="18" charset="0"/>
                <a:cs typeface="Times New Roman" panose="02020603050405020304" pitchFamily="18" charset="0"/>
              </a:rPr>
              <a:t>difficulty = difficulty_1_target / </a:t>
            </a:r>
            <a:r>
              <a:rPr lang="en-US" sz="2100" dirty="0" err="1">
                <a:solidFill>
                  <a:schemeClr val="tx1"/>
                </a:solidFill>
                <a:latin typeface="Times New Roman" panose="02020603050405020304" pitchFamily="18" charset="0"/>
                <a:cs typeface="Times New Roman" panose="02020603050405020304" pitchFamily="18" charset="0"/>
              </a:rPr>
              <a:t>current_target</a:t>
            </a:r>
            <a:endParaRPr lang="en-US" sz="2100" dirty="0">
              <a:solidFill>
                <a:schemeClr val="tx1"/>
              </a:solidFill>
              <a:latin typeface="Times New Roman" panose="02020603050405020304" pitchFamily="18" charset="0"/>
              <a:cs typeface="Times New Roman" panose="02020603050405020304" pitchFamily="18" charset="0"/>
            </a:endParaRPr>
          </a:p>
          <a:p>
            <a:pPr algn="l"/>
            <a:r>
              <a:rPr lang="en-US" sz="2100" dirty="0">
                <a:solidFill>
                  <a:schemeClr val="tx1"/>
                </a:solidFill>
                <a:latin typeface="Times New Roman" panose="02020603050405020304" pitchFamily="18" charset="0"/>
                <a:cs typeface="Times New Roman" panose="02020603050405020304" pitchFamily="18" charset="0"/>
              </a:rPr>
              <a:t>(target is a 256 bit number)</a:t>
            </a:r>
          </a:p>
          <a:p>
            <a:pPr algn="l"/>
            <a:r>
              <a:rPr lang="en-US" sz="2100" dirty="0">
                <a:solidFill>
                  <a:schemeClr val="tx1"/>
                </a:solidFill>
                <a:latin typeface="Times New Roman" panose="02020603050405020304" pitchFamily="18" charset="0"/>
                <a:cs typeface="Times New Roman" panose="02020603050405020304" pitchFamily="18" charset="0"/>
              </a:rPr>
              <a:t>difficulty_1_target can be different for various ways to measure difficulty. Traditionally, it represents a hash where the leading 32 bits are zero and the rest are</a:t>
            </a:r>
          </a:p>
          <a:p>
            <a:pPr marL="257175" indent="-257175" algn="l">
              <a:buFont typeface="Arial" panose="020B0604020202020204" pitchFamily="34" charset="0"/>
              <a:buChar char="•"/>
            </a:pPr>
            <a:endParaRPr lang="en-IN" dirty="0"/>
          </a:p>
        </p:txBody>
      </p:sp>
    </p:spTree>
    <p:extLst>
      <p:ext uri="{BB962C8B-B14F-4D97-AF65-F5344CB8AC3E}">
        <p14:creationId xmlns:p14="http://schemas.microsoft.com/office/powerpoint/2010/main" val="29771735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2539" y="1149970"/>
            <a:ext cx="8572500" cy="4566425"/>
          </a:xfrm>
        </p:spPr>
        <p:txBody>
          <a:bodyPr>
            <a:normAutofit/>
          </a:bodyPr>
          <a:lstStyle/>
          <a:p>
            <a:r>
              <a:rPr lang="en-US" b="1" dirty="0"/>
              <a:t>Why bitcoin mining difficulty matters</a:t>
            </a:r>
          </a:p>
          <a:p>
            <a:r>
              <a:rPr lang="en-US" sz="1500" dirty="0">
                <a:latin typeface="Times New Roman" panose="02020603050405020304" pitchFamily="18" charset="0"/>
                <a:cs typeface="Times New Roman" panose="02020603050405020304" pitchFamily="18" charset="0"/>
              </a:rPr>
              <a:t>The Bitcoin difficulty algorithm is programmed to keep the entire system stable by maintaining a 10-minute duration for finding new blocks. In essence, it takes roughly 10 minutes for one miner out of the entire network to generate a winning code and win the right to propose a new block of bitcoin transactions to be added to the </a:t>
            </a:r>
            <a:r>
              <a:rPr lang="en-US" sz="1500" dirty="0" err="1">
                <a:latin typeface="Times New Roman" panose="02020603050405020304" pitchFamily="18" charset="0"/>
                <a:cs typeface="Times New Roman" panose="02020603050405020304" pitchFamily="18" charset="0"/>
              </a:rPr>
              <a:t>blockchain</a:t>
            </a:r>
            <a:r>
              <a:rPr lang="en-US" sz="1500" dirty="0">
                <a:latin typeface="Times New Roman" panose="02020603050405020304" pitchFamily="18" charset="0"/>
                <a:cs typeface="Times New Roman" panose="02020603050405020304" pitchFamily="18" charset="0"/>
              </a:rPr>
              <a:t>.</a:t>
            </a:r>
          </a:p>
          <a:p>
            <a:r>
              <a:rPr lang="en-US" sz="1500" dirty="0">
                <a:latin typeface="Times New Roman" panose="02020603050405020304" pitchFamily="18" charset="0"/>
                <a:cs typeface="Times New Roman" panose="02020603050405020304" pitchFamily="18" charset="0"/>
              </a:rPr>
              <a:t>To maintain this frequency, the algorithm steps in and increases or decreases the difficulty of mining bitcoin. Whenever there’s an influx of miners or mining rigs, it ramps up the difficulty of mining bitcoin. If the reverse is the case (that is, if there is a drop in the number of miners competing to find new blocks), the protocol reduces the mining difficulty to make it easier for the remaining miners to discover blocs. The mining difficulty of the bitcoin network is altered by adding or reducing the zeros at the front of the target hash.</a:t>
            </a:r>
          </a:p>
          <a:p>
            <a:r>
              <a:rPr lang="en-US" sz="1500" dirty="0">
                <a:latin typeface="Times New Roman" panose="02020603050405020304" pitchFamily="18" charset="0"/>
                <a:cs typeface="Times New Roman" panose="02020603050405020304" pitchFamily="18" charset="0"/>
              </a:rPr>
              <a:t>The target hash is the name given to the specific hash (fixed-length code) that all miners are trying to beat. Whoever generates a random code that happens to have an equal or higher number of zeros at the front than the target hash first is selected as the winner.</a:t>
            </a:r>
          </a:p>
          <a:p>
            <a:endParaRPr lang="en-IN" dirty="0"/>
          </a:p>
        </p:txBody>
      </p:sp>
    </p:spTree>
    <p:extLst>
      <p:ext uri="{BB962C8B-B14F-4D97-AF65-F5344CB8AC3E}">
        <p14:creationId xmlns:p14="http://schemas.microsoft.com/office/powerpoint/2010/main" val="18900220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991066"/>
            <a:ext cx="7886700" cy="4498907"/>
          </a:xfrm>
        </p:spPr>
        <p:txBody>
          <a:bodyPr/>
          <a:lstStyle/>
          <a:p>
            <a:r>
              <a:rPr lang="en-US" b="1" dirty="0"/>
              <a:t>How frequent is bitcoin mining difficulty adjusted?</a:t>
            </a:r>
          </a:p>
          <a:p>
            <a:pPr>
              <a:lnSpc>
                <a:spcPct val="150000"/>
              </a:lnSpc>
              <a:buFont typeface="+mj-lt"/>
              <a:buAutoNum type="arabicPeriod"/>
            </a:pPr>
            <a:r>
              <a:rPr lang="en-US" sz="1500" dirty="0"/>
              <a:t>Bitcoin’s mining difficulty is updated every 2,016 blocks (or roughly every two weeks). This is why each 2,016 block interval is called the difficulty epoch, as the network determines whether the activities of miners for the last two weeks have reduced or increased the time it takes to mine a new block. If the time it takes is below 10 minutes, the mining difficulty will be increased. The opposite occurs when the block time is above 10 minutes.</a:t>
            </a:r>
          </a:p>
          <a:p>
            <a:pPr marL="0" indent="0">
              <a:buNone/>
            </a:pPr>
            <a:endParaRPr lang="en-IN" dirty="0"/>
          </a:p>
        </p:txBody>
      </p:sp>
    </p:spTree>
    <p:extLst>
      <p:ext uri="{BB962C8B-B14F-4D97-AF65-F5344CB8AC3E}">
        <p14:creationId xmlns:p14="http://schemas.microsoft.com/office/powerpoint/2010/main" val="26846420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9DBDDD-016F-1C98-7781-DF11A40A9DC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EFC2375-6B9E-0E08-2FE0-A338CDD5471F}"/>
              </a:ext>
            </a:extLst>
          </p:cNvPr>
          <p:cNvSpPr>
            <a:spLocks noGrp="1"/>
          </p:cNvSpPr>
          <p:nvPr>
            <p:ph idx="1"/>
          </p:nvPr>
        </p:nvSpPr>
        <p:spPr/>
        <p:txBody>
          <a:bodyPr/>
          <a:lstStyle/>
          <a:p>
            <a:endParaRPr lang="en-IN" dirty="0"/>
          </a:p>
        </p:txBody>
      </p:sp>
    </p:spTree>
    <p:extLst>
      <p:ext uri="{BB962C8B-B14F-4D97-AF65-F5344CB8AC3E}">
        <p14:creationId xmlns:p14="http://schemas.microsoft.com/office/powerpoint/2010/main" val="863412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BCF32-3923-371F-3480-527BA1EB0C95}"/>
              </a:ext>
            </a:extLst>
          </p:cNvPr>
          <p:cNvSpPr>
            <a:spLocks noGrp="1"/>
          </p:cNvSpPr>
          <p:nvPr>
            <p:ph type="title"/>
          </p:nvPr>
        </p:nvSpPr>
        <p:spPr>
          <a:xfrm>
            <a:off x="457200" y="731836"/>
            <a:ext cx="8229600" cy="685801"/>
          </a:xfrm>
        </p:spPr>
        <p:txBody>
          <a:bodyPr>
            <a:normAutofit fontScale="90000"/>
          </a:bodyPr>
          <a:lstStyle/>
          <a:p>
            <a:r>
              <a:rPr lang="en-US" sz="3600" b="1" dirty="0">
                <a:latin typeface="Times New Roman" panose="02020603050405020304" pitchFamily="18" charset="0"/>
                <a:cs typeface="Times New Roman" panose="02020603050405020304" pitchFamily="18" charset="0"/>
              </a:rPr>
              <a:t>Block Creation and Validation</a:t>
            </a:r>
            <a:br>
              <a:rPr lang="en-IN" dirty="0"/>
            </a:br>
            <a:endParaRPr lang="en-IN" dirty="0"/>
          </a:p>
        </p:txBody>
      </p:sp>
      <p:sp>
        <p:nvSpPr>
          <p:cNvPr id="3" name="Content Placeholder 2">
            <a:extLst>
              <a:ext uri="{FF2B5EF4-FFF2-40B4-BE49-F238E27FC236}">
                <a16:creationId xmlns:a16="http://schemas.microsoft.com/office/drawing/2014/main" id="{39126AD1-B969-5BDB-2C18-C95748FF2B3E}"/>
              </a:ext>
            </a:extLst>
          </p:cNvPr>
          <p:cNvSpPr>
            <a:spLocks noGrp="1"/>
          </p:cNvSpPr>
          <p:nvPr>
            <p:ph idx="1"/>
          </p:nvPr>
        </p:nvSpPr>
        <p:spPr/>
        <p:txBody>
          <a:bodyPr/>
          <a:lstStyle/>
          <a:p>
            <a:pPr lvl="0">
              <a:lnSpc>
                <a:spcPct val="150000"/>
              </a:lnSpc>
            </a:pPr>
            <a:r>
              <a:rPr lang="en-US" sz="2000" dirty="0">
                <a:latin typeface="Times New Roman" panose="02020603050405020304" pitchFamily="18" charset="0"/>
                <a:cs typeface="Times New Roman" panose="02020603050405020304" pitchFamily="18" charset="0"/>
              </a:rPr>
              <a:t>New transactions are grouped into a block.</a:t>
            </a:r>
            <a:endParaRPr lang="en-IN" sz="2000" dirty="0">
              <a:latin typeface="Times New Roman" panose="02020603050405020304" pitchFamily="18" charset="0"/>
              <a:cs typeface="Times New Roman" panose="02020603050405020304" pitchFamily="18" charset="0"/>
            </a:endParaRPr>
          </a:p>
          <a:p>
            <a:pPr lvl="0">
              <a:lnSpc>
                <a:spcPct val="150000"/>
              </a:lnSpc>
            </a:pPr>
            <a:r>
              <a:rPr lang="en-US" sz="2000" dirty="0">
                <a:latin typeface="Times New Roman" panose="02020603050405020304" pitchFamily="18" charset="0"/>
                <a:cs typeface="Times New Roman" panose="02020603050405020304" pitchFamily="18" charset="0"/>
              </a:rPr>
              <a:t>Block is validated (e.g., via Proof-of-Work or Proof-of-Stake consensus).</a:t>
            </a:r>
            <a:endParaRPr lang="en-IN" sz="2000" dirty="0">
              <a:latin typeface="Times New Roman" panose="02020603050405020304" pitchFamily="18" charset="0"/>
              <a:cs typeface="Times New Roman" panose="02020603050405020304" pitchFamily="18" charset="0"/>
            </a:endParaRPr>
          </a:p>
          <a:p>
            <a:pPr lvl="0">
              <a:lnSpc>
                <a:spcPct val="150000"/>
              </a:lnSpc>
            </a:pPr>
            <a:r>
              <a:rPr lang="en-US" sz="2000" dirty="0">
                <a:latin typeface="Times New Roman" panose="02020603050405020304" pitchFamily="18" charset="0"/>
                <a:cs typeface="Times New Roman" panose="02020603050405020304" pitchFamily="18" charset="0"/>
              </a:rPr>
              <a:t>Once validated, block is added to the blockchain; all nodes update their copies</a:t>
            </a:r>
            <a:endParaRPr lang="en-IN" dirty="0"/>
          </a:p>
          <a:p>
            <a:endParaRPr lang="en-IN" dirty="0"/>
          </a:p>
        </p:txBody>
      </p:sp>
    </p:spTree>
    <p:extLst>
      <p:ext uri="{BB962C8B-B14F-4D97-AF65-F5344CB8AC3E}">
        <p14:creationId xmlns:p14="http://schemas.microsoft.com/office/powerpoint/2010/main" val="16210389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EF99D-69B6-8587-326C-0F4F7604925C}"/>
              </a:ext>
            </a:extLst>
          </p:cNvPr>
          <p:cNvSpPr>
            <a:spLocks noGrp="1"/>
          </p:cNvSpPr>
          <p:nvPr>
            <p:ph type="title"/>
          </p:nvPr>
        </p:nvSpPr>
        <p:spPr/>
        <p:txBody>
          <a:bodyPr>
            <a:normAutofit fontScale="90000"/>
          </a:bodyPr>
          <a:lstStyle/>
          <a:p>
            <a:r>
              <a:rPr lang="en-US" b="1" dirty="0"/>
              <a:t>Why Block Structure Matters</a:t>
            </a:r>
            <a:br>
              <a:rPr lang="en-IN" dirty="0"/>
            </a:br>
            <a:endParaRPr lang="en-IN" dirty="0"/>
          </a:p>
        </p:txBody>
      </p:sp>
      <p:sp>
        <p:nvSpPr>
          <p:cNvPr id="3" name="Content Placeholder 2">
            <a:extLst>
              <a:ext uri="{FF2B5EF4-FFF2-40B4-BE49-F238E27FC236}">
                <a16:creationId xmlns:a16="http://schemas.microsoft.com/office/drawing/2014/main" id="{F7ED99C7-2C3C-9E6B-89ED-5403F1176ED5}"/>
              </a:ext>
            </a:extLst>
          </p:cNvPr>
          <p:cNvSpPr>
            <a:spLocks noGrp="1"/>
          </p:cNvSpPr>
          <p:nvPr>
            <p:ph idx="1"/>
          </p:nvPr>
        </p:nvSpPr>
        <p:spPr/>
        <p:txBody>
          <a:bodyPr/>
          <a:lstStyle/>
          <a:p>
            <a:pPr lvl="0">
              <a:lnSpc>
                <a:spcPct val="150000"/>
              </a:lnSpc>
            </a:pPr>
            <a:r>
              <a:rPr lang="en-US" sz="2000" b="1" dirty="0">
                <a:latin typeface="Times New Roman" panose="02020603050405020304" pitchFamily="18" charset="0"/>
                <a:cs typeface="Times New Roman" panose="02020603050405020304" pitchFamily="18" charset="0"/>
              </a:rPr>
              <a:t>Security:</a:t>
            </a:r>
            <a:r>
              <a:rPr lang="en-US" sz="2000" dirty="0">
                <a:latin typeface="Times New Roman" panose="02020603050405020304" pitchFamily="18" charset="0"/>
                <a:cs typeface="Times New Roman" panose="02020603050405020304" pitchFamily="18" charset="0"/>
              </a:rPr>
              <a:t> Tamper-evident record with cryptographic hashes.</a:t>
            </a:r>
            <a:endParaRPr lang="en-IN" sz="2000" dirty="0">
              <a:latin typeface="Times New Roman" panose="02020603050405020304" pitchFamily="18" charset="0"/>
              <a:cs typeface="Times New Roman" panose="02020603050405020304" pitchFamily="18" charset="0"/>
            </a:endParaRPr>
          </a:p>
          <a:p>
            <a:pPr lvl="0">
              <a:lnSpc>
                <a:spcPct val="150000"/>
              </a:lnSpc>
            </a:pPr>
            <a:r>
              <a:rPr lang="en-US" sz="2000" b="1" dirty="0">
                <a:latin typeface="Times New Roman" panose="02020603050405020304" pitchFamily="18" charset="0"/>
                <a:cs typeface="Times New Roman" panose="02020603050405020304" pitchFamily="18" charset="0"/>
              </a:rPr>
              <a:t>Transparency:</a:t>
            </a:r>
            <a:r>
              <a:rPr lang="en-US" sz="2000" dirty="0">
                <a:latin typeface="Times New Roman" panose="02020603050405020304" pitchFamily="18" charset="0"/>
                <a:cs typeface="Times New Roman" panose="02020603050405020304" pitchFamily="18" charset="0"/>
              </a:rPr>
              <a:t> All participants can see the blockchain.</a:t>
            </a:r>
            <a:endParaRPr lang="en-IN" sz="2000" dirty="0">
              <a:latin typeface="Times New Roman" panose="02020603050405020304" pitchFamily="18" charset="0"/>
              <a:cs typeface="Times New Roman" panose="02020603050405020304" pitchFamily="18" charset="0"/>
            </a:endParaRPr>
          </a:p>
          <a:p>
            <a:pPr lvl="0">
              <a:lnSpc>
                <a:spcPct val="150000"/>
              </a:lnSpc>
            </a:pPr>
            <a:r>
              <a:rPr lang="en-US" sz="2000" b="1" dirty="0">
                <a:latin typeface="Times New Roman" panose="02020603050405020304" pitchFamily="18" charset="0"/>
                <a:cs typeface="Times New Roman" panose="02020603050405020304" pitchFamily="18" charset="0"/>
              </a:rPr>
              <a:t>Decentralization:</a:t>
            </a:r>
            <a:r>
              <a:rPr lang="en-US" sz="2000" dirty="0">
                <a:latin typeface="Times New Roman" panose="02020603050405020304" pitchFamily="18" charset="0"/>
                <a:cs typeface="Times New Roman" panose="02020603050405020304" pitchFamily="18" charset="0"/>
              </a:rPr>
              <a:t> No single point of control.</a:t>
            </a:r>
            <a:endParaRPr lang="en-IN" sz="2000" dirty="0">
              <a:latin typeface="Times New Roman" panose="02020603050405020304" pitchFamily="18" charset="0"/>
              <a:cs typeface="Times New Roman" panose="02020603050405020304" pitchFamily="18" charset="0"/>
            </a:endParaRPr>
          </a:p>
          <a:p>
            <a:pPr lvl="0">
              <a:lnSpc>
                <a:spcPct val="150000"/>
              </a:lnSpc>
            </a:pPr>
            <a:r>
              <a:rPr lang="en-US" sz="2000" b="1" dirty="0">
                <a:latin typeface="Times New Roman" panose="02020603050405020304" pitchFamily="18" charset="0"/>
                <a:cs typeface="Times New Roman" panose="02020603050405020304" pitchFamily="18" charset="0"/>
              </a:rPr>
              <a:t>Efficiency:</a:t>
            </a:r>
            <a:r>
              <a:rPr lang="en-US" sz="2000" dirty="0">
                <a:latin typeface="Times New Roman" panose="02020603050405020304" pitchFamily="18" charset="0"/>
                <a:cs typeface="Times New Roman" panose="02020603050405020304" pitchFamily="18" charset="0"/>
              </a:rPr>
              <a:t> Blocks batch multiple transactions for processing</a:t>
            </a:r>
            <a:endParaRPr lang="en-IN" dirty="0"/>
          </a:p>
        </p:txBody>
      </p:sp>
    </p:spTree>
    <p:extLst>
      <p:ext uri="{BB962C8B-B14F-4D97-AF65-F5344CB8AC3E}">
        <p14:creationId xmlns:p14="http://schemas.microsoft.com/office/powerpoint/2010/main" val="33352216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Merkle Tree and Merkle Root</a:t>
            </a:r>
          </a:p>
        </p:txBody>
      </p:sp>
      <p:sp>
        <p:nvSpPr>
          <p:cNvPr id="3" name="Content Placeholder 2"/>
          <p:cNvSpPr>
            <a:spLocks noGrp="1"/>
          </p:cNvSpPr>
          <p:nvPr>
            <p:ph idx="1"/>
          </p:nvPr>
        </p:nvSpPr>
        <p:spPr/>
        <p:txBody>
          <a:bodyPr/>
          <a:lstStyle/>
          <a:p>
            <a:r>
              <a:rPr dirty="0"/>
              <a:t>- Efficient verification</a:t>
            </a:r>
          </a:p>
          <a:p>
            <a:r>
              <a:rPr dirty="0"/>
              <a:t>- Tamper-proof summary of transactions</a:t>
            </a:r>
          </a:p>
          <a:p>
            <a:r>
              <a:rPr dirty="0"/>
              <a:t>- Merkle Root stored in header</a:t>
            </a:r>
          </a:p>
          <a:p>
            <a:r>
              <a:rPr dirty="0"/>
              <a:t>[Insert Merkle Tree diagram]</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Linking of Blocks</a:t>
            </a:r>
          </a:p>
        </p:txBody>
      </p:sp>
      <p:sp>
        <p:nvSpPr>
          <p:cNvPr id="3" name="Content Placeholder 2"/>
          <p:cNvSpPr>
            <a:spLocks noGrp="1"/>
          </p:cNvSpPr>
          <p:nvPr>
            <p:ph idx="1"/>
          </p:nvPr>
        </p:nvSpPr>
        <p:spPr/>
        <p:txBody>
          <a:bodyPr/>
          <a:lstStyle/>
          <a:p>
            <a:r>
              <a:t>- Hash of previous block in current block</a:t>
            </a:r>
          </a:p>
          <a:p>
            <a:r>
              <a:t>- Forms a secure, immutable chain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Summary</a:t>
            </a:r>
          </a:p>
        </p:txBody>
      </p:sp>
      <p:sp>
        <p:nvSpPr>
          <p:cNvPr id="3" name="Content Placeholder 2"/>
          <p:cNvSpPr>
            <a:spLocks noGrp="1"/>
          </p:cNvSpPr>
          <p:nvPr>
            <p:ph idx="1"/>
          </p:nvPr>
        </p:nvSpPr>
        <p:spPr/>
        <p:txBody>
          <a:bodyPr/>
          <a:lstStyle/>
          <a:p>
            <a:r>
              <a:t>- Block = Header + Transaction List</a:t>
            </a:r>
          </a:p>
          <a:p>
            <a:r>
              <a:t>- Header stores validation data</a:t>
            </a:r>
          </a:p>
          <a:p>
            <a:r>
              <a:t>- Blocks are cryptographically linked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45</TotalTime>
  <Words>859</Words>
  <Application>Microsoft Office PowerPoint</Application>
  <PresentationFormat>On-screen Show (4:3)</PresentationFormat>
  <Paragraphs>78</Paragraphs>
  <Slides>17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Calibri Light</vt:lpstr>
      <vt:lpstr>Times New Roman</vt:lpstr>
      <vt:lpstr>Office Theme</vt:lpstr>
      <vt:lpstr> D. Y. Patil College of Engineering &amp; Technology, Kolhapur. Department of Computer Science &amp; Engineering    Elective-III (Block Chain Technology) Topic-Block Structure in Blockchain    Mrs.N.N.Patil(CSE) Academic Year 2025_26</vt:lpstr>
      <vt:lpstr>Introduction to Blockchain</vt:lpstr>
      <vt:lpstr>What is a Block?</vt:lpstr>
      <vt:lpstr>Block Structure Overview</vt:lpstr>
      <vt:lpstr>Components of a Block</vt:lpstr>
      <vt:lpstr>Block Header in Detail</vt:lpstr>
      <vt:lpstr>Transaction List (Block Body)</vt:lpstr>
      <vt:lpstr>PowerPoint Presentation</vt:lpstr>
      <vt:lpstr>Difficulty level in Blockchain</vt:lpstr>
      <vt:lpstr>PowerPoint Presentation</vt:lpstr>
      <vt:lpstr>PowerPoint Presentation</vt:lpstr>
      <vt:lpstr>PowerPoint Presentation</vt:lpstr>
      <vt:lpstr>Block Creation and Validation </vt:lpstr>
      <vt:lpstr>Why Block Structure Matters </vt:lpstr>
      <vt:lpstr>Merkle Tree and Merkle Root</vt:lpstr>
      <vt:lpstr>Linking of Blocks</vt:lpstr>
      <vt:lpstr>Summary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Dypcet</dc:creator>
  <cp:keywords/>
  <dc:description>generated using python-pptx</dc:description>
  <cp:lastModifiedBy>Hasina Shafique Alam</cp:lastModifiedBy>
  <cp:revision>8</cp:revision>
  <dcterms:created xsi:type="dcterms:W3CDTF">2013-01-27T09:14:16Z</dcterms:created>
  <dcterms:modified xsi:type="dcterms:W3CDTF">2025-08-04T09:24:34Z</dcterms:modified>
  <cp:category/>
</cp:coreProperties>
</file>