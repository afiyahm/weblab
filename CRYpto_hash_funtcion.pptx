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Lst>
  <p:notesMasterIdLst>
    <p:notesMasterId r:id="rId38"/>
  </p:notesMasterIdLst>
  <p:sldIdLst>
    <p:sldId id="324" r:id="rId2"/>
    <p:sldId id="332" r:id="rId3"/>
    <p:sldId id="333" r:id="rId4"/>
    <p:sldId id="270" r:id="rId5"/>
    <p:sldId id="334" r:id="rId6"/>
    <p:sldId id="335" r:id="rId7"/>
    <p:sldId id="336" r:id="rId8"/>
    <p:sldId id="325" r:id="rId9"/>
    <p:sldId id="327" r:id="rId10"/>
    <p:sldId id="260" r:id="rId11"/>
    <p:sldId id="271" r:id="rId12"/>
    <p:sldId id="328" r:id="rId13"/>
    <p:sldId id="268" r:id="rId14"/>
    <p:sldId id="262" r:id="rId15"/>
    <p:sldId id="326" r:id="rId16"/>
    <p:sldId id="257" r:id="rId17"/>
    <p:sldId id="258" r:id="rId18"/>
    <p:sldId id="259" r:id="rId19"/>
    <p:sldId id="292" r:id="rId20"/>
    <p:sldId id="293" r:id="rId21"/>
    <p:sldId id="314" r:id="rId22"/>
    <p:sldId id="318" r:id="rId23"/>
    <p:sldId id="315" r:id="rId24"/>
    <p:sldId id="317" r:id="rId25"/>
    <p:sldId id="316" r:id="rId26"/>
    <p:sldId id="267" r:id="rId27"/>
    <p:sldId id="323" r:id="rId28"/>
    <p:sldId id="297" r:id="rId29"/>
    <p:sldId id="298" r:id="rId30"/>
    <p:sldId id="319" r:id="rId31"/>
    <p:sldId id="321" r:id="rId32"/>
    <p:sldId id="320" r:id="rId33"/>
    <p:sldId id="322" r:id="rId34"/>
    <p:sldId id="294" r:id="rId35"/>
    <p:sldId id="295" r:id="rId36"/>
    <p:sldId id="296"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125" d="100"/>
          <a:sy n="125" d="100"/>
        </p:scale>
        <p:origin x="90" y="-1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56A044-AD42-4591-AA43-07D3C7443466}" type="datetimeFigureOut">
              <a:rPr lang="en-IN" smtClean="0"/>
              <a:t>30-07-2025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3DB169-E145-4264-AC37-8CD40A22AC98}" type="slidenum">
              <a:rPr lang="en-IN" smtClean="0"/>
              <a:t>‹#›</a:t>
            </a:fld>
            <a:endParaRPr lang="en-IN"/>
          </a:p>
        </p:txBody>
      </p:sp>
    </p:spTree>
    <p:extLst>
      <p:ext uri="{BB962C8B-B14F-4D97-AF65-F5344CB8AC3E}">
        <p14:creationId xmlns:p14="http://schemas.microsoft.com/office/powerpoint/2010/main" val="20964929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F092677B-1EF6-4F50-9256-68E2E6EB535D}" type="slidenum">
              <a:rPr lang="en-IN" smtClean="0"/>
              <a:pPr/>
              <a:t>4</a:t>
            </a:fld>
            <a:endParaRPr lang="en-IN"/>
          </a:p>
        </p:txBody>
      </p:sp>
    </p:spTree>
    <p:extLst>
      <p:ext uri="{BB962C8B-B14F-4D97-AF65-F5344CB8AC3E}">
        <p14:creationId xmlns:p14="http://schemas.microsoft.com/office/powerpoint/2010/main" val="7406153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65297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067448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631187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12915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29198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45396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495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857678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03673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5832D7A-D63F-4A8E-91F4-5C000D7504C5}" type="datetimeFigureOut">
              <a:rPr lang="en-IN" smtClean="0"/>
              <a:t>30-07-2025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F7E156-CB9A-49EB-8BC6-9DA6CE3CA233}"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3353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832D7A-D63F-4A8E-91F4-5C000D7504C5}" type="datetimeFigureOut">
              <a:rPr lang="en-IN" smtClean="0"/>
              <a:t>30-07-2025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F7E156-CB9A-49EB-8BC6-9DA6CE3CA233}" type="slidenum">
              <a:rPr lang="en-IN" smtClean="0"/>
              <a:t>‹#›</a:t>
            </a:fld>
            <a:endParaRPr lang="en-IN"/>
          </a:p>
        </p:txBody>
      </p:sp>
    </p:spTree>
    <p:extLst>
      <p:ext uri="{BB962C8B-B14F-4D97-AF65-F5344CB8AC3E}">
        <p14:creationId xmlns:p14="http://schemas.microsoft.com/office/powerpoint/2010/main" val="27496193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5832D7A-D63F-4A8E-91F4-5C000D7504C5}" type="datetimeFigureOut">
              <a:rPr lang="en-IN" smtClean="0"/>
              <a:t>30-07-2025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F7E156-CB9A-49EB-8BC6-9DA6CE3CA233}"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72313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5832D7A-D63F-4A8E-91F4-5C000D7504C5}" type="datetimeFigureOut">
              <a:rPr lang="en-IN" smtClean="0"/>
              <a:t>30-07-2025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0F7E156-CB9A-49EB-8BC6-9DA6CE3CA233}" type="slidenum">
              <a:rPr lang="en-IN" smtClean="0"/>
              <a:t>‹#›</a:t>
            </a:fld>
            <a:endParaRPr lang="en-IN"/>
          </a:p>
        </p:txBody>
      </p:sp>
    </p:spTree>
    <p:extLst>
      <p:ext uri="{BB962C8B-B14F-4D97-AF65-F5344CB8AC3E}">
        <p14:creationId xmlns:p14="http://schemas.microsoft.com/office/powerpoint/2010/main" val="2257666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5832D7A-D63F-4A8E-91F4-5C000D7504C5}" type="datetimeFigureOut">
              <a:rPr lang="en-IN" smtClean="0"/>
              <a:t>30-07-2025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0F7E156-CB9A-49EB-8BC6-9DA6CE3CA233}" type="slidenum">
              <a:rPr lang="en-IN" smtClean="0"/>
              <a:t>‹#›</a:t>
            </a:fld>
            <a:endParaRPr lang="en-IN"/>
          </a:p>
        </p:txBody>
      </p:sp>
    </p:spTree>
    <p:extLst>
      <p:ext uri="{BB962C8B-B14F-4D97-AF65-F5344CB8AC3E}">
        <p14:creationId xmlns:p14="http://schemas.microsoft.com/office/powerpoint/2010/main" val="4165149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5832D7A-D63F-4A8E-91F4-5C000D7504C5}" type="datetimeFigureOut">
              <a:rPr lang="en-IN" smtClean="0"/>
              <a:t>30-07-2025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0F7E156-CB9A-49EB-8BC6-9DA6CE3CA233}" type="slidenum">
              <a:rPr lang="en-IN" smtClean="0"/>
              <a:t>‹#›</a:t>
            </a:fld>
            <a:endParaRPr lang="en-IN"/>
          </a:p>
        </p:txBody>
      </p:sp>
    </p:spTree>
    <p:extLst>
      <p:ext uri="{BB962C8B-B14F-4D97-AF65-F5344CB8AC3E}">
        <p14:creationId xmlns:p14="http://schemas.microsoft.com/office/powerpoint/2010/main" val="1725976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5832D7A-D63F-4A8E-91F4-5C000D7504C5}" type="datetimeFigureOut">
              <a:rPr lang="en-IN" smtClean="0"/>
              <a:t>30-07-2025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90F7E156-CB9A-49EB-8BC6-9DA6CE3CA233}" type="slidenum">
              <a:rPr lang="en-IN" smtClean="0"/>
              <a:t>‹#›</a:t>
            </a:fld>
            <a:endParaRPr lang="en-IN"/>
          </a:p>
        </p:txBody>
      </p:sp>
    </p:spTree>
    <p:extLst>
      <p:ext uri="{BB962C8B-B14F-4D97-AF65-F5344CB8AC3E}">
        <p14:creationId xmlns:p14="http://schemas.microsoft.com/office/powerpoint/2010/main" val="1768841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5832D7A-D63F-4A8E-91F4-5C000D7504C5}" type="datetimeFigureOut">
              <a:rPr lang="en-IN" smtClean="0"/>
              <a:t>30-07-2025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0F7E156-CB9A-49EB-8BC6-9DA6CE3CA233}" type="slidenum">
              <a:rPr lang="en-IN" smtClean="0"/>
              <a:t>‹#›</a:t>
            </a:fld>
            <a:endParaRPr lang="en-IN"/>
          </a:p>
        </p:txBody>
      </p:sp>
    </p:spTree>
    <p:extLst>
      <p:ext uri="{BB962C8B-B14F-4D97-AF65-F5344CB8AC3E}">
        <p14:creationId xmlns:p14="http://schemas.microsoft.com/office/powerpoint/2010/main" val="1633383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5832D7A-D63F-4A8E-91F4-5C000D7504C5}" type="datetimeFigureOut">
              <a:rPr lang="en-IN" smtClean="0"/>
              <a:t>30-07-2025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0F7E156-CB9A-49EB-8BC6-9DA6CE3CA233}" type="slidenum">
              <a:rPr lang="en-IN" smtClean="0"/>
              <a:t>‹#›</a:t>
            </a:fld>
            <a:endParaRPr lang="en-IN"/>
          </a:p>
        </p:txBody>
      </p:sp>
    </p:spTree>
    <p:extLst>
      <p:ext uri="{BB962C8B-B14F-4D97-AF65-F5344CB8AC3E}">
        <p14:creationId xmlns:p14="http://schemas.microsoft.com/office/powerpoint/2010/main" val="34900973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832D7A-D63F-4A8E-91F4-5C000D7504C5}" type="datetimeFigureOut">
              <a:rPr lang="en-IN" smtClean="0"/>
              <a:t>30-07-2025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F7E156-CB9A-49EB-8BC6-9DA6CE3CA233}" type="slidenum">
              <a:rPr lang="en-IN" smtClean="0"/>
              <a:t>‹#›</a:t>
            </a:fld>
            <a:endParaRPr lang="en-IN"/>
          </a:p>
        </p:txBody>
      </p:sp>
    </p:spTree>
    <p:extLst>
      <p:ext uri="{BB962C8B-B14F-4D97-AF65-F5344CB8AC3E}">
        <p14:creationId xmlns:p14="http://schemas.microsoft.com/office/powerpoint/2010/main" val="28708278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832D7A-D63F-4A8E-91F4-5C000D7504C5}" type="datetimeFigureOut">
              <a:rPr lang="en-IN" smtClean="0"/>
              <a:t>30-07-2025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F7E156-CB9A-49EB-8BC6-9DA6CE3CA233}" type="slidenum">
              <a:rPr lang="en-IN" smtClean="0"/>
              <a:t>‹#›</a:t>
            </a:fld>
            <a:endParaRPr lang="en-IN"/>
          </a:p>
        </p:txBody>
      </p:sp>
    </p:spTree>
    <p:extLst>
      <p:ext uri="{BB962C8B-B14F-4D97-AF65-F5344CB8AC3E}">
        <p14:creationId xmlns:p14="http://schemas.microsoft.com/office/powerpoint/2010/main" val="30630294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5832D7A-D63F-4A8E-91F4-5C000D7504C5}" type="datetimeFigureOut">
              <a:rPr lang="en-IN" smtClean="0"/>
              <a:t>30-07-2025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90F7E156-CB9A-49EB-8BC6-9DA6CE3CA233}"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6548688"/>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s://youtu.be/3ZACVZw2BXE?si=99rR1L-1t-O4swFh"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hyperlink" Target="https://consensus.app/papers/gtran-a-high-performance-distributed-graph-database-with-a-huang-chen/5e6cbb1ec5f1558a9ee07af5699afa3b/" TargetMode="External"/><Relationship Id="rId3" Type="http://schemas.openxmlformats.org/officeDocument/2006/relationships/hyperlink" Target="https://consensus.app/papers/dagbase-a-decentralized-database-platform-using-dagbased-sato-ding/ddd67fcbf2f650b899ff6df7fc6a1ce1/" TargetMode="External"/><Relationship Id="rId7" Type="http://schemas.openxmlformats.org/officeDocument/2006/relationships/hyperlink" Target="https://consensus.app/papers/development-of-methods-for-ensuring-information-security-faleeva-yeshenko/78142f360f5257a9b2e06dede3e2fe92/" TargetMode="External"/><Relationship Id="rId2" Type="http://schemas.openxmlformats.org/officeDocument/2006/relationships/hyperlink" Target="https://consensus.app/papers/a-systematic-review-on-distributed-databases-systems-and-kant-agarwal/72532e8db3d8571da37ef5ebf0ade233/" TargetMode="External"/><Relationship Id="rId1" Type="http://schemas.openxmlformats.org/officeDocument/2006/relationships/slideLayout" Target="../slideLayouts/slideLayout2.xml"/><Relationship Id="rId6" Type="http://schemas.openxmlformats.org/officeDocument/2006/relationships/hyperlink" Target="https://consensus.app/papers/coded-data-rebalancing-for-decentralized-distributed-sree-krishnan/82318d4440c8508fae8b0872a8bb3191/" TargetMode="External"/><Relationship Id="rId5" Type="http://schemas.openxmlformats.org/officeDocument/2006/relationships/hyperlink" Target="https://consensus.app/papers/creation-of-a-distributed-nosql-database-with-distributed-chamoso-valdeolmillos/cd8499c520345a928d48e6ec4edbb19b/" TargetMode="External"/><Relationship Id="rId4" Type="http://schemas.openxmlformats.org/officeDocument/2006/relationships/hyperlink" Target="https://consensus.app/papers/decentralized-vs-centralized-database-solutions-in-apu-islam/ab9e319c396458ba95043c0ef9cbb28f/"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youtu.be/SSo_EIwHSd4?si=qA_vKyKLgXUNWkG_" TargetMode="External"/><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5.gif"/></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4278" y="0"/>
            <a:ext cx="9601200" cy="5645020"/>
          </a:xfrm>
          <a:solidFill>
            <a:schemeClr val="bg1"/>
          </a:solidFill>
        </p:spPr>
        <p:txBody>
          <a:bodyPr>
            <a:normAutofit/>
          </a:bodyPr>
          <a:lstStyle/>
          <a:p>
            <a:pPr algn="ctr"/>
            <a:r>
              <a:rPr lang="en-US" sz="2800" b="1" dirty="0">
                <a:solidFill>
                  <a:schemeClr val="tx2"/>
                </a:solidFill>
                <a:ea typeface="+mj-lt"/>
                <a:cs typeface="+mj-lt"/>
              </a:rPr>
              <a:t>D</a:t>
            </a:r>
            <a:r>
              <a:rPr lang="en-US" sz="2800" b="1" dirty="0">
                <a:solidFill>
                  <a:schemeClr val="tx2"/>
                </a:solidFill>
                <a:latin typeface="Times New Roman" panose="02020603050405020304" pitchFamily="18" charset="0"/>
                <a:ea typeface="+mj-lt"/>
                <a:cs typeface="Times New Roman" panose="02020603050405020304" pitchFamily="18" charset="0"/>
              </a:rPr>
              <a:t>. Y. Patil College of Engineering &amp; Technology, Kolhapur.</a:t>
            </a:r>
            <a:br>
              <a:rPr lang="en-US" sz="2800" b="1" dirty="0">
                <a:solidFill>
                  <a:schemeClr val="tx2"/>
                </a:solidFill>
                <a:latin typeface="Times New Roman" panose="02020603050405020304" pitchFamily="18" charset="0"/>
                <a:ea typeface="Calibri Light"/>
                <a:cs typeface="Times New Roman" panose="02020603050405020304" pitchFamily="18" charset="0"/>
              </a:rPr>
            </a:br>
            <a:r>
              <a:rPr lang="en-US" sz="2800" b="1" dirty="0">
                <a:solidFill>
                  <a:schemeClr val="tx2"/>
                </a:solidFill>
                <a:latin typeface="Times New Roman" panose="02020603050405020304" pitchFamily="18" charset="0"/>
                <a:ea typeface="+mj-lt"/>
                <a:cs typeface="Times New Roman" panose="02020603050405020304" pitchFamily="18" charset="0"/>
              </a:rPr>
              <a:t>Department of Computer Science &amp; Engineering</a:t>
            </a:r>
            <a:br>
              <a:rPr lang="en-US" sz="2800" b="1" dirty="0">
                <a:solidFill>
                  <a:schemeClr val="tx2"/>
                </a:solidFill>
                <a:latin typeface="Times New Roman" panose="02020603050405020304" pitchFamily="18" charset="0"/>
                <a:ea typeface="Calibri Light"/>
                <a:cs typeface="Times New Roman" panose="02020603050405020304" pitchFamily="18" charset="0"/>
              </a:rPr>
            </a:br>
            <a:r>
              <a:rPr lang="en-US" sz="2800" b="1" dirty="0">
                <a:solidFill>
                  <a:schemeClr val="tx2"/>
                </a:solidFill>
                <a:latin typeface="Times New Roman" panose="02020603050405020304" pitchFamily="18" charset="0"/>
                <a:ea typeface="Calibri Light"/>
                <a:cs typeface="Times New Roman" panose="02020603050405020304" pitchFamily="18" charset="0"/>
              </a:rPr>
              <a:t>Academic Year 2025-26</a:t>
            </a:r>
            <a:br>
              <a:rPr lang="en-US" sz="2800" b="1" dirty="0">
                <a:solidFill>
                  <a:schemeClr val="tx2"/>
                </a:solidFill>
                <a:latin typeface="Times New Roman" panose="02020603050405020304" pitchFamily="18" charset="0"/>
                <a:ea typeface="Calibri Light"/>
                <a:cs typeface="Times New Roman" panose="02020603050405020304" pitchFamily="18" charset="0"/>
              </a:rPr>
            </a:br>
            <a:br>
              <a:rPr lang="en-US" sz="2800" b="1" dirty="0">
                <a:latin typeface="Times New Roman" panose="02020603050405020304" pitchFamily="18" charset="0"/>
                <a:ea typeface="Calibri Light"/>
                <a:cs typeface="Times New Roman" panose="02020603050405020304" pitchFamily="18" charset="0"/>
              </a:rPr>
            </a:br>
            <a:br>
              <a:rPr lang="en-US" sz="2800" b="1" dirty="0">
                <a:latin typeface="Times New Roman" panose="02020603050405020304" pitchFamily="18" charset="0"/>
                <a:ea typeface="Calibri Light"/>
                <a:cs typeface="Times New Roman" panose="02020603050405020304" pitchFamily="18" charset="0"/>
              </a:rPr>
            </a:br>
            <a:r>
              <a:rPr lang="en-US" sz="2000" b="1" dirty="0">
                <a:latin typeface="Times New Roman" panose="02020603050405020304" pitchFamily="18" charset="0"/>
                <a:ea typeface="Calibri Light"/>
                <a:cs typeface="Times New Roman" panose="02020603050405020304" pitchFamily="18" charset="0"/>
              </a:rPr>
              <a:t>Elective-III (Block Chain Technology)</a:t>
            </a:r>
            <a:br>
              <a:rPr lang="en-US" sz="2000" b="1" dirty="0">
                <a:latin typeface="Times New Roman" panose="02020603050405020304" pitchFamily="18" charset="0"/>
                <a:ea typeface="Calibri Light"/>
                <a:cs typeface="Times New Roman" panose="02020603050405020304" pitchFamily="18" charset="0"/>
              </a:rPr>
            </a:br>
            <a:r>
              <a:rPr lang="en-US" sz="2800" b="1" dirty="0">
                <a:latin typeface="Times New Roman" panose="02020603050405020304" pitchFamily="18" charset="0"/>
                <a:ea typeface="Calibri Light"/>
                <a:cs typeface="Times New Roman" panose="02020603050405020304" pitchFamily="18" charset="0"/>
              </a:rPr>
              <a:t>Topic 1-Introduction of Blockchain</a:t>
            </a:r>
            <a:br>
              <a:rPr lang="en-US" sz="2800" b="1" dirty="0">
                <a:latin typeface="Times New Roman" panose="02020603050405020304" pitchFamily="18" charset="0"/>
                <a:ea typeface="Calibri Light"/>
                <a:cs typeface="Times New Roman" panose="02020603050405020304" pitchFamily="18" charset="0"/>
              </a:rPr>
            </a:br>
            <a:br>
              <a:rPr lang="en-US" sz="2800" b="1" dirty="0">
                <a:latin typeface="Times New Roman" panose="02020603050405020304" pitchFamily="18" charset="0"/>
                <a:ea typeface="+mj-lt"/>
                <a:cs typeface="Times New Roman" panose="02020603050405020304" pitchFamily="18" charset="0"/>
              </a:rPr>
            </a:br>
            <a:br>
              <a:rPr lang="en-US" sz="2800" b="1" dirty="0">
                <a:latin typeface="Times New Roman" panose="02020603050405020304" pitchFamily="18" charset="0"/>
                <a:ea typeface="+mj-lt"/>
                <a:cs typeface="Times New Roman" panose="02020603050405020304" pitchFamily="18" charset="0"/>
              </a:rPr>
            </a:br>
            <a:br>
              <a:rPr lang="en-US" sz="2800" b="1" dirty="0">
                <a:latin typeface="Times New Roman" panose="02020603050405020304" pitchFamily="18" charset="0"/>
                <a:ea typeface="+mj-lt"/>
                <a:cs typeface="Times New Roman" panose="02020603050405020304" pitchFamily="18" charset="0"/>
              </a:rPr>
            </a:br>
            <a:r>
              <a:rPr lang="en-US" sz="2800" b="1" dirty="0" err="1">
                <a:latin typeface="Times New Roman" panose="02020603050405020304" pitchFamily="18" charset="0"/>
                <a:ea typeface="+mj-lt"/>
                <a:cs typeface="Times New Roman" panose="02020603050405020304" pitchFamily="18" charset="0"/>
              </a:rPr>
              <a:t>Mrs.N.N.Patil</a:t>
            </a:r>
            <a:r>
              <a:rPr lang="en-US" sz="2800" b="1" dirty="0">
                <a:latin typeface="Times New Roman" panose="02020603050405020304" pitchFamily="18" charset="0"/>
                <a:ea typeface="+mj-lt"/>
                <a:cs typeface="Times New Roman" panose="02020603050405020304" pitchFamily="18" charset="0"/>
              </a:rPr>
              <a:t>(CSE)</a:t>
            </a:r>
            <a:endParaRPr lang="en-US" sz="2800" dirty="0">
              <a:latin typeface="Times New Roman" panose="02020603050405020304" pitchFamily="18" charset="0"/>
              <a:ea typeface="Calibri Light"/>
              <a:cs typeface="Times New Roman" panose="02020603050405020304" pitchFamily="18" charset="0"/>
            </a:endParaRPr>
          </a:p>
        </p:txBody>
      </p:sp>
      <p:sp>
        <p:nvSpPr>
          <p:cNvPr id="5" name="Footer Placeholder 4">
            <a:extLst>
              <a:ext uri="{FF2B5EF4-FFF2-40B4-BE49-F238E27FC236}">
                <a16:creationId xmlns:a16="http://schemas.microsoft.com/office/drawing/2014/main" id="{37127FD9-8DCB-8EF8-F9A8-61EADE8C5AA3}"/>
              </a:ext>
            </a:extLst>
          </p:cNvPr>
          <p:cNvSpPr>
            <a:spLocks noGrp="1"/>
          </p:cNvSpPr>
          <p:nvPr>
            <p:ph type="ftr" sz="quarter" idx="11"/>
          </p:nvPr>
        </p:nvSpPr>
        <p:spPr/>
        <p:txBody>
          <a:bodyPr/>
          <a:lstStyle/>
          <a:p>
            <a:r>
              <a:rPr lang="en-US" dirty="0"/>
              <a:t>Date:30/07/5025​</a:t>
            </a:r>
          </a:p>
        </p:txBody>
      </p:sp>
      <p:sp>
        <p:nvSpPr>
          <p:cNvPr id="4" name="Slide Number Placeholder 3">
            <a:extLst>
              <a:ext uri="{FF2B5EF4-FFF2-40B4-BE49-F238E27FC236}">
                <a16:creationId xmlns:a16="http://schemas.microsoft.com/office/drawing/2014/main" id="{C49D9F3E-D057-820E-76A1-B9403A97E20D}"/>
              </a:ext>
            </a:extLst>
          </p:cNvPr>
          <p:cNvSpPr>
            <a:spLocks noGrp="1"/>
          </p:cNvSpPr>
          <p:nvPr>
            <p:ph type="sldNum" sz="quarter" idx="12"/>
          </p:nvPr>
        </p:nvSpPr>
        <p:spPr/>
        <p:txBody>
          <a:bodyPr/>
          <a:lstStyle/>
          <a:p>
            <a:fld id="{330EA680-D336-4FF7-8B7A-9848BB0A1C32}" type="slidenum">
              <a:rPr lang="en-US" smtClean="0"/>
              <a:t>1</a:t>
            </a:fld>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75FE0-226C-AAE6-DDA9-56359205C1C5}"/>
              </a:ext>
            </a:extLst>
          </p:cNvPr>
          <p:cNvSpPr>
            <a:spLocks noGrp="1"/>
          </p:cNvSpPr>
          <p:nvPr>
            <p:ph type="title"/>
          </p:nvPr>
        </p:nvSpPr>
        <p:spPr>
          <a:xfrm>
            <a:off x="1097280" y="864066"/>
            <a:ext cx="10058400" cy="1183687"/>
          </a:xfrm>
        </p:spPr>
        <p:txBody>
          <a:bodyPr>
            <a:normAutofit/>
          </a:bodyPr>
          <a:lstStyle/>
          <a:p>
            <a:r>
              <a:rPr lang="en-US" sz="3100" b="1" dirty="0">
                <a:latin typeface="Times New Roman" panose="02020603050405020304" pitchFamily="18" charset="0"/>
                <a:cs typeface="Times New Roman" panose="02020603050405020304" pitchFamily="18" charset="0"/>
              </a:rPr>
              <a:t>Distributed database and Decentralized database</a:t>
            </a:r>
            <a:br>
              <a:rPr lang="en-US" b="1" dirty="0"/>
            </a:br>
            <a:endParaRPr lang="en-IN" dirty="0"/>
          </a:p>
        </p:txBody>
      </p:sp>
      <p:sp>
        <p:nvSpPr>
          <p:cNvPr id="3" name="Content Placeholder 2">
            <a:extLst>
              <a:ext uri="{FF2B5EF4-FFF2-40B4-BE49-F238E27FC236}">
                <a16:creationId xmlns:a16="http://schemas.microsoft.com/office/drawing/2014/main" id="{B86A4EF7-5D49-7533-E9DE-13E79E5ADCDB}"/>
              </a:ext>
            </a:extLst>
          </p:cNvPr>
          <p:cNvSpPr>
            <a:spLocks noGrp="1"/>
          </p:cNvSpPr>
          <p:nvPr>
            <p:ph idx="1"/>
          </p:nvPr>
        </p:nvSpPr>
        <p:spPr/>
        <p:txBody>
          <a:bodyPr>
            <a:normAutofit/>
          </a:bodyPr>
          <a:lstStyle/>
          <a:p>
            <a:pPr>
              <a:lnSpc>
                <a:spcPct val="200000"/>
              </a:lnSpc>
            </a:pPr>
            <a:r>
              <a:rPr lang="en-US" sz="1600" dirty="0">
                <a:latin typeface="Times New Roman" panose="02020603050405020304" pitchFamily="18" charset="0"/>
                <a:cs typeface="Times New Roman" panose="02020603050405020304" pitchFamily="18" charset="0"/>
              </a:rPr>
              <a:t>Distributed and decentralized databases are both designed to manage data across multiple locations, but they differ in architecture and control. </a:t>
            </a:r>
            <a:r>
              <a:rPr lang="en-US" sz="1600" b="1" dirty="0">
                <a:latin typeface="Times New Roman" panose="02020603050405020304" pitchFamily="18" charset="0"/>
                <a:cs typeface="Times New Roman" panose="02020603050405020304" pitchFamily="18" charset="0"/>
              </a:rPr>
              <a:t>Distributed databases coordinate data across several sites to appear as a single system, while decentralized databases remove central authority, distributing control and responsibility among all participants.</a:t>
            </a:r>
          </a:p>
          <a:p>
            <a:r>
              <a:rPr lang="en-US" sz="1600" b="1" dirty="0">
                <a:latin typeface="Times New Roman" panose="02020603050405020304" pitchFamily="18" charset="0"/>
                <a:cs typeface="Times New Roman" panose="02020603050405020304" pitchFamily="18" charset="0"/>
              </a:rPr>
              <a:t>Distributed databases</a:t>
            </a:r>
            <a:r>
              <a:rPr lang="en-US" sz="1600" dirty="0">
                <a:latin typeface="Times New Roman" panose="02020603050405020304" pitchFamily="18" charset="0"/>
                <a:cs typeface="Times New Roman" panose="02020603050405020304" pitchFamily="18" charset="0"/>
              </a:rPr>
              <a:t> are common in large organizations needing unified data access with some central oversight.</a:t>
            </a:r>
          </a:p>
          <a:p>
            <a:r>
              <a:rPr lang="en-US" sz="1600" b="1" dirty="0">
                <a:latin typeface="Times New Roman" panose="02020603050405020304" pitchFamily="18" charset="0"/>
                <a:cs typeface="Times New Roman" panose="02020603050405020304" pitchFamily="18" charset="0"/>
              </a:rPr>
              <a:t>Decentralized databases</a:t>
            </a:r>
            <a:r>
              <a:rPr lang="en-US" sz="1600" dirty="0">
                <a:latin typeface="Times New Roman" panose="02020603050405020304" pitchFamily="18" charset="0"/>
                <a:cs typeface="Times New Roman" panose="02020603050405020304" pitchFamily="18" charset="0"/>
              </a:rPr>
              <a:t> are favored in environments where trust, transparency, and resilience are critical, such as public blockchains or peer-to-peer networks</a:t>
            </a:r>
          </a:p>
          <a:p>
            <a:r>
              <a:rPr lang="en-US" sz="1600" dirty="0">
                <a:latin typeface="Times New Roman" panose="02020603050405020304" pitchFamily="18" charset="0"/>
                <a:cs typeface="Times New Roman" panose="02020603050405020304" pitchFamily="18" charset="0"/>
                <a:hlinkClick r:id="rId2"/>
              </a:rPr>
              <a:t>https://youtu.be/3ZACVZw2BXE?si=99rR1L-1t-O4swFh</a:t>
            </a:r>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pPr>
              <a:lnSpc>
                <a:spcPct val="200000"/>
              </a:lnSpc>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45853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20957-A21D-14F0-AE09-7908FC4A1404}"/>
              </a:ext>
            </a:extLst>
          </p:cNvPr>
          <p:cNvSpPr>
            <a:spLocks noGrp="1"/>
          </p:cNvSpPr>
          <p:nvPr>
            <p:ph type="title"/>
          </p:nvPr>
        </p:nvSpPr>
        <p:spPr>
          <a:xfrm>
            <a:off x="1214726" y="918592"/>
            <a:ext cx="10058400" cy="1073791"/>
          </a:xfrm>
        </p:spPr>
        <p:txBody>
          <a:bodyPr>
            <a:normAutofit fontScale="90000"/>
          </a:bodyPr>
          <a:lstStyle/>
          <a:p>
            <a:r>
              <a:rPr lang="en-IN" sz="3200" b="1" dirty="0">
                <a:latin typeface="Times New Roman" panose="02020603050405020304" pitchFamily="18" charset="0"/>
                <a:cs typeface="Times New Roman" panose="02020603050405020304" pitchFamily="18" charset="0"/>
              </a:rPr>
              <a:t>Key Concepts and Differences</a:t>
            </a:r>
            <a:br>
              <a:rPr lang="en-IN" b="1" dirty="0"/>
            </a:br>
            <a:endParaRPr lang="en-IN" dirty="0"/>
          </a:p>
        </p:txBody>
      </p:sp>
      <p:graphicFrame>
        <p:nvGraphicFramePr>
          <p:cNvPr id="4" name="Content Placeholder 3">
            <a:extLst>
              <a:ext uri="{FF2B5EF4-FFF2-40B4-BE49-F238E27FC236}">
                <a16:creationId xmlns:a16="http://schemas.microsoft.com/office/drawing/2014/main" id="{FB312113-1129-8702-86DF-388160D55112}"/>
              </a:ext>
            </a:extLst>
          </p:cNvPr>
          <p:cNvGraphicFramePr>
            <a:graphicFrameLocks noGrp="1"/>
          </p:cNvGraphicFramePr>
          <p:nvPr>
            <p:ph idx="1"/>
            <p:extLst>
              <p:ext uri="{D42A27DB-BD31-4B8C-83A1-F6EECF244321}">
                <p14:modId xmlns:p14="http://schemas.microsoft.com/office/powerpoint/2010/main" val="489379466"/>
              </p:ext>
            </p:extLst>
          </p:nvPr>
        </p:nvGraphicFramePr>
        <p:xfrm>
          <a:off x="2055303" y="1846262"/>
          <a:ext cx="6769914" cy="4093146"/>
        </p:xfrm>
        <a:graphic>
          <a:graphicData uri="http://schemas.openxmlformats.org/drawingml/2006/table">
            <a:tbl>
              <a:tblPr/>
              <a:tblGrid>
                <a:gridCol w="1279635">
                  <a:extLst>
                    <a:ext uri="{9D8B030D-6E8A-4147-A177-3AD203B41FA5}">
                      <a16:colId xmlns:a16="http://schemas.microsoft.com/office/drawing/2014/main" val="3429984599"/>
                    </a:ext>
                  </a:extLst>
                </a:gridCol>
                <a:gridCol w="1830093">
                  <a:extLst>
                    <a:ext uri="{9D8B030D-6E8A-4147-A177-3AD203B41FA5}">
                      <a16:colId xmlns:a16="http://schemas.microsoft.com/office/drawing/2014/main" val="3132907075"/>
                    </a:ext>
                  </a:extLst>
                </a:gridCol>
                <a:gridCol w="1830093">
                  <a:extLst>
                    <a:ext uri="{9D8B030D-6E8A-4147-A177-3AD203B41FA5}">
                      <a16:colId xmlns:a16="http://schemas.microsoft.com/office/drawing/2014/main" val="3015490916"/>
                    </a:ext>
                  </a:extLst>
                </a:gridCol>
                <a:gridCol w="1830093">
                  <a:extLst>
                    <a:ext uri="{9D8B030D-6E8A-4147-A177-3AD203B41FA5}">
                      <a16:colId xmlns:a16="http://schemas.microsoft.com/office/drawing/2014/main" val="3282088718"/>
                    </a:ext>
                  </a:extLst>
                </a:gridCol>
              </a:tblGrid>
              <a:tr h="295382">
                <a:tc>
                  <a:txBody>
                    <a:bodyPr/>
                    <a:lstStyle/>
                    <a:p>
                      <a:pPr algn="l" fontAlgn="b"/>
                      <a:r>
                        <a:rPr lang="en-IN" sz="800" b="0" dirty="0">
                          <a:solidFill>
                            <a:srgbClr val="28333D"/>
                          </a:solidFill>
                          <a:effectLst/>
                          <a:latin typeface="CircularXXWeb"/>
                        </a:rPr>
                        <a:t>Feature</a:t>
                      </a:r>
                    </a:p>
                  </a:txBody>
                  <a:tcPr marL="41471" marR="41471" marT="20736" marB="20736" anchor="b">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algn="l" fontAlgn="b"/>
                      <a:r>
                        <a:rPr lang="en-IN" sz="800" b="0" dirty="0">
                          <a:solidFill>
                            <a:srgbClr val="28333D"/>
                          </a:solidFill>
                          <a:effectLst/>
                          <a:latin typeface="CircularXXWeb"/>
                        </a:rPr>
                        <a:t>Distributed Database</a:t>
                      </a:r>
                    </a:p>
                  </a:txBody>
                  <a:tcPr marL="41471" marR="41471" marT="20736" marB="20736" anchor="b">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algn="l" fontAlgn="b"/>
                      <a:r>
                        <a:rPr lang="en-IN" sz="800" b="0">
                          <a:solidFill>
                            <a:srgbClr val="28333D"/>
                          </a:solidFill>
                          <a:effectLst/>
                          <a:latin typeface="CircularXXWeb"/>
                        </a:rPr>
                        <a:t>Decentralized Database</a:t>
                      </a:r>
                    </a:p>
                  </a:txBody>
                  <a:tcPr marL="41471" marR="41471" marT="20736" marB="20736" anchor="b">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algn="l" fontAlgn="b"/>
                      <a:r>
                        <a:rPr lang="en-IN" sz="800" b="0">
                          <a:solidFill>
                            <a:srgbClr val="28333D"/>
                          </a:solidFill>
                          <a:effectLst/>
                          <a:latin typeface="CircularXXWeb"/>
                        </a:rPr>
                        <a:t>Citations</a:t>
                      </a:r>
                    </a:p>
                  </a:txBody>
                  <a:tcPr marL="41471" marR="41471" marT="20736" marB="20736" anchor="b">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extLst>
                  <a:ext uri="{0D108BD9-81ED-4DB2-BD59-A6C34878D82A}">
                    <a16:rowId xmlns:a16="http://schemas.microsoft.com/office/drawing/2014/main" val="247629923"/>
                  </a:ext>
                </a:extLst>
              </a:tr>
              <a:tr h="548566">
                <a:tc>
                  <a:txBody>
                    <a:bodyPr/>
                    <a:lstStyle/>
                    <a:p>
                      <a:pPr fontAlgn="t"/>
                      <a:r>
                        <a:rPr lang="en-IN" sz="800" b="0" dirty="0">
                          <a:solidFill>
                            <a:srgbClr val="28333D"/>
                          </a:solidFill>
                          <a:effectLst/>
                          <a:latin typeface="CircularXXWeb"/>
                        </a:rPr>
                        <a:t>Control</a:t>
                      </a: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fontAlgn="t"/>
                      <a:r>
                        <a:rPr lang="en-US" sz="800" b="0">
                          <a:solidFill>
                            <a:srgbClr val="28333D"/>
                          </a:solidFill>
                          <a:effectLst/>
                          <a:latin typeface="CircularXXWeb"/>
                        </a:rPr>
                        <a:t>Managed by a central authority or coordinated system</a:t>
                      </a: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fontAlgn="t"/>
                      <a:r>
                        <a:rPr lang="en-US" sz="800" b="0">
                          <a:solidFill>
                            <a:srgbClr val="28333D"/>
                          </a:solidFill>
                          <a:effectLst/>
                          <a:latin typeface="CircularXXWeb"/>
                        </a:rPr>
                        <a:t>No central authority; control is shared among nodes</a:t>
                      </a: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fontAlgn="t"/>
                      <a:r>
                        <a:rPr lang="en-IN" sz="800" b="1">
                          <a:solidFill>
                            <a:srgbClr val="28333D"/>
                          </a:solidFill>
                          <a:effectLst/>
                          <a:latin typeface="Reddit Mono"/>
                          <a:hlinkClick r:id="rId2"/>
                        </a:rPr>
                        <a:t>3</a:t>
                      </a:r>
                      <a:r>
                        <a:rPr lang="en-IN" sz="800" b="1">
                          <a:solidFill>
                            <a:srgbClr val="28333D"/>
                          </a:solidFill>
                          <a:effectLst/>
                          <a:latin typeface="Reddit Mono"/>
                          <a:hlinkClick r:id="rId3"/>
                        </a:rPr>
                        <a:t>4</a:t>
                      </a:r>
                      <a:r>
                        <a:rPr lang="en-IN" sz="800" b="1">
                          <a:solidFill>
                            <a:srgbClr val="28333D"/>
                          </a:solidFill>
                          <a:effectLst/>
                          <a:latin typeface="Reddit Mono"/>
                          <a:hlinkClick r:id="rId4"/>
                        </a:rPr>
                        <a:t>2</a:t>
                      </a:r>
                      <a:r>
                        <a:rPr lang="en-IN" sz="800" b="1">
                          <a:solidFill>
                            <a:srgbClr val="28333D"/>
                          </a:solidFill>
                          <a:effectLst/>
                          <a:latin typeface="Reddit Mono"/>
                          <a:hlinkClick r:id="rId5"/>
                        </a:rPr>
                        <a:t>7</a:t>
                      </a:r>
                      <a:endParaRPr lang="en-IN" sz="800" b="0">
                        <a:solidFill>
                          <a:srgbClr val="28333D"/>
                        </a:solidFill>
                        <a:effectLst/>
                        <a:latin typeface="CircularXXWeb"/>
                      </a:endParaRP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extLst>
                  <a:ext uri="{0D108BD9-81ED-4DB2-BD59-A6C34878D82A}">
                    <a16:rowId xmlns:a16="http://schemas.microsoft.com/office/drawing/2014/main" val="1085311407"/>
                  </a:ext>
                </a:extLst>
              </a:tr>
              <a:tr h="675158">
                <a:tc>
                  <a:txBody>
                    <a:bodyPr/>
                    <a:lstStyle/>
                    <a:p>
                      <a:pPr fontAlgn="t"/>
                      <a:r>
                        <a:rPr lang="en-IN" sz="800" b="0">
                          <a:solidFill>
                            <a:srgbClr val="28333D"/>
                          </a:solidFill>
                          <a:effectLst/>
                          <a:latin typeface="CircularXXWeb"/>
                        </a:rPr>
                        <a:t>Data Location</a:t>
                      </a: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fontAlgn="t"/>
                      <a:r>
                        <a:rPr lang="en-US" sz="800" b="0">
                          <a:solidFill>
                            <a:srgbClr val="28333D"/>
                          </a:solidFill>
                          <a:effectLst/>
                          <a:latin typeface="CircularXXWeb"/>
                        </a:rPr>
                        <a:t>Data is spread across multiple sites, but appears unified to users</a:t>
                      </a: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fontAlgn="t"/>
                      <a:r>
                        <a:rPr lang="en-US" sz="800" b="0">
                          <a:solidFill>
                            <a:srgbClr val="28333D"/>
                          </a:solidFill>
                          <a:effectLst/>
                          <a:latin typeface="CircularXXWeb"/>
                        </a:rPr>
                        <a:t>Data and control are both distributed; each node can operate independently</a:t>
                      </a: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fontAlgn="t"/>
                      <a:r>
                        <a:rPr lang="en-IN" sz="800" b="1">
                          <a:solidFill>
                            <a:srgbClr val="28333D"/>
                          </a:solidFill>
                          <a:effectLst/>
                          <a:latin typeface="Reddit Mono"/>
                          <a:hlinkClick r:id="rId2"/>
                        </a:rPr>
                        <a:t>3</a:t>
                      </a:r>
                      <a:r>
                        <a:rPr lang="en-IN" sz="800" b="1">
                          <a:solidFill>
                            <a:srgbClr val="28333D"/>
                          </a:solidFill>
                          <a:effectLst/>
                          <a:latin typeface="Reddit Mono"/>
                          <a:hlinkClick r:id="rId3"/>
                        </a:rPr>
                        <a:t>4</a:t>
                      </a:r>
                      <a:r>
                        <a:rPr lang="en-IN" sz="800" b="1">
                          <a:solidFill>
                            <a:srgbClr val="28333D"/>
                          </a:solidFill>
                          <a:effectLst/>
                          <a:latin typeface="Reddit Mono"/>
                          <a:hlinkClick r:id="rId5"/>
                        </a:rPr>
                        <a:t>7</a:t>
                      </a:r>
                      <a:r>
                        <a:rPr lang="en-IN" sz="800" b="1">
                          <a:solidFill>
                            <a:srgbClr val="28333D"/>
                          </a:solidFill>
                          <a:effectLst/>
                          <a:latin typeface="Reddit Mono"/>
                          <a:hlinkClick r:id="rId6"/>
                        </a:rPr>
                        <a:t>8</a:t>
                      </a:r>
                      <a:endParaRPr lang="en-IN" sz="800" b="0">
                        <a:solidFill>
                          <a:srgbClr val="28333D"/>
                        </a:solidFill>
                        <a:effectLst/>
                        <a:latin typeface="CircularXXWeb"/>
                      </a:endParaRP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extLst>
                  <a:ext uri="{0D108BD9-81ED-4DB2-BD59-A6C34878D82A}">
                    <a16:rowId xmlns:a16="http://schemas.microsoft.com/office/drawing/2014/main" val="671440387"/>
                  </a:ext>
                </a:extLst>
              </a:tr>
              <a:tr h="675158">
                <a:tc>
                  <a:txBody>
                    <a:bodyPr/>
                    <a:lstStyle/>
                    <a:p>
                      <a:pPr fontAlgn="t"/>
                      <a:r>
                        <a:rPr lang="en-IN" sz="800" b="0">
                          <a:solidFill>
                            <a:srgbClr val="28333D"/>
                          </a:solidFill>
                          <a:effectLst/>
                          <a:latin typeface="CircularXXWeb"/>
                        </a:rPr>
                        <a:t>Fault Tolerance</a:t>
                      </a: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fontAlgn="t"/>
                      <a:r>
                        <a:rPr lang="en-US" sz="800" b="0" dirty="0">
                          <a:solidFill>
                            <a:srgbClr val="28333D"/>
                          </a:solidFill>
                          <a:effectLst/>
                          <a:latin typeface="CircularXXWeb"/>
                        </a:rPr>
                        <a:t>Improved over centralized systems, but may still have single points of failure</a:t>
                      </a: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fontAlgn="t"/>
                      <a:r>
                        <a:rPr lang="en-US" sz="800" b="0" dirty="0">
                          <a:solidFill>
                            <a:srgbClr val="28333D"/>
                          </a:solidFill>
                          <a:effectLst/>
                          <a:latin typeface="CircularXXWeb"/>
                        </a:rPr>
                        <a:t>High, as there is no single point of failure</a:t>
                      </a: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fontAlgn="t"/>
                      <a:r>
                        <a:rPr lang="en-IN" sz="800" b="1">
                          <a:solidFill>
                            <a:srgbClr val="28333D"/>
                          </a:solidFill>
                          <a:effectLst/>
                          <a:latin typeface="Reddit Mono"/>
                          <a:hlinkClick r:id="rId4"/>
                        </a:rPr>
                        <a:t>2</a:t>
                      </a:r>
                      <a:r>
                        <a:rPr lang="en-IN" sz="800" b="1">
                          <a:solidFill>
                            <a:srgbClr val="28333D"/>
                          </a:solidFill>
                          <a:effectLst/>
                          <a:latin typeface="Reddit Mono"/>
                          <a:hlinkClick r:id="rId3"/>
                        </a:rPr>
                        <a:t>4</a:t>
                      </a:r>
                      <a:r>
                        <a:rPr lang="en-IN" sz="800" b="1">
                          <a:solidFill>
                            <a:srgbClr val="28333D"/>
                          </a:solidFill>
                          <a:effectLst/>
                          <a:latin typeface="Reddit Mono"/>
                          <a:hlinkClick r:id="rId6"/>
                        </a:rPr>
                        <a:t>8</a:t>
                      </a:r>
                      <a:r>
                        <a:rPr lang="en-IN" sz="800" b="1">
                          <a:solidFill>
                            <a:srgbClr val="28333D"/>
                          </a:solidFill>
                          <a:effectLst/>
                          <a:latin typeface="Reddit Mono"/>
                          <a:hlinkClick r:id="rId7"/>
                        </a:rPr>
                        <a:t>10</a:t>
                      </a:r>
                      <a:endParaRPr lang="en-IN" sz="800" b="0">
                        <a:solidFill>
                          <a:srgbClr val="28333D"/>
                        </a:solidFill>
                        <a:effectLst/>
                        <a:latin typeface="CircularXXWeb"/>
                      </a:endParaRP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extLst>
                  <a:ext uri="{0D108BD9-81ED-4DB2-BD59-A6C34878D82A}">
                    <a16:rowId xmlns:a16="http://schemas.microsoft.com/office/drawing/2014/main" val="2743045864"/>
                  </a:ext>
                </a:extLst>
              </a:tr>
              <a:tr h="675158">
                <a:tc>
                  <a:txBody>
                    <a:bodyPr/>
                    <a:lstStyle/>
                    <a:p>
                      <a:pPr fontAlgn="t"/>
                      <a:r>
                        <a:rPr lang="en-IN" sz="800" b="0" dirty="0">
                          <a:solidFill>
                            <a:srgbClr val="28333D"/>
                          </a:solidFill>
                          <a:effectLst/>
                          <a:latin typeface="CircularXXWeb"/>
                        </a:rPr>
                        <a:t>Security &amp; Trust</a:t>
                      </a: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fontAlgn="t"/>
                      <a:r>
                        <a:rPr lang="en-US" sz="800" b="0">
                          <a:solidFill>
                            <a:srgbClr val="28333D"/>
                          </a:solidFill>
                          <a:effectLst/>
                          <a:latin typeface="CircularXXWeb"/>
                        </a:rPr>
                        <a:t>Relies on central coordination for security and consistency</a:t>
                      </a: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fontAlgn="t"/>
                      <a:r>
                        <a:rPr lang="en-US" sz="800" b="0">
                          <a:solidFill>
                            <a:srgbClr val="28333D"/>
                          </a:solidFill>
                          <a:effectLst/>
                          <a:latin typeface="CircularXXWeb"/>
                        </a:rPr>
                        <a:t>Enhanced trust and transparency; security through consensus and distributed control</a:t>
                      </a: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fontAlgn="t"/>
                      <a:r>
                        <a:rPr lang="en-IN" sz="800" b="1" dirty="0">
                          <a:solidFill>
                            <a:srgbClr val="28333D"/>
                          </a:solidFill>
                          <a:effectLst/>
                          <a:latin typeface="Reddit Mono"/>
                          <a:hlinkClick r:id="rId4"/>
                        </a:rPr>
                        <a:t>2</a:t>
                      </a:r>
                      <a:r>
                        <a:rPr lang="en-IN" sz="800" b="1" dirty="0">
                          <a:solidFill>
                            <a:srgbClr val="28333D"/>
                          </a:solidFill>
                          <a:effectLst/>
                          <a:latin typeface="Reddit Mono"/>
                          <a:hlinkClick r:id="rId3"/>
                        </a:rPr>
                        <a:t>4</a:t>
                      </a:r>
                      <a:r>
                        <a:rPr lang="en-IN" sz="800" b="1" dirty="0">
                          <a:solidFill>
                            <a:srgbClr val="28333D"/>
                          </a:solidFill>
                          <a:effectLst/>
                          <a:latin typeface="Reddit Mono"/>
                          <a:hlinkClick r:id="rId7"/>
                        </a:rPr>
                        <a:t>10</a:t>
                      </a:r>
                      <a:endParaRPr lang="en-IN" sz="800" b="0" dirty="0">
                        <a:solidFill>
                          <a:srgbClr val="28333D"/>
                        </a:solidFill>
                        <a:effectLst/>
                        <a:latin typeface="CircularXXWeb"/>
                      </a:endParaRP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extLst>
                  <a:ext uri="{0D108BD9-81ED-4DB2-BD59-A6C34878D82A}">
                    <a16:rowId xmlns:a16="http://schemas.microsoft.com/office/drawing/2014/main" val="2671073208"/>
                  </a:ext>
                </a:extLst>
              </a:tr>
              <a:tr h="675158">
                <a:tc>
                  <a:txBody>
                    <a:bodyPr/>
                    <a:lstStyle/>
                    <a:p>
                      <a:pPr fontAlgn="t"/>
                      <a:r>
                        <a:rPr lang="en-IN" sz="800" b="0">
                          <a:solidFill>
                            <a:srgbClr val="28333D"/>
                          </a:solidFill>
                          <a:effectLst/>
                          <a:latin typeface="CircularXXWeb"/>
                        </a:rPr>
                        <a:t>Performance &amp; Scalability</a:t>
                      </a: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fontAlgn="t"/>
                      <a:r>
                        <a:rPr lang="en-US" sz="800" b="0">
                          <a:solidFill>
                            <a:srgbClr val="28333D"/>
                          </a:solidFill>
                          <a:effectLst/>
                          <a:latin typeface="CircularXXWeb"/>
                        </a:rPr>
                        <a:t>Can be optimized for performance, but coordination overhead exists</a:t>
                      </a: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fontAlgn="t"/>
                      <a:r>
                        <a:rPr lang="en-US" sz="800" b="0">
                          <a:solidFill>
                            <a:srgbClr val="28333D"/>
                          </a:solidFill>
                          <a:effectLst/>
                          <a:latin typeface="CircularXXWeb"/>
                        </a:rPr>
                        <a:t>May face scalability and performance challenges due to consensus mechanisms</a:t>
                      </a: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fontAlgn="t"/>
                      <a:r>
                        <a:rPr lang="en-IN" sz="800" b="1">
                          <a:solidFill>
                            <a:srgbClr val="28333D"/>
                          </a:solidFill>
                          <a:effectLst/>
                          <a:latin typeface="Reddit Mono"/>
                          <a:hlinkClick r:id="rId4"/>
                        </a:rPr>
                        <a:t>2</a:t>
                      </a:r>
                      <a:r>
                        <a:rPr lang="en-IN" sz="800" b="1">
                          <a:solidFill>
                            <a:srgbClr val="28333D"/>
                          </a:solidFill>
                          <a:effectLst/>
                          <a:latin typeface="Reddit Mono"/>
                          <a:hlinkClick r:id="rId3"/>
                        </a:rPr>
                        <a:t>4</a:t>
                      </a:r>
                      <a:r>
                        <a:rPr lang="en-IN" sz="800" b="1">
                          <a:solidFill>
                            <a:srgbClr val="28333D"/>
                          </a:solidFill>
                          <a:effectLst/>
                          <a:latin typeface="Reddit Mono"/>
                          <a:hlinkClick r:id="rId8"/>
                        </a:rPr>
                        <a:t>5</a:t>
                      </a:r>
                      <a:endParaRPr lang="en-IN" sz="800" b="0">
                        <a:solidFill>
                          <a:srgbClr val="28333D"/>
                        </a:solidFill>
                        <a:effectLst/>
                        <a:latin typeface="CircularXXWeb"/>
                      </a:endParaRP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9525" cap="flat" cmpd="sng" algn="ctr">
                      <a:solidFill>
                        <a:srgbClr val="DEE0E3"/>
                      </a:solidFill>
                      <a:prstDash val="solid"/>
                      <a:round/>
                      <a:headEnd type="none" w="med" len="med"/>
                      <a:tailEnd type="none" w="med" len="med"/>
                    </a:lnB>
                    <a:solidFill>
                      <a:srgbClr val="FFFFFF"/>
                    </a:solidFill>
                  </a:tcPr>
                </a:tc>
                <a:extLst>
                  <a:ext uri="{0D108BD9-81ED-4DB2-BD59-A6C34878D82A}">
                    <a16:rowId xmlns:a16="http://schemas.microsoft.com/office/drawing/2014/main" val="3506829977"/>
                  </a:ext>
                </a:extLst>
              </a:tr>
              <a:tr h="548566">
                <a:tc>
                  <a:txBody>
                    <a:bodyPr/>
                    <a:lstStyle/>
                    <a:p>
                      <a:pPr fontAlgn="t"/>
                      <a:r>
                        <a:rPr lang="en-IN" sz="800" b="0">
                          <a:solidFill>
                            <a:srgbClr val="28333D"/>
                          </a:solidFill>
                          <a:effectLst/>
                          <a:latin typeface="CircularXXWeb"/>
                        </a:rPr>
                        <a:t>Example Technologies</a:t>
                      </a: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fontAlgn="t"/>
                      <a:r>
                        <a:rPr lang="en-US" sz="800" b="0">
                          <a:solidFill>
                            <a:srgbClr val="28333D"/>
                          </a:solidFill>
                          <a:effectLst/>
                          <a:latin typeface="CircularXXWeb"/>
                        </a:rPr>
                        <a:t>Distributed SQL/NoSQL databases, sharded databases</a:t>
                      </a: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fontAlgn="t"/>
                      <a:r>
                        <a:rPr lang="en-US" sz="800" b="0">
                          <a:solidFill>
                            <a:srgbClr val="28333D"/>
                          </a:solidFill>
                          <a:effectLst/>
                          <a:latin typeface="CircularXXWeb"/>
                        </a:rPr>
                        <a:t>Blockchain, peer-to-peer databases, DLT-based systems</a:t>
                      </a: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endParaRPr lang="en-IN" sz="800" dirty="0"/>
                    </a:p>
                  </a:txBody>
                  <a:tcPr marL="41471" marR="41471" marT="20736" marB="20736">
                    <a:lnL w="12700" cap="flat" cmpd="sng" algn="ctr">
                      <a:solidFill>
                        <a:srgbClr val="DEE0E3"/>
                      </a:solidFill>
                      <a:prstDash val="solid"/>
                      <a:round/>
                      <a:headEnd type="none" w="med" len="med"/>
                      <a:tailEnd type="none" w="med" len="med"/>
                    </a:lnL>
                    <a:lnT w="9525" cap="flat" cmpd="sng" algn="ctr">
                      <a:solidFill>
                        <a:srgbClr val="DEE0E3"/>
                      </a:solidFill>
                      <a:prstDash val="solid"/>
                      <a:round/>
                      <a:headEnd type="none" w="med" len="med"/>
                      <a:tailEnd type="none" w="med" len="med"/>
                    </a:lnT>
                  </a:tcPr>
                </a:tc>
                <a:extLst>
                  <a:ext uri="{0D108BD9-81ED-4DB2-BD59-A6C34878D82A}">
                    <a16:rowId xmlns:a16="http://schemas.microsoft.com/office/drawing/2014/main" val="2628718844"/>
                  </a:ext>
                </a:extLst>
              </a:tr>
            </a:tbl>
          </a:graphicData>
        </a:graphic>
      </p:graphicFrame>
    </p:spTree>
    <p:extLst>
      <p:ext uri="{BB962C8B-B14F-4D97-AF65-F5344CB8AC3E}">
        <p14:creationId xmlns:p14="http://schemas.microsoft.com/office/powerpoint/2010/main" val="3250350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Picture 39" descr="Image result for computers symbol gif"/>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54184" y="3982523"/>
            <a:ext cx="590550" cy="324062"/>
          </a:xfrm>
          <a:prstGeom prst="rect">
            <a:avLst/>
          </a:prstGeom>
          <a:noFill/>
          <a:ln>
            <a:noFill/>
          </a:ln>
        </p:spPr>
      </p:pic>
      <p:pic>
        <p:nvPicPr>
          <p:cNvPr id="28" name="Picture 27" descr="Image result for computers symbol gif"/>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8766" y="3146914"/>
            <a:ext cx="590550" cy="324062"/>
          </a:xfrm>
          <a:prstGeom prst="rect">
            <a:avLst/>
          </a:prstGeom>
          <a:noFill/>
          <a:ln>
            <a:noFill/>
          </a:ln>
        </p:spPr>
      </p:pic>
      <p:pic>
        <p:nvPicPr>
          <p:cNvPr id="91" name="Picture 4" descr="Related image"/>
          <p:cNvPicPr>
            <a:picLocks noChangeAspect="1" noChangeArrowheads="1" noCrop="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8223138" y="4047386"/>
            <a:ext cx="757313" cy="567985"/>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4" descr="Related image"/>
          <p:cNvPicPr>
            <a:picLocks noChangeAspect="1" noChangeArrowheads="1" noCrop="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6249948" y="2671095"/>
            <a:ext cx="757313" cy="567985"/>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descr="Image result for computers symbol gif"/>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25006" y="3954766"/>
            <a:ext cx="590550" cy="324062"/>
          </a:xfrm>
          <a:prstGeom prst="rect">
            <a:avLst/>
          </a:prstGeom>
          <a:noFill/>
          <a:ln>
            <a:noFill/>
          </a:ln>
        </p:spPr>
      </p:pic>
      <p:pic>
        <p:nvPicPr>
          <p:cNvPr id="39" name="Picture 38" descr="Image result for computers symbol gif"/>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05393" y="2985453"/>
            <a:ext cx="590550" cy="324062"/>
          </a:xfrm>
          <a:prstGeom prst="rect">
            <a:avLst/>
          </a:prstGeom>
          <a:noFill/>
          <a:ln>
            <a:noFill/>
          </a:ln>
        </p:spPr>
      </p:pic>
      <p:pic>
        <p:nvPicPr>
          <p:cNvPr id="42" name="Picture 4" descr="Related image"/>
          <p:cNvPicPr>
            <a:picLocks noChangeAspect="1" noChangeArrowheads="1" noCrop="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4538631" y="3994837"/>
            <a:ext cx="757313" cy="567985"/>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4" descr="Related image"/>
          <p:cNvPicPr>
            <a:picLocks noChangeAspect="1" noChangeArrowheads="1" noCrop="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3602050" y="4489850"/>
            <a:ext cx="757313" cy="567985"/>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 descr="Related image"/>
          <p:cNvPicPr>
            <a:picLocks noChangeAspect="1" noChangeArrowheads="1" noCrop="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2470804" y="2663007"/>
            <a:ext cx="757313" cy="56798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181143" y="670928"/>
            <a:ext cx="8229600" cy="1087177"/>
          </a:xfrm>
        </p:spPr>
        <p:txBody>
          <a:bodyPr>
            <a:normAutofit/>
          </a:bodyPr>
          <a:lstStyle/>
          <a:p>
            <a:r>
              <a:rPr lang="en-IN" sz="2800" b="1" dirty="0">
                <a:latin typeface="Times New Roman" pitchFamily="18" charset="0"/>
                <a:cs typeface="Times New Roman" pitchFamily="18" charset="0"/>
              </a:rPr>
              <a:t>Distributed  &amp; Decentralized Network</a:t>
            </a:r>
            <a:br>
              <a:rPr lang="en-IN" sz="2800" b="1" dirty="0">
                <a:latin typeface="Times New Roman" pitchFamily="18" charset="0"/>
                <a:cs typeface="Times New Roman" pitchFamily="18" charset="0"/>
              </a:rPr>
            </a:br>
            <a:endParaRPr lang="en-IN" sz="2800" b="1" dirty="0">
              <a:latin typeface="Times New Roman" pitchFamily="18" charset="0"/>
              <a:cs typeface="Times New Roman" pitchFamily="18" charset="0"/>
            </a:endParaRPr>
          </a:p>
        </p:txBody>
      </p:sp>
      <p:sp>
        <p:nvSpPr>
          <p:cNvPr id="6" name="Oval 5"/>
          <p:cNvSpPr/>
          <p:nvPr/>
        </p:nvSpPr>
        <p:spPr>
          <a:xfrm>
            <a:off x="6712366" y="3099541"/>
            <a:ext cx="361950" cy="3240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7" name="Oval 6"/>
          <p:cNvSpPr/>
          <p:nvPr/>
        </p:nvSpPr>
        <p:spPr>
          <a:xfrm>
            <a:off x="8055391" y="3147166"/>
            <a:ext cx="361950" cy="3240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8" name="Oval 7"/>
          <p:cNvSpPr/>
          <p:nvPr/>
        </p:nvSpPr>
        <p:spPr>
          <a:xfrm>
            <a:off x="7445791" y="2661391"/>
            <a:ext cx="361950" cy="3240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9" name="Oval 8"/>
          <p:cNvSpPr/>
          <p:nvPr/>
        </p:nvSpPr>
        <p:spPr>
          <a:xfrm>
            <a:off x="8026816" y="3947266"/>
            <a:ext cx="361950" cy="3240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10" name="Oval 9"/>
          <p:cNvSpPr/>
          <p:nvPr/>
        </p:nvSpPr>
        <p:spPr>
          <a:xfrm>
            <a:off x="6712366" y="3804391"/>
            <a:ext cx="361950" cy="3240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11" name="Oval 10"/>
          <p:cNvSpPr/>
          <p:nvPr/>
        </p:nvSpPr>
        <p:spPr>
          <a:xfrm>
            <a:off x="7341016" y="4242541"/>
            <a:ext cx="361950" cy="3240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cxnSp>
        <p:nvCxnSpPr>
          <p:cNvPr id="12" name="Straight Connector 11"/>
          <p:cNvCxnSpPr/>
          <p:nvPr/>
        </p:nvCxnSpPr>
        <p:spPr>
          <a:xfrm>
            <a:off x="7760116" y="2937828"/>
            <a:ext cx="381000" cy="3333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7541041" y="2985453"/>
            <a:ext cx="57150" cy="13430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6950492" y="3271203"/>
            <a:ext cx="494665" cy="10572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8236366" y="3422010"/>
            <a:ext cx="0" cy="5540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V="1">
            <a:off x="7702967" y="4204652"/>
            <a:ext cx="409575" cy="1905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7007642" y="4109403"/>
            <a:ext cx="333375" cy="219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74291" y="3383671"/>
            <a:ext cx="0" cy="4495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7007643" y="2890202"/>
            <a:ext cx="437515" cy="28575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7646452" y="2985453"/>
            <a:ext cx="494665" cy="10572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7007641" y="2899727"/>
            <a:ext cx="533400" cy="100965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7645818" y="3318827"/>
            <a:ext cx="494665" cy="100965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a:off x="7074318" y="3318828"/>
            <a:ext cx="1038225" cy="657225"/>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7074318" y="3271203"/>
            <a:ext cx="1038225" cy="47625"/>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7074318" y="4042727"/>
            <a:ext cx="98107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7007641" y="3318828"/>
            <a:ext cx="1104900" cy="790575"/>
          </a:xfrm>
          <a:prstGeom prst="line">
            <a:avLst/>
          </a:prstGeom>
        </p:spPr>
        <p:style>
          <a:lnRef idx="1">
            <a:schemeClr val="accent1"/>
          </a:lnRef>
          <a:fillRef idx="0">
            <a:schemeClr val="accent1"/>
          </a:fillRef>
          <a:effectRef idx="0">
            <a:schemeClr val="accent1"/>
          </a:effectRef>
          <a:fontRef idx="minor">
            <a:schemeClr val="tx1"/>
          </a:fontRef>
        </p:style>
      </p:cxnSp>
      <p:pic>
        <p:nvPicPr>
          <p:cNvPr id="27" name="Picture 26" descr="Image result for computers symbol gif"/>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41016" y="2262611"/>
            <a:ext cx="590550" cy="324062"/>
          </a:xfrm>
          <a:prstGeom prst="rect">
            <a:avLst/>
          </a:prstGeom>
          <a:noFill/>
          <a:ln>
            <a:noFill/>
          </a:ln>
        </p:spPr>
      </p:pic>
      <p:pic>
        <p:nvPicPr>
          <p:cNvPr id="1082" name="Picture 4" descr="Related image"/>
          <p:cNvPicPr>
            <a:picLocks noChangeAspect="1" noChangeArrowheads="1" noCrop="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7150441" y="4632257"/>
            <a:ext cx="757313" cy="567985"/>
          </a:xfrm>
          <a:prstGeom prst="rect">
            <a:avLst/>
          </a:prstGeom>
          <a:noFill/>
          <a:extLst>
            <a:ext uri="{909E8E84-426E-40DD-AFC4-6F175D3DCCD1}">
              <a14:hiddenFill xmlns:a14="http://schemas.microsoft.com/office/drawing/2010/main">
                <a:solidFill>
                  <a:srgbClr val="FFFFFF"/>
                </a:solidFill>
              </a14:hiddenFill>
            </a:ext>
          </a:extLst>
        </p:spPr>
      </p:pic>
      <p:sp>
        <p:nvSpPr>
          <p:cNvPr id="31" name="Oval 30"/>
          <p:cNvSpPr/>
          <p:nvPr/>
        </p:nvSpPr>
        <p:spPr>
          <a:xfrm>
            <a:off x="3027859" y="3068960"/>
            <a:ext cx="361950" cy="3240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32" name="Oval 31"/>
          <p:cNvSpPr/>
          <p:nvPr/>
        </p:nvSpPr>
        <p:spPr>
          <a:xfrm>
            <a:off x="4370884" y="3089419"/>
            <a:ext cx="361950" cy="3240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33" name="Oval 32"/>
          <p:cNvSpPr/>
          <p:nvPr/>
        </p:nvSpPr>
        <p:spPr>
          <a:xfrm>
            <a:off x="3761284" y="2603644"/>
            <a:ext cx="361950" cy="3240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34" name="Oval 33"/>
          <p:cNvSpPr/>
          <p:nvPr/>
        </p:nvSpPr>
        <p:spPr>
          <a:xfrm>
            <a:off x="4423890" y="3814021"/>
            <a:ext cx="361950" cy="3240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35" name="Oval 34"/>
          <p:cNvSpPr/>
          <p:nvPr/>
        </p:nvSpPr>
        <p:spPr>
          <a:xfrm>
            <a:off x="3027859" y="3746644"/>
            <a:ext cx="361950" cy="3240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36" name="Oval 35"/>
          <p:cNvSpPr/>
          <p:nvPr/>
        </p:nvSpPr>
        <p:spPr>
          <a:xfrm>
            <a:off x="3769050" y="4184794"/>
            <a:ext cx="361950" cy="3240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pic>
        <p:nvPicPr>
          <p:cNvPr id="38" name="Picture 37" descr="Image result for computers symbol gif"/>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56509" y="2204864"/>
            <a:ext cx="590550" cy="324062"/>
          </a:xfrm>
          <a:prstGeom prst="rect">
            <a:avLst/>
          </a:prstGeom>
          <a:noFill/>
          <a:ln>
            <a:noFill/>
          </a:ln>
        </p:spPr>
      </p:pic>
      <p:sp>
        <p:nvSpPr>
          <p:cNvPr id="44" name="Oval 43"/>
          <p:cNvSpPr/>
          <p:nvPr/>
        </p:nvSpPr>
        <p:spPr>
          <a:xfrm>
            <a:off x="3761284" y="3404552"/>
            <a:ext cx="361950" cy="3240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cxnSp>
        <p:nvCxnSpPr>
          <p:cNvPr id="5" name="Straight Connector 4"/>
          <p:cNvCxnSpPr>
            <a:stCxn id="31" idx="6"/>
            <a:endCxn id="44" idx="1"/>
          </p:cNvCxnSpPr>
          <p:nvPr/>
        </p:nvCxnSpPr>
        <p:spPr>
          <a:xfrm>
            <a:off x="3389810" y="3230992"/>
            <a:ext cx="424481" cy="221019"/>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a:stCxn id="33" idx="4"/>
            <a:endCxn id="44" idx="0"/>
          </p:cNvCxnSpPr>
          <p:nvPr/>
        </p:nvCxnSpPr>
        <p:spPr>
          <a:xfrm>
            <a:off x="3942259" y="2927706"/>
            <a:ext cx="0" cy="476846"/>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p:cNvCxnSpPr>
            <a:stCxn id="35" idx="6"/>
            <a:endCxn id="44" idx="7"/>
          </p:cNvCxnSpPr>
          <p:nvPr/>
        </p:nvCxnSpPr>
        <p:spPr>
          <a:xfrm flipV="1">
            <a:off x="3389810" y="3452011"/>
            <a:ext cx="680419" cy="456665"/>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36" idx="0"/>
            <a:endCxn id="44" idx="4"/>
          </p:cNvCxnSpPr>
          <p:nvPr/>
        </p:nvCxnSpPr>
        <p:spPr>
          <a:xfrm flipH="1" flipV="1">
            <a:off x="3942259" y="3728614"/>
            <a:ext cx="7766" cy="45618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44" idx="5"/>
            <a:endCxn id="34" idx="1"/>
          </p:cNvCxnSpPr>
          <p:nvPr/>
        </p:nvCxnSpPr>
        <p:spPr>
          <a:xfrm>
            <a:off x="4070228" y="3681157"/>
            <a:ext cx="406668" cy="180323"/>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44" idx="6"/>
            <a:endCxn id="32" idx="3"/>
          </p:cNvCxnSpPr>
          <p:nvPr/>
        </p:nvCxnSpPr>
        <p:spPr>
          <a:xfrm flipV="1">
            <a:off x="4123234" y="3366023"/>
            <a:ext cx="300656" cy="20056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78362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17C5D-3D62-D394-1D5C-25C3A9ADCF5B}"/>
              </a:ext>
            </a:extLst>
          </p:cNvPr>
          <p:cNvSpPr>
            <a:spLocks noGrp="1"/>
          </p:cNvSpPr>
          <p:nvPr>
            <p:ph type="title"/>
          </p:nvPr>
        </p:nvSpPr>
        <p:spPr>
          <a:xfrm>
            <a:off x="998220" y="737446"/>
            <a:ext cx="10058400" cy="502920"/>
          </a:xfrm>
        </p:spPr>
        <p:txBody>
          <a:bodyPr>
            <a:normAutofit/>
          </a:bodyPr>
          <a:lstStyle/>
          <a:p>
            <a:r>
              <a:rPr lang="en-IN" sz="2800" b="1" dirty="0">
                <a:latin typeface="Times New Roman" panose="02020603050405020304" pitchFamily="18" charset="0"/>
                <a:cs typeface="Times New Roman" panose="02020603050405020304" pitchFamily="18" charset="0"/>
              </a:rPr>
              <a:t>Decentralized System</a:t>
            </a:r>
          </a:p>
        </p:txBody>
      </p:sp>
      <p:sp>
        <p:nvSpPr>
          <p:cNvPr id="3" name="Content Placeholder 2">
            <a:extLst>
              <a:ext uri="{FF2B5EF4-FFF2-40B4-BE49-F238E27FC236}">
                <a16:creationId xmlns:a16="http://schemas.microsoft.com/office/drawing/2014/main" id="{F0E4FEF1-C6B5-FE46-C345-ED77BFCA4750}"/>
              </a:ext>
            </a:extLst>
          </p:cNvPr>
          <p:cNvSpPr>
            <a:spLocks noGrp="1"/>
          </p:cNvSpPr>
          <p:nvPr>
            <p:ph idx="1"/>
          </p:nvPr>
        </p:nvSpPr>
        <p:spPr>
          <a:xfrm>
            <a:off x="944880" y="1240366"/>
            <a:ext cx="10210800" cy="4628728"/>
          </a:xfrm>
        </p:spPr>
        <p:txBody>
          <a:bodyPr>
            <a:normAutofit/>
          </a:bodyPr>
          <a:lstStyle/>
          <a:p>
            <a:pPr marL="0" lvl="0" indent="0" eaLnBrk="0" fontAlgn="base" hangingPunct="0">
              <a:lnSpc>
                <a:spcPct val="100000"/>
              </a:lnSpc>
              <a:spcBef>
                <a:spcPct val="0"/>
              </a:spcBef>
              <a:spcAft>
                <a:spcPct val="0"/>
              </a:spcAft>
              <a:buClrTx/>
              <a:buSzTx/>
              <a:buNone/>
            </a:pPr>
            <a:r>
              <a:rPr lang="en-US" altLang="en-US" sz="1400" dirty="0">
                <a:solidFill>
                  <a:schemeClr val="tx1"/>
                </a:solidFill>
                <a:latin typeface="Times New Roman" panose="02020603050405020304" pitchFamily="18" charset="0"/>
                <a:cs typeface="Times New Roman" panose="02020603050405020304" pitchFamily="18" charset="0"/>
              </a:rPr>
              <a:t>A decentralized system distributes control and decision-making across a network rather than relying on a single central authority</a:t>
            </a:r>
          </a:p>
          <a:p>
            <a:pPr marL="0" lvl="0" indent="0" eaLnBrk="0" fontAlgn="base" hangingPunct="0">
              <a:lnSpc>
                <a:spcPct val="100000"/>
              </a:lnSpc>
              <a:spcBef>
                <a:spcPct val="0"/>
              </a:spcBef>
              <a:spcAft>
                <a:spcPct val="0"/>
              </a:spcAft>
              <a:buClrTx/>
              <a:buSzTx/>
              <a:buNone/>
            </a:pPr>
            <a:endParaRPr lang="en-US" altLang="en-US" sz="1400" b="1"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None/>
            </a:pPr>
            <a:r>
              <a:rPr lang="en-US" altLang="en-US" sz="1400" b="1" dirty="0">
                <a:solidFill>
                  <a:schemeClr val="tx1"/>
                </a:solidFill>
                <a:latin typeface="Times New Roman" panose="02020603050405020304" pitchFamily="18" charset="0"/>
                <a:cs typeface="Times New Roman" panose="02020603050405020304" pitchFamily="18" charset="0"/>
              </a:rPr>
              <a:t>How It Works:</a:t>
            </a:r>
          </a:p>
          <a:p>
            <a:pPr marL="0" lvl="0" indent="0" eaLnBrk="0" fontAlgn="base" hangingPunct="0">
              <a:lnSpc>
                <a:spcPct val="100000"/>
              </a:lnSpc>
              <a:spcBef>
                <a:spcPct val="0"/>
              </a:spcBef>
              <a:spcAft>
                <a:spcPct val="0"/>
              </a:spcAft>
              <a:buClrTx/>
              <a:buSzTx/>
              <a:buFontTx/>
              <a:buChar char="•"/>
            </a:pPr>
            <a:r>
              <a:rPr lang="en-US" altLang="en-US" sz="1400" dirty="0">
                <a:solidFill>
                  <a:schemeClr val="tx1"/>
                </a:solidFill>
                <a:latin typeface="Times New Roman" panose="02020603050405020304" pitchFamily="18" charset="0"/>
                <a:cs typeface="Times New Roman" panose="02020603050405020304" pitchFamily="18" charset="0"/>
              </a:rPr>
              <a:t>Each node (participant) has equal authority.</a:t>
            </a:r>
          </a:p>
          <a:p>
            <a:pPr marL="0" lvl="0" indent="0" eaLnBrk="0" fontAlgn="base" hangingPunct="0">
              <a:lnSpc>
                <a:spcPct val="100000"/>
              </a:lnSpc>
              <a:spcBef>
                <a:spcPct val="0"/>
              </a:spcBef>
              <a:spcAft>
                <a:spcPct val="0"/>
              </a:spcAft>
              <a:buClrTx/>
              <a:buSzTx/>
              <a:buFontTx/>
              <a:buChar char="•"/>
            </a:pPr>
            <a:r>
              <a:rPr lang="en-US" altLang="en-US" sz="1400" dirty="0">
                <a:solidFill>
                  <a:schemeClr val="tx1"/>
                </a:solidFill>
                <a:latin typeface="Times New Roman" panose="02020603050405020304" pitchFamily="18" charset="0"/>
                <a:cs typeface="Times New Roman" panose="02020603050405020304" pitchFamily="18" charset="0"/>
              </a:rPr>
              <a:t>Decisions are made through consensus among participants.</a:t>
            </a:r>
          </a:p>
          <a:p>
            <a:pPr marL="0" lvl="0" indent="0" eaLnBrk="0" fontAlgn="base" hangingPunct="0">
              <a:lnSpc>
                <a:spcPct val="100000"/>
              </a:lnSpc>
              <a:spcBef>
                <a:spcPct val="0"/>
              </a:spcBef>
              <a:spcAft>
                <a:spcPct val="0"/>
              </a:spcAft>
              <a:buClrTx/>
              <a:buSzTx/>
              <a:buFontTx/>
              <a:buChar char="•"/>
            </a:pPr>
            <a:r>
              <a:rPr lang="en-US" altLang="en-US" sz="1400" dirty="0">
                <a:solidFill>
                  <a:schemeClr val="tx1"/>
                </a:solidFill>
                <a:latin typeface="Times New Roman" panose="02020603050405020304" pitchFamily="18" charset="0"/>
                <a:cs typeface="Times New Roman" panose="02020603050405020304" pitchFamily="18" charset="0"/>
              </a:rPr>
              <a:t>Data is replicated and shared across all nodes.</a:t>
            </a:r>
          </a:p>
          <a:p>
            <a:pPr marL="0" lvl="0" indent="0" eaLnBrk="0" fontAlgn="base" hangingPunct="0">
              <a:lnSpc>
                <a:spcPct val="100000"/>
              </a:lnSpc>
              <a:spcBef>
                <a:spcPct val="0"/>
              </a:spcBef>
              <a:spcAft>
                <a:spcPct val="0"/>
              </a:spcAft>
              <a:buClrTx/>
              <a:buSzTx/>
              <a:buNone/>
            </a:pPr>
            <a:endParaRPr lang="en-US" altLang="en-US" sz="1400" b="1"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None/>
            </a:pPr>
            <a:r>
              <a:rPr lang="en-US" altLang="en-US" sz="1400" b="1" dirty="0">
                <a:solidFill>
                  <a:schemeClr val="tx1"/>
                </a:solidFill>
                <a:latin typeface="Times New Roman" panose="02020603050405020304" pitchFamily="18" charset="0"/>
                <a:cs typeface="Times New Roman" panose="02020603050405020304" pitchFamily="18" charset="0"/>
              </a:rPr>
              <a:t> Key Concepts:</a:t>
            </a:r>
          </a:p>
          <a:p>
            <a:pPr marL="0" lvl="0" indent="0" eaLnBrk="0" fontAlgn="base" hangingPunct="0">
              <a:lnSpc>
                <a:spcPct val="100000"/>
              </a:lnSpc>
              <a:spcBef>
                <a:spcPct val="0"/>
              </a:spcBef>
              <a:spcAft>
                <a:spcPct val="0"/>
              </a:spcAft>
              <a:buClrTx/>
              <a:buSzTx/>
              <a:buFontTx/>
              <a:buChar char="•"/>
            </a:pPr>
            <a:r>
              <a:rPr lang="en-US" altLang="en-US" sz="1400" b="1" dirty="0">
                <a:solidFill>
                  <a:schemeClr val="tx1"/>
                </a:solidFill>
                <a:latin typeface="Times New Roman" panose="02020603050405020304" pitchFamily="18" charset="0"/>
                <a:cs typeface="Times New Roman" panose="02020603050405020304" pitchFamily="18" charset="0"/>
              </a:rPr>
              <a:t>No Single Point of Failure:</a:t>
            </a:r>
            <a:r>
              <a:rPr lang="en-US" altLang="en-US" sz="1400" dirty="0">
                <a:solidFill>
                  <a:schemeClr val="tx1"/>
                </a:solidFill>
                <a:latin typeface="Times New Roman" panose="02020603050405020304" pitchFamily="18" charset="0"/>
                <a:cs typeface="Times New Roman" panose="02020603050405020304" pitchFamily="18" charset="0"/>
              </a:rPr>
              <a:t> The system keeps running even if one or more nodes fail.</a:t>
            </a:r>
          </a:p>
          <a:p>
            <a:pPr marL="0" lvl="0" indent="0" eaLnBrk="0" fontAlgn="base" hangingPunct="0">
              <a:lnSpc>
                <a:spcPct val="100000"/>
              </a:lnSpc>
              <a:spcBef>
                <a:spcPct val="0"/>
              </a:spcBef>
              <a:spcAft>
                <a:spcPct val="0"/>
              </a:spcAft>
              <a:buClrTx/>
              <a:buSzTx/>
              <a:buFontTx/>
              <a:buChar char="•"/>
            </a:pPr>
            <a:r>
              <a:rPr lang="en-US" altLang="en-US" sz="1400" b="1" dirty="0">
                <a:solidFill>
                  <a:schemeClr val="tx1"/>
                </a:solidFill>
                <a:latin typeface="Times New Roman" panose="02020603050405020304" pitchFamily="18" charset="0"/>
                <a:cs typeface="Times New Roman" panose="02020603050405020304" pitchFamily="18" charset="0"/>
              </a:rPr>
              <a:t>Trust is Distributed:</a:t>
            </a:r>
            <a:r>
              <a:rPr lang="en-US" altLang="en-US" sz="1400" dirty="0">
                <a:solidFill>
                  <a:schemeClr val="tx1"/>
                </a:solidFill>
                <a:latin typeface="Times New Roman" panose="02020603050405020304" pitchFamily="18" charset="0"/>
                <a:cs typeface="Times New Roman" panose="02020603050405020304" pitchFamily="18" charset="0"/>
              </a:rPr>
              <a:t> Trust is embedded in the protocol, not any one person or institution.</a:t>
            </a:r>
          </a:p>
          <a:p>
            <a:pPr marL="0" lvl="0" indent="0" eaLnBrk="0" fontAlgn="base" hangingPunct="0">
              <a:lnSpc>
                <a:spcPct val="100000"/>
              </a:lnSpc>
              <a:spcBef>
                <a:spcPct val="0"/>
              </a:spcBef>
              <a:spcAft>
                <a:spcPct val="0"/>
              </a:spcAft>
              <a:buClrTx/>
              <a:buSzTx/>
              <a:buFontTx/>
              <a:buChar char="•"/>
            </a:pPr>
            <a:r>
              <a:rPr lang="en-US" altLang="en-US" sz="1400" b="1" dirty="0">
                <a:solidFill>
                  <a:schemeClr val="tx1"/>
                </a:solidFill>
                <a:latin typeface="Times New Roman" panose="02020603050405020304" pitchFamily="18" charset="0"/>
                <a:cs typeface="Times New Roman" panose="02020603050405020304" pitchFamily="18" charset="0"/>
              </a:rPr>
              <a:t>Data Integrity:</a:t>
            </a:r>
            <a:r>
              <a:rPr lang="en-US" altLang="en-US" sz="1400" dirty="0">
                <a:solidFill>
                  <a:schemeClr val="tx1"/>
                </a:solidFill>
                <a:latin typeface="Times New Roman" panose="02020603050405020304" pitchFamily="18" charset="0"/>
                <a:cs typeface="Times New Roman" panose="02020603050405020304" pitchFamily="18" charset="0"/>
              </a:rPr>
              <a:t> Each node validates data independently.</a:t>
            </a:r>
          </a:p>
          <a:p>
            <a:pPr marL="0" lvl="0" indent="0" eaLnBrk="0" fontAlgn="base" hangingPunct="0">
              <a:lnSpc>
                <a:spcPct val="100000"/>
              </a:lnSpc>
              <a:spcBef>
                <a:spcPct val="0"/>
              </a:spcBef>
              <a:spcAft>
                <a:spcPct val="0"/>
              </a:spcAft>
              <a:buClrTx/>
              <a:buSzTx/>
              <a:buNone/>
            </a:pPr>
            <a:endParaRPr lang="en-US" altLang="en-US" sz="1400" b="1"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None/>
            </a:pPr>
            <a:r>
              <a:rPr lang="en-US" altLang="en-US" sz="1400" b="1" dirty="0">
                <a:solidFill>
                  <a:schemeClr val="tx1"/>
                </a:solidFill>
                <a:latin typeface="Times New Roman" panose="02020603050405020304" pitchFamily="18" charset="0"/>
                <a:cs typeface="Times New Roman" panose="02020603050405020304" pitchFamily="18" charset="0"/>
              </a:rPr>
              <a:t> Advantages:</a:t>
            </a:r>
          </a:p>
          <a:p>
            <a:pPr marL="0" lvl="0" indent="0" eaLnBrk="0" fontAlgn="base" hangingPunct="0">
              <a:lnSpc>
                <a:spcPct val="100000"/>
              </a:lnSpc>
              <a:spcBef>
                <a:spcPct val="0"/>
              </a:spcBef>
              <a:spcAft>
                <a:spcPct val="0"/>
              </a:spcAft>
              <a:buClrTx/>
              <a:buSzTx/>
              <a:buFontTx/>
              <a:buChar char="•"/>
            </a:pPr>
            <a:r>
              <a:rPr lang="en-US" altLang="en-US" sz="1400" dirty="0">
                <a:solidFill>
                  <a:schemeClr val="tx1"/>
                </a:solidFill>
                <a:latin typeface="Times New Roman" panose="02020603050405020304" pitchFamily="18" charset="0"/>
                <a:cs typeface="Times New Roman" panose="02020603050405020304" pitchFamily="18" charset="0"/>
              </a:rPr>
              <a:t>Improved </a:t>
            </a:r>
            <a:r>
              <a:rPr lang="en-US" altLang="en-US" sz="1400" b="1" dirty="0">
                <a:solidFill>
                  <a:schemeClr val="tx1"/>
                </a:solidFill>
                <a:latin typeface="Times New Roman" panose="02020603050405020304" pitchFamily="18" charset="0"/>
                <a:cs typeface="Times New Roman" panose="02020603050405020304" pitchFamily="18" charset="0"/>
              </a:rPr>
              <a:t>resilience</a:t>
            </a:r>
            <a:r>
              <a:rPr lang="en-US" altLang="en-US" sz="1400" dirty="0">
                <a:solidFill>
                  <a:schemeClr val="tx1"/>
                </a:solidFill>
                <a:latin typeface="Times New Roman" panose="02020603050405020304" pitchFamily="18" charset="0"/>
                <a:cs typeface="Times New Roman" panose="02020603050405020304" pitchFamily="18" charset="0"/>
              </a:rPr>
              <a:t> and </a:t>
            </a:r>
            <a:r>
              <a:rPr lang="en-US" altLang="en-US" sz="1400" b="1" dirty="0">
                <a:solidFill>
                  <a:schemeClr val="tx1"/>
                </a:solidFill>
                <a:latin typeface="Times New Roman" panose="02020603050405020304" pitchFamily="18" charset="0"/>
                <a:cs typeface="Times New Roman" panose="02020603050405020304" pitchFamily="18" charset="0"/>
              </a:rPr>
              <a:t>security</a:t>
            </a:r>
            <a:endParaRPr lang="en-US" altLang="en-US" sz="14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r>
              <a:rPr lang="en-US" altLang="en-US" sz="1400" b="1" dirty="0">
                <a:solidFill>
                  <a:schemeClr val="tx1"/>
                </a:solidFill>
                <a:latin typeface="Times New Roman" panose="02020603050405020304" pitchFamily="18" charset="0"/>
                <a:cs typeface="Times New Roman" panose="02020603050405020304" pitchFamily="18" charset="0"/>
              </a:rPr>
              <a:t>Censorship resistance</a:t>
            </a:r>
            <a:r>
              <a:rPr lang="en-US" altLang="en-US" sz="1400" dirty="0">
                <a:solidFill>
                  <a:schemeClr val="tx1"/>
                </a:solidFill>
                <a:latin typeface="Times New Roman" panose="02020603050405020304" pitchFamily="18" charset="0"/>
                <a:cs typeface="Times New Roman" panose="02020603050405020304" pitchFamily="18" charset="0"/>
              </a:rPr>
              <a:t> — no one can unilaterally control the system</a:t>
            </a:r>
          </a:p>
          <a:p>
            <a:pPr marL="0" lvl="0" indent="0" eaLnBrk="0" fontAlgn="base" hangingPunct="0">
              <a:lnSpc>
                <a:spcPct val="100000"/>
              </a:lnSpc>
              <a:spcBef>
                <a:spcPct val="0"/>
              </a:spcBef>
              <a:spcAft>
                <a:spcPct val="0"/>
              </a:spcAft>
              <a:buClrTx/>
              <a:buSzTx/>
              <a:buFontTx/>
              <a:buChar char="•"/>
            </a:pPr>
            <a:r>
              <a:rPr lang="en-US" altLang="en-US" sz="1400" dirty="0">
                <a:solidFill>
                  <a:schemeClr val="tx1"/>
                </a:solidFill>
                <a:latin typeface="Times New Roman" panose="02020603050405020304" pitchFamily="18" charset="0"/>
                <a:cs typeface="Times New Roman" panose="02020603050405020304" pitchFamily="18" charset="0"/>
              </a:rPr>
              <a:t>Enables </a:t>
            </a:r>
            <a:r>
              <a:rPr lang="en-US" altLang="en-US" sz="1400" b="1" dirty="0">
                <a:solidFill>
                  <a:schemeClr val="tx1"/>
                </a:solidFill>
                <a:latin typeface="Times New Roman" panose="02020603050405020304" pitchFamily="18" charset="0"/>
                <a:cs typeface="Times New Roman" panose="02020603050405020304" pitchFamily="18" charset="0"/>
              </a:rPr>
              <a:t>global cooperation</a:t>
            </a:r>
            <a:r>
              <a:rPr lang="en-US" altLang="en-US" sz="1400" dirty="0">
                <a:solidFill>
                  <a:schemeClr val="tx1"/>
                </a:solidFill>
                <a:latin typeface="Times New Roman" panose="02020603050405020304" pitchFamily="18" charset="0"/>
                <a:cs typeface="Times New Roman" panose="02020603050405020304" pitchFamily="18" charset="0"/>
              </a:rPr>
              <a:t> without intermediaries</a:t>
            </a:r>
          </a:p>
          <a:p>
            <a:pPr marL="0" lvl="0" indent="0" eaLnBrk="0" fontAlgn="base" hangingPunct="0">
              <a:lnSpc>
                <a:spcPct val="100000"/>
              </a:lnSpc>
              <a:spcBef>
                <a:spcPct val="0"/>
              </a:spcBef>
              <a:spcAft>
                <a:spcPct val="0"/>
              </a:spcAft>
              <a:buClrTx/>
              <a:buSzTx/>
              <a:buNone/>
            </a:pPr>
            <a:endParaRPr lang="en-US" altLang="en-US" sz="1400" b="1"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None/>
            </a:pPr>
            <a:r>
              <a:rPr lang="en-US" altLang="en-US" sz="1400" b="1" dirty="0">
                <a:solidFill>
                  <a:schemeClr val="tx1"/>
                </a:solidFill>
                <a:latin typeface="Times New Roman" panose="02020603050405020304" pitchFamily="18" charset="0"/>
                <a:cs typeface="Times New Roman" panose="02020603050405020304" pitchFamily="18" charset="0"/>
              </a:rPr>
              <a:t> Real-World Examples:</a:t>
            </a:r>
          </a:p>
          <a:p>
            <a:pPr marL="0" lvl="0" indent="0" eaLnBrk="0" fontAlgn="base" hangingPunct="0">
              <a:lnSpc>
                <a:spcPct val="100000"/>
              </a:lnSpc>
              <a:spcBef>
                <a:spcPct val="0"/>
              </a:spcBef>
              <a:spcAft>
                <a:spcPct val="0"/>
              </a:spcAft>
              <a:buClrTx/>
              <a:buSzTx/>
              <a:buFontTx/>
              <a:buChar char="•"/>
            </a:pPr>
            <a:r>
              <a:rPr lang="en-US" altLang="en-US" sz="1400" dirty="0">
                <a:solidFill>
                  <a:schemeClr val="tx1"/>
                </a:solidFill>
                <a:latin typeface="Times New Roman" panose="02020603050405020304" pitchFamily="18" charset="0"/>
                <a:cs typeface="Times New Roman" panose="02020603050405020304" pitchFamily="18" charset="0"/>
              </a:rPr>
              <a:t>Blockchain (Bitcoin, Ethereum)</a:t>
            </a:r>
          </a:p>
          <a:p>
            <a:pPr marL="0" lvl="0" indent="0" eaLnBrk="0" fontAlgn="base" hangingPunct="0">
              <a:lnSpc>
                <a:spcPct val="100000"/>
              </a:lnSpc>
              <a:spcBef>
                <a:spcPct val="0"/>
              </a:spcBef>
              <a:spcAft>
                <a:spcPct val="0"/>
              </a:spcAft>
              <a:buClrTx/>
              <a:buSzTx/>
              <a:buFontTx/>
              <a:buChar char="•"/>
            </a:pPr>
            <a:r>
              <a:rPr lang="en-US" altLang="en-US" sz="1400" dirty="0">
                <a:solidFill>
                  <a:schemeClr val="tx1"/>
                </a:solidFill>
                <a:latin typeface="Times New Roman" panose="02020603050405020304" pitchFamily="18" charset="0"/>
                <a:cs typeface="Times New Roman" panose="02020603050405020304" pitchFamily="18" charset="0"/>
              </a:rPr>
              <a:t>Peer-to-peer file sharing (BitTorrent)</a:t>
            </a:r>
          </a:p>
          <a:p>
            <a:pPr marL="0" lvl="0" indent="0" eaLnBrk="0" fontAlgn="base" hangingPunct="0">
              <a:lnSpc>
                <a:spcPct val="100000"/>
              </a:lnSpc>
              <a:spcBef>
                <a:spcPct val="0"/>
              </a:spcBef>
              <a:spcAft>
                <a:spcPct val="0"/>
              </a:spcAft>
              <a:buClrTx/>
              <a:buSzTx/>
              <a:buFontTx/>
              <a:buChar char="•"/>
            </a:pPr>
            <a:r>
              <a:rPr lang="en-US" altLang="en-US" sz="1400" dirty="0">
                <a:solidFill>
                  <a:schemeClr val="tx1"/>
                </a:solidFill>
                <a:latin typeface="Times New Roman" panose="02020603050405020304" pitchFamily="18" charset="0"/>
                <a:cs typeface="Times New Roman" panose="02020603050405020304" pitchFamily="18" charset="0"/>
              </a:rPr>
              <a:t>Federated systems (Mastodon, Matrix)</a:t>
            </a:r>
          </a:p>
          <a:p>
            <a:endParaRPr lang="en-IN" dirty="0"/>
          </a:p>
        </p:txBody>
      </p:sp>
      <p:sp>
        <p:nvSpPr>
          <p:cNvPr id="5" name="Rectangle 2">
            <a:extLst>
              <a:ext uri="{FF2B5EF4-FFF2-40B4-BE49-F238E27FC236}">
                <a16:creationId xmlns:a16="http://schemas.microsoft.com/office/drawing/2014/main" id="{023C62DB-A20E-09E8-1189-9CB570D70441}"/>
              </a:ext>
            </a:extLst>
          </p:cNvPr>
          <p:cNvSpPr>
            <a:spLocks noChangeArrowheads="1"/>
          </p:cNvSpPr>
          <p:nvPr/>
        </p:nvSpPr>
        <p:spPr bwMode="auto">
          <a:xfrm>
            <a:off x="0" y="45720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21340914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4DC207F-BB4B-8162-A03A-E392D97BCA5D}"/>
              </a:ext>
            </a:extLst>
          </p:cNvPr>
          <p:cNvPicPr>
            <a:picLocks noGrp="1" noChangeAspect="1"/>
          </p:cNvPicPr>
          <p:nvPr>
            <p:ph idx="1"/>
          </p:nvPr>
        </p:nvPicPr>
        <p:blipFill>
          <a:blip r:embed="rId2"/>
          <a:stretch>
            <a:fillRect/>
          </a:stretch>
        </p:blipFill>
        <p:spPr>
          <a:xfrm>
            <a:off x="1188720" y="1693863"/>
            <a:ext cx="7932420" cy="4022725"/>
          </a:xfrm>
        </p:spPr>
      </p:pic>
    </p:spTree>
    <p:extLst>
      <p:ext uri="{BB962C8B-B14F-4D97-AF65-F5344CB8AC3E}">
        <p14:creationId xmlns:p14="http://schemas.microsoft.com/office/powerpoint/2010/main" val="18302691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D17CB-474E-C145-645F-1C1B8A97749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435063F-E192-C457-D6A7-820BCF107765}"/>
              </a:ext>
            </a:extLst>
          </p:cNvPr>
          <p:cNvSpPr>
            <a:spLocks noGrp="1"/>
          </p:cNvSpPr>
          <p:nvPr>
            <p:ph idx="1"/>
          </p:nvPr>
        </p:nvSpPr>
        <p:spPr/>
        <p:txBody>
          <a:bodyPr/>
          <a:lstStyle/>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Removes dependency on centralized authorities</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Enables peer-to-peer trust through technology</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Builds trust using consensus mechanisms, not institutions</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Example use case: Online transaction secured by blockchain instead of banks</a:t>
            </a:r>
          </a:p>
          <a:p>
            <a:endParaRPr lang="en-IN" dirty="0"/>
          </a:p>
        </p:txBody>
      </p:sp>
    </p:spTree>
    <p:extLst>
      <p:ext uri="{BB962C8B-B14F-4D97-AF65-F5344CB8AC3E}">
        <p14:creationId xmlns:p14="http://schemas.microsoft.com/office/powerpoint/2010/main" val="7846271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8DC5A-C6A5-0C50-2D4D-7405560ACD51}"/>
              </a:ext>
            </a:extLst>
          </p:cNvPr>
          <p:cNvSpPr>
            <a:spLocks noGrp="1"/>
          </p:cNvSpPr>
          <p:nvPr>
            <p:ph type="title"/>
          </p:nvPr>
        </p:nvSpPr>
        <p:spPr>
          <a:xfrm>
            <a:off x="604935" y="393117"/>
            <a:ext cx="4293637" cy="763879"/>
          </a:xfrm>
          <a:effectLst>
            <a:outerShdw blurRad="50800" dist="38100" dir="5400000" algn="t" rotWithShape="0">
              <a:prstClr val="black">
                <a:alpha val="40000"/>
              </a:prstClr>
            </a:outerShdw>
          </a:effectLst>
        </p:spPr>
        <p:txBody>
          <a:bodyPr>
            <a:normAutofit/>
          </a:bodyPr>
          <a:lstStyle/>
          <a:p>
            <a:r>
              <a:rPr lang="en-US" sz="3200" b="1" dirty="0">
                <a:latin typeface="Times New Roman" panose="02020603050405020304" pitchFamily="18" charset="0"/>
                <a:cs typeface="Times New Roman" panose="02020603050405020304" pitchFamily="18" charset="0"/>
              </a:rPr>
              <a:t>What is Blockchain?</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72E629E-0C20-B930-43AC-FE2A083E52DA}"/>
              </a:ext>
            </a:extLst>
          </p:cNvPr>
          <p:cNvSpPr>
            <a:spLocks noGrp="1"/>
          </p:cNvSpPr>
          <p:nvPr>
            <p:ph idx="1"/>
          </p:nvPr>
        </p:nvSpPr>
        <p:spPr>
          <a:xfrm>
            <a:off x="889232" y="1617225"/>
            <a:ext cx="10268125" cy="3130944"/>
          </a:xfrm>
        </p:spPr>
        <p:txBody>
          <a:bodyPr>
            <a:normAutofit/>
          </a:bodyPr>
          <a:lstStyle/>
          <a:p>
            <a:pPr>
              <a:lnSpc>
                <a:spcPct val="150000"/>
              </a:lnSpc>
            </a:pPr>
            <a:r>
              <a:rPr lang="en-US" sz="1400" dirty="0">
                <a:solidFill>
                  <a:srgbClr val="010304"/>
                </a:solidFill>
                <a:latin typeface="Times New Roman" panose="02020603050405020304" pitchFamily="18" charset="0"/>
                <a:cs typeface="Times New Roman" panose="02020603050405020304" pitchFamily="18" charset="0"/>
              </a:rPr>
              <a:t>A</a:t>
            </a:r>
            <a:r>
              <a:rPr lang="en-US" sz="1400" b="0" i="0" dirty="0">
                <a:solidFill>
                  <a:srgbClr val="010304"/>
                </a:solidFill>
                <a:effectLst/>
                <a:latin typeface="Times New Roman" panose="02020603050405020304" pitchFamily="18" charset="0"/>
                <a:cs typeface="Times New Roman" panose="02020603050405020304" pitchFamily="18" charset="0"/>
              </a:rPr>
              <a:t> blockchain is </a:t>
            </a:r>
            <a:r>
              <a:rPr lang="en-US" sz="1400" b="0" i="0" dirty="0">
                <a:solidFill>
                  <a:srgbClr val="C00000"/>
                </a:solidFill>
                <a:effectLst/>
                <a:latin typeface="Times New Roman" panose="02020603050405020304" pitchFamily="18" charset="0"/>
                <a:cs typeface="Times New Roman" panose="02020603050405020304" pitchFamily="18" charset="0"/>
              </a:rPr>
              <a:t>a shared ledger of data </a:t>
            </a:r>
            <a:r>
              <a:rPr lang="en-US" sz="1400" b="0" i="0" dirty="0">
                <a:solidFill>
                  <a:srgbClr val="010304"/>
                </a:solidFill>
                <a:effectLst/>
                <a:latin typeface="Times New Roman" panose="02020603050405020304" pitchFamily="18" charset="0"/>
                <a:cs typeface="Times New Roman" panose="02020603050405020304" pitchFamily="18" charset="0"/>
              </a:rPr>
              <a:t>— e.g., transactions or code — that are batched into blocks, verified, and subsequently accepted as part of the blockchain by a network of distributed users through a consensus mechanism.</a:t>
            </a:r>
          </a:p>
          <a:p>
            <a:pPr>
              <a:lnSpc>
                <a:spcPct val="150000"/>
              </a:lnSpc>
            </a:pPr>
            <a:r>
              <a:rPr lang="en-US" sz="1400" b="0" i="0" dirty="0">
                <a:solidFill>
                  <a:srgbClr val="010304"/>
                </a:solidFill>
                <a:effectLst/>
                <a:latin typeface="Times New Roman" panose="02020603050405020304" pitchFamily="18" charset="0"/>
                <a:cs typeface="Times New Roman" panose="02020603050405020304" pitchFamily="18" charset="0"/>
              </a:rPr>
              <a:t> Because each block of verified data contains a unique signature of data from the previous block, they are inextricably linked together into a “</a:t>
            </a:r>
            <a:r>
              <a:rPr lang="en-US" sz="1400" b="0" i="0" dirty="0">
                <a:solidFill>
                  <a:srgbClr val="C00000"/>
                </a:solidFill>
                <a:effectLst/>
                <a:latin typeface="Times New Roman" panose="02020603050405020304" pitchFamily="18" charset="0"/>
                <a:cs typeface="Times New Roman" panose="02020603050405020304" pitchFamily="18" charset="0"/>
              </a:rPr>
              <a:t>block-chain</a:t>
            </a:r>
            <a:r>
              <a:rPr lang="en-US" sz="1400" b="0" i="0" dirty="0">
                <a:solidFill>
                  <a:srgbClr val="010304"/>
                </a:solidFill>
                <a:effectLst/>
                <a:latin typeface="Times New Roman" panose="02020603050405020304" pitchFamily="18" charset="0"/>
                <a:cs typeface="Times New Roman" panose="02020603050405020304" pitchFamily="18" charset="0"/>
              </a:rPr>
              <a:t>.” </a:t>
            </a:r>
            <a:endParaRPr lang="en-US" sz="1400" dirty="0">
              <a:solidFill>
                <a:srgbClr val="010304"/>
              </a:solidFill>
              <a:latin typeface="Times New Roman" panose="02020603050405020304" pitchFamily="18" charset="0"/>
              <a:cs typeface="Times New Roman" panose="02020603050405020304" pitchFamily="18" charset="0"/>
            </a:endParaRPr>
          </a:p>
          <a:p>
            <a:pPr>
              <a:lnSpc>
                <a:spcPct val="150000"/>
              </a:lnSpc>
            </a:pPr>
            <a:r>
              <a:rPr lang="en-US" sz="1400" b="0" i="0" dirty="0">
                <a:solidFill>
                  <a:srgbClr val="010304"/>
                </a:solidFill>
                <a:effectLst/>
                <a:latin typeface="Times New Roman" panose="02020603050405020304" pitchFamily="18" charset="0"/>
                <a:cs typeface="Times New Roman" panose="02020603050405020304" pitchFamily="18" charset="0"/>
              </a:rPr>
              <a:t>A network-based consensus mechanism is the way a blockchain protocol agrees on how its underlying technical architecture will operate.</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40318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Traditional Approach</a:t>
            </a:r>
          </a:p>
        </p:txBody>
      </p:sp>
      <p:pic>
        <p:nvPicPr>
          <p:cNvPr id="5" name="Picture 6" descr="Electronic Health Records for Emergency Services | ES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3913" y="3403158"/>
            <a:ext cx="1983879" cy="111468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5600" y="2817671"/>
            <a:ext cx="1728192" cy="1728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7" name="Straight Arrow Connector 6"/>
          <p:cNvCxnSpPr>
            <a:stCxn id="5" idx="3"/>
          </p:cNvCxnSpPr>
          <p:nvPr/>
        </p:nvCxnSpPr>
        <p:spPr>
          <a:xfrm>
            <a:off x="7287792" y="3960503"/>
            <a:ext cx="1040457" cy="1"/>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pic>
        <p:nvPicPr>
          <p:cNvPr id="11"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00256" y="2852936"/>
            <a:ext cx="1728192" cy="1728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2" name="Straight Arrow Connector 11"/>
          <p:cNvCxnSpPr/>
          <p:nvPr/>
        </p:nvCxnSpPr>
        <p:spPr>
          <a:xfrm>
            <a:off x="4007769" y="3982784"/>
            <a:ext cx="1040457" cy="1"/>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37587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Blockchain Approach</a:t>
            </a:r>
          </a:p>
        </p:txBody>
      </p:sp>
      <p:pic>
        <p:nvPicPr>
          <p:cNvPr id="6"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5600" y="2817671"/>
            <a:ext cx="1728192" cy="1728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00256" y="2852936"/>
            <a:ext cx="1728192" cy="1728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2" name="Straight Arrow Connector 11"/>
          <p:cNvCxnSpPr/>
          <p:nvPr/>
        </p:nvCxnSpPr>
        <p:spPr>
          <a:xfrm>
            <a:off x="4007768" y="3982784"/>
            <a:ext cx="4680520" cy="1"/>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894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6146" name="Picture 2" descr="Blockchain &amp; Distributed Ledger Technology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7279" y="286603"/>
            <a:ext cx="10058399" cy="55906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77189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43864" y="1027664"/>
            <a:ext cx="7024744" cy="1143000"/>
          </a:xfrm>
        </p:spPr>
        <p:txBody>
          <a:bodyPr>
            <a:normAutofit fontScale="90000"/>
          </a:bodyPr>
          <a:lstStyle/>
          <a:p>
            <a:r>
              <a:rPr lang="en-IN" dirty="0">
                <a:latin typeface="Times New Roman" pitchFamily="18" charset="0"/>
                <a:cs typeface="Times New Roman" pitchFamily="18" charset="0"/>
              </a:rPr>
              <a:t>Why Blockchain?</a:t>
            </a:r>
            <a:br>
              <a:rPr lang="en-IN" dirty="0">
                <a:latin typeface="Times New Roman" pitchFamily="18" charset="0"/>
                <a:cs typeface="Times New Roman" pitchFamily="18" charset="0"/>
              </a:rPr>
            </a:br>
            <a:endParaRPr lang="en-IN" dirty="0"/>
          </a:p>
        </p:txBody>
      </p:sp>
      <p:sp>
        <p:nvSpPr>
          <p:cNvPr id="5" name="Oval 4"/>
          <p:cNvSpPr/>
          <p:nvPr/>
        </p:nvSpPr>
        <p:spPr>
          <a:xfrm>
            <a:off x="2567608" y="1700808"/>
            <a:ext cx="2016224" cy="1008112"/>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itchFamily="18" charset="0"/>
                <a:cs typeface="Times New Roman" pitchFamily="18" charset="0"/>
              </a:rPr>
              <a:t>Validate</a:t>
            </a:r>
          </a:p>
        </p:txBody>
      </p:sp>
      <p:sp>
        <p:nvSpPr>
          <p:cNvPr id="6" name="Oval 5"/>
          <p:cNvSpPr/>
          <p:nvPr/>
        </p:nvSpPr>
        <p:spPr>
          <a:xfrm>
            <a:off x="2567608" y="2924944"/>
            <a:ext cx="2016224" cy="1008112"/>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itchFamily="18" charset="0"/>
                <a:cs typeface="Times New Roman" pitchFamily="18" charset="0"/>
              </a:rPr>
              <a:t>Consensus</a:t>
            </a:r>
          </a:p>
        </p:txBody>
      </p:sp>
      <p:sp>
        <p:nvSpPr>
          <p:cNvPr id="7" name="Oval 6"/>
          <p:cNvSpPr/>
          <p:nvPr/>
        </p:nvSpPr>
        <p:spPr>
          <a:xfrm>
            <a:off x="2567608" y="4125028"/>
            <a:ext cx="2016224" cy="1008112"/>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itchFamily="18" charset="0"/>
                <a:cs typeface="Times New Roman" pitchFamily="18" charset="0"/>
              </a:rPr>
              <a:t>Security</a:t>
            </a:r>
          </a:p>
        </p:txBody>
      </p:sp>
      <p:sp>
        <p:nvSpPr>
          <p:cNvPr id="8" name="Oval 7"/>
          <p:cNvSpPr/>
          <p:nvPr/>
        </p:nvSpPr>
        <p:spPr>
          <a:xfrm>
            <a:off x="2567608" y="5373216"/>
            <a:ext cx="2016224" cy="1008112"/>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itchFamily="18" charset="0"/>
                <a:cs typeface="Times New Roman" pitchFamily="18" charset="0"/>
              </a:rPr>
              <a:t>Immutable Record</a:t>
            </a:r>
          </a:p>
        </p:txBody>
      </p:sp>
      <p:sp>
        <p:nvSpPr>
          <p:cNvPr id="9" name="Right Arrow 8"/>
          <p:cNvSpPr/>
          <p:nvPr/>
        </p:nvSpPr>
        <p:spPr>
          <a:xfrm rot="1279486">
            <a:off x="4560870" y="2639453"/>
            <a:ext cx="2542378" cy="4192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itchFamily="18" charset="0"/>
              <a:cs typeface="Times New Roman" pitchFamily="18" charset="0"/>
            </a:endParaRPr>
          </a:p>
        </p:txBody>
      </p:sp>
      <p:sp>
        <p:nvSpPr>
          <p:cNvPr id="10" name="Right Arrow 9"/>
          <p:cNvSpPr/>
          <p:nvPr/>
        </p:nvSpPr>
        <p:spPr>
          <a:xfrm rot="500883">
            <a:off x="4674076" y="3449957"/>
            <a:ext cx="2303167" cy="4192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itchFamily="18" charset="0"/>
              <a:cs typeface="Times New Roman" pitchFamily="18" charset="0"/>
            </a:endParaRPr>
          </a:p>
        </p:txBody>
      </p:sp>
      <p:sp>
        <p:nvSpPr>
          <p:cNvPr id="11" name="Right Arrow 10"/>
          <p:cNvSpPr/>
          <p:nvPr/>
        </p:nvSpPr>
        <p:spPr>
          <a:xfrm rot="20886853">
            <a:off x="4673375" y="4295325"/>
            <a:ext cx="2326175" cy="4192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itchFamily="18" charset="0"/>
              <a:cs typeface="Times New Roman" pitchFamily="18" charset="0"/>
            </a:endParaRPr>
          </a:p>
        </p:txBody>
      </p:sp>
      <p:sp>
        <p:nvSpPr>
          <p:cNvPr id="12" name="Right Arrow 11"/>
          <p:cNvSpPr/>
          <p:nvPr/>
        </p:nvSpPr>
        <p:spPr>
          <a:xfrm rot="20458355">
            <a:off x="4579616" y="5090763"/>
            <a:ext cx="2552444" cy="4192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itchFamily="18" charset="0"/>
              <a:cs typeface="Times New Roman" pitchFamily="18" charset="0"/>
            </a:endParaRPr>
          </a:p>
        </p:txBody>
      </p:sp>
      <p:sp>
        <p:nvSpPr>
          <p:cNvPr id="13" name="Oval 12"/>
          <p:cNvSpPr/>
          <p:nvPr/>
        </p:nvSpPr>
        <p:spPr>
          <a:xfrm>
            <a:off x="7320136" y="3501008"/>
            <a:ext cx="2016224" cy="1008112"/>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itchFamily="18" charset="0"/>
                <a:cs typeface="Times New Roman" pitchFamily="18" charset="0"/>
              </a:rPr>
              <a:t>Developed Trust</a:t>
            </a:r>
          </a:p>
        </p:txBody>
      </p:sp>
    </p:spTree>
    <p:extLst>
      <p:ext uri="{BB962C8B-B14F-4D97-AF65-F5344CB8AC3E}">
        <p14:creationId xmlns:p14="http://schemas.microsoft.com/office/powerpoint/2010/main" val="1939212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barn(inVertical)">
                                      <p:cBhvr>
                                        <p:cTn id="35" dur="500"/>
                                        <p:tgtEl>
                                          <p:spTgt spid="9"/>
                                        </p:tgtEl>
                                      </p:cBhvr>
                                    </p:animEffect>
                                  </p:childTnLst>
                                </p:cTn>
                              </p:par>
                              <p:par>
                                <p:cTn id="36" presetID="16" presetClass="entr" presetSubtype="21"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barn(inVertical)">
                                      <p:cBhvr>
                                        <p:cTn id="38" dur="500"/>
                                        <p:tgtEl>
                                          <p:spTgt spid="10"/>
                                        </p:tgtEl>
                                      </p:cBhvr>
                                    </p:animEffect>
                                  </p:childTnLst>
                                </p:cTn>
                              </p:par>
                              <p:par>
                                <p:cTn id="39" presetID="16" presetClass="entr" presetSubtype="21"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barn(inVertical)">
                                      <p:cBhvr>
                                        <p:cTn id="41" dur="500"/>
                                        <p:tgtEl>
                                          <p:spTgt spid="11"/>
                                        </p:tgtEl>
                                      </p:cBhvr>
                                    </p:animEffect>
                                  </p:childTnLst>
                                </p:cTn>
                              </p:par>
                              <p:par>
                                <p:cTn id="42" presetID="16" presetClass="entr" presetSubtype="21"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barn(inVertical)">
                                      <p:cBhvr>
                                        <p:cTn id="44" dur="500"/>
                                        <p:tgtEl>
                                          <p:spTgt spid="12"/>
                                        </p:tgtEl>
                                      </p:cBhvr>
                                    </p:animEffect>
                                  </p:childTnLst>
                                </p:cTn>
                              </p:par>
                            </p:childTnLst>
                          </p:cTn>
                        </p:par>
                      </p:childTnLst>
                    </p:cTn>
                  </p:par>
                  <p:par>
                    <p:cTn id="45" fill="hold">
                      <p:stCondLst>
                        <p:cond delay="indefinite"/>
                      </p:stCondLst>
                      <p:childTnLst>
                        <p:par>
                          <p:cTn id="46" fill="hold">
                            <p:stCondLst>
                              <p:cond delay="0"/>
                            </p:stCondLst>
                            <p:childTnLst>
                              <p:par>
                                <p:cTn id="47" presetID="21" presetClass="entr" presetSubtype="1"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wheel(1)">
                                      <p:cBhvr>
                                        <p:cTn id="49"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1026" name="Picture 2" descr="Pulling the Blockchain apart.. The transaction life-cyc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7489" y="-48053"/>
            <a:ext cx="9293755" cy="69334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63230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2" descr="C:\Users\Rahul_Sonkamble\Downloads\imag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1806" y="3861048"/>
            <a:ext cx="578371" cy="75723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C:\Users\Rahul_Sonkamble\Downloads\imag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7590" y="3878473"/>
            <a:ext cx="722387" cy="757238"/>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C:\Users\Rahul_Sonkamble\Downloads\imag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2914" y="3878473"/>
            <a:ext cx="722387" cy="75723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a:bodyPr>
          <a:lstStyle/>
          <a:p>
            <a:r>
              <a:rPr lang="en-IN" sz="2800" dirty="0">
                <a:latin typeface="Times New Roman" pitchFamily="18" charset="0"/>
                <a:cs typeface="Times New Roman" pitchFamily="18" charset="0"/>
              </a:rPr>
              <a:t>Blockchain Introduction</a:t>
            </a:r>
          </a:p>
        </p:txBody>
      </p:sp>
      <p:sp>
        <p:nvSpPr>
          <p:cNvPr id="3" name="Content Placeholder 2"/>
          <p:cNvSpPr>
            <a:spLocks noGrp="1"/>
          </p:cNvSpPr>
          <p:nvPr>
            <p:ph idx="1"/>
          </p:nvPr>
        </p:nvSpPr>
        <p:spPr>
          <a:xfrm>
            <a:off x="1386841" y="1988841"/>
            <a:ext cx="7957970" cy="3508977"/>
          </a:xfrm>
        </p:spPr>
        <p:txBody>
          <a:bodyPr/>
          <a:lstStyle/>
          <a:p>
            <a:r>
              <a:rPr lang="en-IN" sz="1400" dirty="0">
                <a:latin typeface="Times New Roman" pitchFamily="18" charset="0"/>
                <a:cs typeface="Times New Roman" pitchFamily="18" charset="0"/>
              </a:rPr>
              <a:t>Basic Element is Transaction &amp; its broadcast</a:t>
            </a:r>
          </a:p>
          <a:p>
            <a:r>
              <a:rPr lang="en-IN" sz="1400" dirty="0">
                <a:latin typeface="Times New Roman" pitchFamily="18" charset="0"/>
                <a:cs typeface="Times New Roman" pitchFamily="18" charset="0"/>
              </a:rPr>
              <a:t>Many transactions form block</a:t>
            </a:r>
          </a:p>
          <a:p>
            <a:r>
              <a:rPr lang="en-IN" sz="1400" dirty="0">
                <a:latin typeface="Times New Roman" pitchFamily="18" charset="0"/>
                <a:cs typeface="Times New Roman" pitchFamily="18" charset="0"/>
              </a:rPr>
              <a:t>Blocks will be validated before adding in chain</a:t>
            </a:r>
          </a:p>
          <a:p>
            <a:r>
              <a:rPr lang="en-IN" sz="1400" dirty="0">
                <a:latin typeface="Times New Roman" pitchFamily="18" charset="0"/>
                <a:cs typeface="Times New Roman" pitchFamily="18" charset="0"/>
                <a:hlinkClick r:id="rId3"/>
              </a:rPr>
              <a:t>https://youtu.be/SSo_EIwHSd4?si=qA_vKyKLgXUNWkG_</a:t>
            </a:r>
            <a:endParaRPr lang="en-IN" sz="1400" dirty="0">
              <a:latin typeface="Times New Roman" pitchFamily="18" charset="0"/>
              <a:cs typeface="Times New Roman" pitchFamily="18" charset="0"/>
            </a:endParaRPr>
          </a:p>
          <a:p>
            <a:endParaRPr lang="en-IN" dirty="0">
              <a:latin typeface="Times New Roman" pitchFamily="18" charset="0"/>
              <a:cs typeface="Times New Roman" pitchFamily="18" charset="0"/>
            </a:endParaRPr>
          </a:p>
          <a:p>
            <a:endParaRPr lang="en-IN" dirty="0">
              <a:latin typeface="Times New Roman" pitchFamily="18" charset="0"/>
              <a:cs typeface="Times New Roman" pitchFamily="18" charset="0"/>
            </a:endParaRPr>
          </a:p>
          <a:p>
            <a:endParaRPr lang="en-IN" dirty="0">
              <a:latin typeface="Times New Roman" pitchFamily="18" charset="0"/>
              <a:cs typeface="Times New Roman" pitchFamily="18" charset="0"/>
            </a:endParaRPr>
          </a:p>
        </p:txBody>
      </p:sp>
      <p:sp>
        <p:nvSpPr>
          <p:cNvPr id="4" name="Cube 3"/>
          <p:cNvSpPr/>
          <p:nvPr/>
        </p:nvSpPr>
        <p:spPr>
          <a:xfrm>
            <a:off x="2351584" y="3717032"/>
            <a:ext cx="1224136" cy="108012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Cube 4"/>
          <p:cNvSpPr/>
          <p:nvPr/>
        </p:nvSpPr>
        <p:spPr>
          <a:xfrm>
            <a:off x="5879976" y="3717032"/>
            <a:ext cx="1224136" cy="108012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Cube 5"/>
          <p:cNvSpPr/>
          <p:nvPr/>
        </p:nvSpPr>
        <p:spPr>
          <a:xfrm>
            <a:off x="4079776" y="3717032"/>
            <a:ext cx="1224136" cy="108012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Cube 8"/>
          <p:cNvSpPr/>
          <p:nvPr/>
        </p:nvSpPr>
        <p:spPr>
          <a:xfrm>
            <a:off x="5293628" y="5038479"/>
            <a:ext cx="1224136" cy="108012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Cube 9"/>
          <p:cNvSpPr/>
          <p:nvPr/>
        </p:nvSpPr>
        <p:spPr>
          <a:xfrm>
            <a:off x="3199872" y="5038479"/>
            <a:ext cx="1224136" cy="108012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18779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circle(in)">
                                      <p:cBhvr>
                                        <p:cTn id="19" dur="20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56" presetClass="path" presetSubtype="0" accel="50000" decel="50000" fill="hold" grpId="0" nodeType="clickEffect">
                                  <p:stCondLst>
                                    <p:cond delay="0"/>
                                  </p:stCondLst>
                                  <p:childTnLst>
                                    <p:animMotion origin="layout" path="M 0 0 L 0.25 -0.25 E" pathEditMode="relative" ptsTypes="">
                                      <p:cBhvr>
                                        <p:cTn id="23" dur="2000" fill="hold"/>
                                        <p:tgtEl>
                                          <p:spTgt spid="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8CBF5AC-38C4-E414-D064-24B62889270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55679" y="494950"/>
            <a:ext cx="10133900" cy="5545123"/>
          </a:xfrm>
        </p:spPr>
      </p:pic>
    </p:spTree>
    <p:extLst>
      <p:ext uri="{BB962C8B-B14F-4D97-AF65-F5344CB8AC3E}">
        <p14:creationId xmlns:p14="http://schemas.microsoft.com/office/powerpoint/2010/main" val="32103316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B4AB6-EB67-B14B-685C-B5BC75C5406A}"/>
              </a:ext>
            </a:extLst>
          </p:cNvPr>
          <p:cNvSpPr>
            <a:spLocks noGrp="1"/>
          </p:cNvSpPr>
          <p:nvPr>
            <p:ph type="title"/>
          </p:nvPr>
        </p:nvSpPr>
        <p:spPr>
          <a:xfrm>
            <a:off x="838200" y="365125"/>
            <a:ext cx="6854687" cy="668545"/>
          </a:xfrm>
          <a:effectLst>
            <a:outerShdw blurRad="50800" dist="38100" dir="5400000" algn="t" rotWithShape="0">
              <a:prstClr val="black">
                <a:alpha val="40000"/>
              </a:prstClr>
            </a:outerShdw>
          </a:effectLst>
        </p:spPr>
        <p:txBody>
          <a:bodyPr>
            <a:normAutofit/>
          </a:bodyPr>
          <a:lstStyle/>
          <a:p>
            <a:r>
              <a:rPr lang="en-US" sz="3200" b="1" dirty="0">
                <a:latin typeface="Times New Roman" panose="02020603050405020304" pitchFamily="18" charset="0"/>
                <a:cs typeface="Times New Roman" panose="02020603050405020304" pitchFamily="18" charset="0"/>
              </a:rPr>
              <a:t>Network Types</a:t>
            </a:r>
            <a:endParaRPr lang="en-IN" sz="3200" b="1" dirty="0">
              <a:latin typeface="Times New Roman" panose="02020603050405020304" pitchFamily="18" charset="0"/>
              <a:cs typeface="Times New Roman" panose="02020603050405020304" pitchFamily="18" charset="0"/>
            </a:endParaRPr>
          </a:p>
        </p:txBody>
      </p:sp>
      <p:pic>
        <p:nvPicPr>
          <p:cNvPr id="4" name="Content Placeholder 3" descr="Chart, diagram, radar chart">
            <a:extLst>
              <a:ext uri="{FF2B5EF4-FFF2-40B4-BE49-F238E27FC236}">
                <a16:creationId xmlns:a16="http://schemas.microsoft.com/office/drawing/2014/main" id="{D2B4EA62-4111-EB06-40A1-2877B3C2C6B5}"/>
              </a:ext>
            </a:extLst>
          </p:cNvPr>
          <p:cNvPicPr>
            <a:picLocks noGrp="1" noChangeAspect="1"/>
          </p:cNvPicPr>
          <p:nvPr>
            <p:ph idx="1"/>
          </p:nvPr>
        </p:nvPicPr>
        <p:blipFill>
          <a:blip r:embed="rId2"/>
          <a:stretch>
            <a:fillRect/>
          </a:stretch>
        </p:blipFill>
        <p:spPr>
          <a:xfrm>
            <a:off x="1222310" y="1903446"/>
            <a:ext cx="9787811" cy="4226767"/>
          </a:xfrm>
          <a:prstGeom prst="rect">
            <a:avLst/>
          </a:prstGeom>
          <a:solidFill>
            <a:schemeClr val="accent1">
              <a:lumMod val="50000"/>
            </a:schemeClr>
          </a:solidFill>
        </p:spPr>
      </p:pic>
    </p:spTree>
    <p:extLst>
      <p:ext uri="{BB962C8B-B14F-4D97-AF65-F5344CB8AC3E}">
        <p14:creationId xmlns:p14="http://schemas.microsoft.com/office/powerpoint/2010/main" val="18630159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38DDD-50C2-7FF8-989F-0C8B58D331BB}"/>
              </a:ext>
            </a:extLst>
          </p:cNvPr>
          <p:cNvSpPr>
            <a:spLocks noGrp="1"/>
          </p:cNvSpPr>
          <p:nvPr>
            <p:ph type="title"/>
          </p:nvPr>
        </p:nvSpPr>
        <p:spPr>
          <a:xfrm>
            <a:off x="838200" y="365125"/>
            <a:ext cx="6993835" cy="827571"/>
          </a:xfrm>
          <a:effectLst>
            <a:outerShdw blurRad="50800" dist="38100" dir="5400000" algn="t" rotWithShape="0">
              <a:prstClr val="black">
                <a:alpha val="40000"/>
              </a:prstClr>
            </a:outerShdw>
          </a:effectLst>
        </p:spPr>
        <p:txBody>
          <a:bodyPr>
            <a:normAutofit fontScale="90000"/>
          </a:bodyPr>
          <a:lstStyle/>
          <a:p>
            <a:br>
              <a:rPr lang="en-US" sz="3600" b="1" dirty="0">
                <a:solidFill>
                  <a:schemeClr val="dk1"/>
                </a:solidFill>
                <a:latin typeface="Times New Roman" panose="02020603050405020304" pitchFamily="18" charset="0"/>
                <a:ea typeface="Quattrocento Sans"/>
                <a:cs typeface="Times New Roman" panose="02020603050405020304" pitchFamily="18" charset="0"/>
                <a:sym typeface="Quattrocento Sans"/>
              </a:rPr>
            </a:br>
            <a:r>
              <a:rPr lang="en-US" sz="3600" b="1" dirty="0">
                <a:solidFill>
                  <a:schemeClr val="dk1"/>
                </a:solidFill>
                <a:latin typeface="Times New Roman" panose="02020603050405020304" pitchFamily="18" charset="0"/>
                <a:ea typeface="Quattrocento Sans"/>
                <a:cs typeface="Times New Roman" panose="02020603050405020304" pitchFamily="18" charset="0"/>
                <a:sym typeface="Quattrocento Sans"/>
              </a:rPr>
              <a:t>Highlights</a:t>
            </a:r>
            <a:br>
              <a:rPr lang="en-US" sz="4400" b="1" dirty="0">
                <a:solidFill>
                  <a:schemeClr val="dk1"/>
                </a:solidFill>
                <a:latin typeface="Quattrocento Sans"/>
                <a:ea typeface="Quattrocento Sans"/>
                <a:cs typeface="Quattrocento Sans"/>
                <a:sym typeface="Quattrocento Sans"/>
              </a:rPr>
            </a:br>
            <a:endParaRPr lang="en-IN" dirty="0"/>
          </a:p>
        </p:txBody>
      </p:sp>
      <p:pic>
        <p:nvPicPr>
          <p:cNvPr id="4" name="Content Placeholder 3">
            <a:extLst>
              <a:ext uri="{FF2B5EF4-FFF2-40B4-BE49-F238E27FC236}">
                <a16:creationId xmlns:a16="http://schemas.microsoft.com/office/drawing/2014/main" id="{77DA5716-EDA1-E8CB-BE4A-EED039CE36DC}"/>
              </a:ext>
            </a:extLst>
          </p:cNvPr>
          <p:cNvPicPr>
            <a:picLocks noGrp="1" noChangeAspect="1"/>
          </p:cNvPicPr>
          <p:nvPr/>
        </p:nvPicPr>
        <p:blipFill>
          <a:blip r:embed="rId2">
            <a:extLst>
              <a:ext uri="{28A0092B-C50C-407E-A947-70E740481C1C}">
                <a14:useLocalDpi xmlns:a14="http://schemas.microsoft.com/office/drawing/2010/main" val="0"/>
              </a:ext>
            </a:extLst>
          </a:blip>
          <a:stretch>
            <a:fillRect/>
          </a:stretch>
        </p:blipFill>
        <p:spPr>
          <a:xfrm>
            <a:off x="697190" y="1192696"/>
            <a:ext cx="10797619" cy="5012161"/>
          </a:xfrm>
          <a:prstGeom prst="rect">
            <a:avLst/>
          </a:prstGeom>
        </p:spPr>
      </p:pic>
    </p:spTree>
    <p:extLst>
      <p:ext uri="{BB962C8B-B14F-4D97-AF65-F5344CB8AC3E}">
        <p14:creationId xmlns:p14="http://schemas.microsoft.com/office/powerpoint/2010/main" val="18106007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1C33862-1A90-B248-0D53-5A02E2D9A11F}"/>
              </a:ext>
            </a:extLst>
          </p:cNvPr>
          <p:cNvPicPr>
            <a:picLocks noGrp="1" noChangeAspect="1"/>
          </p:cNvPicPr>
          <p:nvPr/>
        </p:nvPicPr>
        <p:blipFill>
          <a:blip r:embed="rId2">
            <a:extLst>
              <a:ext uri="{28A0092B-C50C-407E-A947-70E740481C1C}">
                <a14:useLocalDpi xmlns:a14="http://schemas.microsoft.com/office/drawing/2010/main" val="0"/>
              </a:ext>
            </a:extLst>
          </a:blip>
          <a:stretch>
            <a:fillRect/>
          </a:stretch>
        </p:blipFill>
        <p:spPr>
          <a:xfrm>
            <a:off x="0" y="1162981"/>
            <a:ext cx="12192000" cy="5695019"/>
          </a:xfrm>
          <a:prstGeom prst="rect">
            <a:avLst/>
          </a:prstGeom>
        </p:spPr>
      </p:pic>
      <p:sp>
        <p:nvSpPr>
          <p:cNvPr id="5" name="Title 3">
            <a:extLst>
              <a:ext uri="{FF2B5EF4-FFF2-40B4-BE49-F238E27FC236}">
                <a16:creationId xmlns:a16="http://schemas.microsoft.com/office/drawing/2014/main" id="{9F78034F-CBEB-B8C0-5908-B00079487BD2}"/>
              </a:ext>
            </a:extLst>
          </p:cNvPr>
          <p:cNvSpPr txBox="1">
            <a:spLocks/>
          </p:cNvSpPr>
          <p:nvPr/>
        </p:nvSpPr>
        <p:spPr>
          <a:xfrm>
            <a:off x="957469" y="546755"/>
            <a:ext cx="4594403" cy="616226"/>
          </a:xfrm>
          <a:prstGeom prst="rect">
            <a:avLst/>
          </a:prstGeom>
          <a:effectLst>
            <a:outerShdw blurRad="50800" dist="38100" dir="5400000" algn="t" rotWithShape="0">
              <a:prstClr val="black">
                <a:alpha val="40000"/>
              </a:prstClr>
            </a:outerShdw>
          </a:effectLst>
        </p:spPr>
        <p:txBody>
          <a:bodyP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n-US" sz="3200" b="1" dirty="0">
                <a:solidFill>
                  <a:schemeClr val="dk1"/>
                </a:solidFill>
                <a:latin typeface="Times New Roman" panose="02020603050405020304" pitchFamily="18" charset="0"/>
                <a:ea typeface="Quattrocento Sans"/>
                <a:cs typeface="Times New Roman" panose="02020603050405020304" pitchFamily="18" charset="0"/>
                <a:sym typeface="Quattrocento Sans"/>
              </a:rPr>
            </a:br>
            <a:r>
              <a:rPr lang="en-US" sz="12800" b="1" dirty="0">
                <a:solidFill>
                  <a:schemeClr val="dk1"/>
                </a:solidFill>
                <a:latin typeface="Times New Roman" panose="02020603050405020304" pitchFamily="18" charset="0"/>
                <a:ea typeface="Quattrocento Sans"/>
                <a:cs typeface="Times New Roman" panose="02020603050405020304" pitchFamily="18" charset="0"/>
                <a:sym typeface="Quattrocento Sans"/>
              </a:rPr>
              <a:t>Highlights</a:t>
            </a:r>
            <a:br>
              <a:rPr lang="en-US" sz="12800" b="1" dirty="0">
                <a:solidFill>
                  <a:schemeClr val="dk1"/>
                </a:solidFill>
                <a:latin typeface="Times New Roman" panose="02020603050405020304" pitchFamily="18" charset="0"/>
                <a:ea typeface="Quattrocento Sans"/>
                <a:cs typeface="Times New Roman" panose="02020603050405020304" pitchFamily="18" charset="0"/>
                <a:sym typeface="Quattrocento Sans"/>
              </a:rPr>
            </a:br>
            <a:endParaRPr lang="en-IN" sz="1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22073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2" name="Picture 1">
            <a:extLst>
              <a:ext uri="{FF2B5EF4-FFF2-40B4-BE49-F238E27FC236}">
                <a16:creationId xmlns:a16="http://schemas.microsoft.com/office/drawing/2014/main" id="{667E59D2-1FC8-BF85-C430-2EBDDD4909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3072" y="1882802"/>
            <a:ext cx="4449531" cy="4300439"/>
          </a:xfrm>
          <a:prstGeom prst="rect">
            <a:avLst/>
          </a:prstGeom>
        </p:spPr>
      </p:pic>
      <p:pic>
        <p:nvPicPr>
          <p:cNvPr id="3" name="Picture 2" descr="Blockchain - Blockchain Technology - Edureka">
            <a:extLst>
              <a:ext uri="{FF2B5EF4-FFF2-40B4-BE49-F238E27FC236}">
                <a16:creationId xmlns:a16="http://schemas.microsoft.com/office/drawing/2014/main" id="{A20F1C92-98DC-4842-B2E5-D71D14BF3569}"/>
              </a:ext>
            </a:extLst>
          </p:cNvPr>
          <p:cNvPicPr>
            <a:picLocks noGrp="1" noChangeAspect="1" noChangeArrowheads="1" noCrop="1"/>
          </p:cNvPicPr>
          <p:nvPr/>
        </p:nvPicPr>
        <p:blipFill>
          <a:blip r:embed="rId4">
            <a:extLst>
              <a:ext uri="{28A0092B-C50C-407E-A947-70E740481C1C}">
                <a14:useLocalDpi xmlns:a14="http://schemas.microsoft.com/office/drawing/2010/main" val="0"/>
              </a:ext>
            </a:extLst>
          </a:blip>
          <a:stretch>
            <a:fillRect/>
          </a:stretch>
        </p:blipFill>
        <p:spPr bwMode="auto">
          <a:xfrm>
            <a:off x="5812850" y="1496304"/>
            <a:ext cx="5639871" cy="4439478"/>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9B89D62A-CA7B-B619-508A-4762B0A91C4C}"/>
              </a:ext>
            </a:extLst>
          </p:cNvPr>
          <p:cNvSpPr>
            <a:spLocks noGrp="1"/>
          </p:cNvSpPr>
          <p:nvPr>
            <p:ph type="title"/>
          </p:nvPr>
        </p:nvSpPr>
        <p:spPr>
          <a:xfrm>
            <a:off x="910635" y="1090871"/>
            <a:ext cx="4594403" cy="616226"/>
          </a:xfrm>
        </p:spPr>
        <p:txBody>
          <a:bodyPr>
            <a:normAutofit fontScale="90000"/>
          </a:bodyPr>
          <a:lstStyle/>
          <a:p>
            <a:br>
              <a:rPr lang="en-US" sz="3200" b="1" dirty="0">
                <a:solidFill>
                  <a:schemeClr val="dk1"/>
                </a:solidFill>
                <a:latin typeface="Times New Roman" panose="02020603050405020304" pitchFamily="18" charset="0"/>
                <a:ea typeface="Quattrocento Sans"/>
                <a:cs typeface="Times New Roman" panose="02020603050405020304" pitchFamily="18" charset="0"/>
                <a:sym typeface="Quattrocento Sans"/>
              </a:rPr>
            </a:br>
            <a:r>
              <a:rPr lang="en-US" sz="3200" b="1" dirty="0">
                <a:solidFill>
                  <a:schemeClr val="dk1"/>
                </a:solidFill>
                <a:latin typeface="Times New Roman" panose="02020603050405020304" pitchFamily="18" charset="0"/>
                <a:ea typeface="Quattrocento Sans"/>
                <a:cs typeface="Times New Roman" panose="02020603050405020304" pitchFamily="18" charset="0"/>
                <a:sym typeface="Quattrocento Sans"/>
              </a:rPr>
              <a:t>Highlights</a:t>
            </a:r>
            <a:br>
              <a:rPr lang="en-US" sz="4400" b="1" dirty="0">
                <a:solidFill>
                  <a:schemeClr val="dk1"/>
                </a:solidFill>
                <a:latin typeface="Quattrocento Sans"/>
                <a:ea typeface="Quattrocento Sans"/>
                <a:cs typeface="Quattrocento Sans"/>
                <a:sym typeface="Quattrocento Sans"/>
              </a:rPr>
            </a:br>
            <a:endParaRPr lang="en-IN" dirty="0"/>
          </a:p>
        </p:txBody>
      </p:sp>
    </p:spTree>
  </p:cSld>
  <p:clrMapOvr>
    <a:masterClrMapping/>
  </p:clrMapOvr>
  <mc:AlternateContent xmlns:mc="http://schemas.openxmlformats.org/markup-compatibility/2006" xmlns:p14="http://schemas.microsoft.com/office/powerpoint/2010/main">
    <mc:Choice Requires="p14">
      <p:transition spd="slow" p14:dur="1500">
        <p:split/>
      </p:transition>
    </mc:Choice>
    <mc:Fallback xmlns="">
      <p:transition spd="slow">
        <p:spli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77FFC-0F8A-62AD-9F63-23382083378B}"/>
              </a:ext>
            </a:extLst>
          </p:cNvPr>
          <p:cNvSpPr>
            <a:spLocks noGrp="1"/>
          </p:cNvSpPr>
          <p:nvPr>
            <p:ph type="title"/>
          </p:nvPr>
        </p:nvSpPr>
        <p:spPr>
          <a:effectLst>
            <a:outerShdw blurRad="50800" dist="38100" dir="8100000" algn="tr" rotWithShape="0">
              <a:prstClr val="black">
                <a:alpha val="40000"/>
              </a:prstClr>
            </a:outerShdw>
          </a:effectLst>
        </p:spPr>
        <p:txBody>
          <a:bodyPr/>
          <a:lstStyle/>
          <a:p>
            <a:r>
              <a:rPr lang="en-US" sz="3200" b="1" dirty="0">
                <a:latin typeface="Times New Roman" panose="02020603050405020304" pitchFamily="18" charset="0"/>
                <a:cs typeface="Times New Roman" panose="02020603050405020304" pitchFamily="18" charset="0"/>
              </a:rPr>
              <a:t>Applications</a:t>
            </a:r>
            <a:r>
              <a:rPr lang="en-US" b="1" dirty="0">
                <a:latin typeface="Times New Roman" panose="02020603050405020304" pitchFamily="18" charset="0"/>
                <a:cs typeface="Times New Roman" panose="02020603050405020304" pitchFamily="18" charset="0"/>
              </a:rPr>
              <a:t> </a:t>
            </a:r>
            <a:endParaRPr lang="en-IN" b="1" dirty="0">
              <a:latin typeface="Times New Roman" panose="02020603050405020304" pitchFamily="18" charset="0"/>
              <a:cs typeface="Times New Roman" panose="02020603050405020304" pitchFamily="18" charset="0"/>
            </a:endParaRPr>
          </a:p>
        </p:txBody>
      </p:sp>
      <p:pic>
        <p:nvPicPr>
          <p:cNvPr id="3" name="Content Placeholder 3">
            <a:extLst>
              <a:ext uri="{FF2B5EF4-FFF2-40B4-BE49-F238E27FC236}">
                <a16:creationId xmlns:a16="http://schemas.microsoft.com/office/drawing/2014/main" id="{790A690B-6F9B-DFBC-E92B-838F50CC08AC}"/>
              </a:ext>
            </a:extLst>
          </p:cNvPr>
          <p:cNvPicPr>
            <a:picLocks noGrp="1" noChangeAspect="1"/>
          </p:cNvPicPr>
          <p:nvPr/>
        </p:nvPicPr>
        <p:blipFill>
          <a:blip r:embed="rId2">
            <a:extLst>
              <a:ext uri="{28A0092B-C50C-407E-A947-70E740481C1C}">
                <a14:useLocalDpi xmlns:a14="http://schemas.microsoft.com/office/drawing/2010/main" val="0"/>
              </a:ext>
            </a:extLst>
          </a:blip>
          <a:stretch>
            <a:fillRect/>
          </a:stretch>
        </p:blipFill>
        <p:spPr>
          <a:xfrm>
            <a:off x="838200" y="1690688"/>
            <a:ext cx="10515600" cy="5083720"/>
          </a:xfrm>
          <a:prstGeom prst="rect">
            <a:avLst/>
          </a:prstGeom>
        </p:spPr>
      </p:pic>
    </p:spTree>
    <p:extLst>
      <p:ext uri="{BB962C8B-B14F-4D97-AF65-F5344CB8AC3E}">
        <p14:creationId xmlns:p14="http://schemas.microsoft.com/office/powerpoint/2010/main" val="19276112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71" name="Google Shape;171;p7"/>
          <p:cNvSpPr txBox="1"/>
          <p:nvPr/>
        </p:nvSpPr>
        <p:spPr>
          <a:xfrm>
            <a:off x="1391100" y="774564"/>
            <a:ext cx="8285584" cy="532612"/>
          </a:xfrm>
          <a:prstGeom prst="rect">
            <a:avLst/>
          </a:prstGeom>
          <a:noFill/>
          <a:ln>
            <a:noFill/>
          </a:ln>
        </p:spPr>
        <p:txBody>
          <a:bodyPr spcFirstLastPara="1" wrap="square" lIns="63294" tIns="31638" rIns="63294" bIns="31638" anchor="t" anchorCtr="0">
            <a:spAutoFit/>
          </a:bodyPr>
          <a:lstStyle/>
          <a:p>
            <a:r>
              <a:rPr lang="en-US" sz="3046" b="1" dirty="0">
                <a:solidFill>
                  <a:schemeClr val="dk1"/>
                </a:solidFill>
                <a:latin typeface="Quattrocento Sans"/>
                <a:ea typeface="Quattrocento Sans"/>
                <a:cs typeface="Quattrocento Sans"/>
                <a:sym typeface="Quattrocento Sans"/>
              </a:rPr>
              <a:t>Supply Chain Management –   After Blockchain</a:t>
            </a:r>
            <a:endParaRPr sz="3046" b="1" dirty="0">
              <a:solidFill>
                <a:schemeClr val="dk1"/>
              </a:solidFill>
              <a:latin typeface="Quattrocento Sans"/>
              <a:ea typeface="Quattrocento Sans"/>
              <a:cs typeface="Quattrocento Sans"/>
              <a:sym typeface="Quattrocento Sans"/>
            </a:endParaRPr>
          </a:p>
        </p:txBody>
      </p:sp>
      <p:pic>
        <p:nvPicPr>
          <p:cNvPr id="2" name="Picture 1">
            <a:extLst>
              <a:ext uri="{FF2B5EF4-FFF2-40B4-BE49-F238E27FC236}">
                <a16:creationId xmlns:a16="http://schemas.microsoft.com/office/drawing/2014/main" id="{93CC4FC9-2775-2D39-68E1-FD9BFA64FC11}"/>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1100" y="1852506"/>
            <a:ext cx="8639308" cy="4464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6603460"/>
      </p:ext>
    </p:extLst>
  </p:cSld>
  <p:clrMapOvr>
    <a:masterClrMapping/>
  </p:clrMapOvr>
  <mc:AlternateContent xmlns:mc="http://schemas.openxmlformats.org/markup-compatibility/2006" xmlns:p14="http://schemas.microsoft.com/office/powerpoint/2010/main">
    <mc:Choice Requires="p14">
      <p:transition spd="slow" p14:dur="1500">
        <p:split/>
      </p:transition>
    </mc:Choice>
    <mc:Fallback xmlns="">
      <p:transition spd="slow">
        <p:spli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71" name="Google Shape;171;p7"/>
          <p:cNvSpPr txBox="1"/>
          <p:nvPr/>
        </p:nvSpPr>
        <p:spPr>
          <a:xfrm>
            <a:off x="1436915" y="699920"/>
            <a:ext cx="9185328" cy="532612"/>
          </a:xfrm>
          <a:prstGeom prst="rect">
            <a:avLst/>
          </a:prstGeom>
          <a:noFill/>
          <a:ln>
            <a:noFill/>
          </a:ln>
        </p:spPr>
        <p:txBody>
          <a:bodyPr spcFirstLastPara="1" wrap="square" lIns="63294" tIns="31638" rIns="63294" bIns="31638" anchor="t" anchorCtr="0">
            <a:spAutoFit/>
          </a:bodyPr>
          <a:lstStyle/>
          <a:p>
            <a:r>
              <a:rPr lang="en-US" sz="3046" b="1" dirty="0">
                <a:solidFill>
                  <a:schemeClr val="dk1"/>
                </a:solidFill>
                <a:latin typeface="Quattrocento Sans"/>
                <a:ea typeface="Quattrocento Sans"/>
                <a:cs typeface="Quattrocento Sans"/>
                <a:sym typeface="Quattrocento Sans"/>
              </a:rPr>
              <a:t>Supply Chain Management –   After Blockchain</a:t>
            </a:r>
            <a:endParaRPr sz="3046" b="1" dirty="0">
              <a:solidFill>
                <a:schemeClr val="dk1"/>
              </a:solidFill>
              <a:latin typeface="Quattrocento Sans"/>
              <a:ea typeface="Quattrocento Sans"/>
              <a:cs typeface="Quattrocento Sans"/>
              <a:sym typeface="Quattrocento Sans"/>
            </a:endParaRPr>
          </a:p>
        </p:txBody>
      </p:sp>
      <p:pic>
        <p:nvPicPr>
          <p:cNvPr id="2" name="Picture 1">
            <a:extLst>
              <a:ext uri="{FF2B5EF4-FFF2-40B4-BE49-F238E27FC236}">
                <a16:creationId xmlns:a16="http://schemas.microsoft.com/office/drawing/2014/main" id="{8DA437E3-221F-E15A-F2D7-31DE1A9BC009}"/>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6915" y="1841556"/>
            <a:ext cx="8938282" cy="4127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27970576"/>
      </p:ext>
    </p:extLst>
  </p:cSld>
  <p:clrMapOvr>
    <a:masterClrMapping/>
  </p:clrMapOvr>
  <mc:AlternateContent xmlns:mc="http://schemas.openxmlformats.org/markup-compatibility/2006" xmlns:p14="http://schemas.microsoft.com/office/powerpoint/2010/main">
    <mc:Choice Requires="p14">
      <p:transition spd="slow" p14:dur="1500">
        <p:split/>
      </p:transition>
    </mc:Choice>
    <mc:Fallback xmlns="">
      <p:transition spd="slow">
        <p:spli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71" name="Google Shape;171;p7"/>
          <p:cNvSpPr txBox="1"/>
          <p:nvPr/>
        </p:nvSpPr>
        <p:spPr>
          <a:xfrm>
            <a:off x="1526261" y="738535"/>
            <a:ext cx="8477271" cy="532612"/>
          </a:xfrm>
          <a:prstGeom prst="rect">
            <a:avLst/>
          </a:prstGeom>
          <a:noFill/>
          <a:ln>
            <a:noFill/>
          </a:ln>
        </p:spPr>
        <p:txBody>
          <a:bodyPr spcFirstLastPara="1" wrap="square" lIns="63294" tIns="31638" rIns="63294" bIns="31638" anchor="t" anchorCtr="0">
            <a:spAutoFit/>
          </a:bodyPr>
          <a:lstStyle/>
          <a:p>
            <a:r>
              <a:rPr lang="en-US" sz="3046" b="1" dirty="0">
                <a:solidFill>
                  <a:schemeClr val="dk1"/>
                </a:solidFill>
                <a:latin typeface="Quattrocento Sans"/>
                <a:ea typeface="Quattrocento Sans"/>
                <a:cs typeface="Quattrocento Sans"/>
                <a:sym typeface="Quattrocento Sans"/>
              </a:rPr>
              <a:t>Supply Chain Management –   After Blockchain</a:t>
            </a:r>
            <a:endParaRPr sz="3046" b="1" dirty="0">
              <a:solidFill>
                <a:schemeClr val="dk1"/>
              </a:solidFill>
              <a:latin typeface="Quattrocento Sans"/>
              <a:ea typeface="Quattrocento Sans"/>
              <a:cs typeface="Quattrocento Sans"/>
              <a:sym typeface="Quattrocento Sans"/>
            </a:endParaRPr>
          </a:p>
        </p:txBody>
      </p:sp>
      <p:pic>
        <p:nvPicPr>
          <p:cNvPr id="3" name="Picture 2">
            <a:extLst>
              <a:ext uri="{FF2B5EF4-FFF2-40B4-BE49-F238E27FC236}">
                <a16:creationId xmlns:a16="http://schemas.microsoft.com/office/drawing/2014/main" id="{82D3CF85-FFD9-7745-68A5-A852B6E14A1B}"/>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8468" y="1841556"/>
            <a:ext cx="7815064" cy="42779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98041723"/>
      </p:ext>
    </p:extLst>
  </p:cSld>
  <p:clrMapOvr>
    <a:masterClrMapping/>
  </p:clrMapOvr>
  <mc:AlternateContent xmlns:mc="http://schemas.openxmlformats.org/markup-compatibility/2006" xmlns:p14="http://schemas.microsoft.com/office/powerpoint/2010/main">
    <mc:Choice Requires="p14">
      <p:transition spd="slow" p14:dur="1500">
        <p:split/>
      </p:transition>
    </mc:Choice>
    <mc:Fallback xmlns="">
      <p:transition spd="slow">
        <p:spli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71" name="Google Shape;171;p7"/>
          <p:cNvSpPr txBox="1"/>
          <p:nvPr/>
        </p:nvSpPr>
        <p:spPr>
          <a:xfrm>
            <a:off x="1477547" y="839879"/>
            <a:ext cx="11256724" cy="532612"/>
          </a:xfrm>
          <a:prstGeom prst="rect">
            <a:avLst/>
          </a:prstGeom>
          <a:noFill/>
          <a:ln>
            <a:noFill/>
          </a:ln>
        </p:spPr>
        <p:txBody>
          <a:bodyPr spcFirstLastPara="1" wrap="square" lIns="63294" tIns="31638" rIns="63294" bIns="31638" anchor="t" anchorCtr="0">
            <a:spAutoFit/>
          </a:bodyPr>
          <a:lstStyle/>
          <a:p>
            <a:r>
              <a:rPr lang="en-US" sz="3046" b="1" dirty="0">
                <a:solidFill>
                  <a:schemeClr val="dk1"/>
                </a:solidFill>
                <a:latin typeface="Quattrocento Sans"/>
                <a:ea typeface="Quattrocento Sans"/>
                <a:cs typeface="Quattrocento Sans"/>
                <a:sym typeface="Quattrocento Sans"/>
              </a:rPr>
              <a:t>Supply Chain Management –   After Blockchain</a:t>
            </a:r>
            <a:endParaRPr sz="3046" b="1" dirty="0">
              <a:solidFill>
                <a:schemeClr val="dk1"/>
              </a:solidFill>
              <a:latin typeface="Quattrocento Sans"/>
              <a:ea typeface="Quattrocento Sans"/>
              <a:cs typeface="Quattrocento Sans"/>
              <a:sym typeface="Quattrocento Sans"/>
            </a:endParaRPr>
          </a:p>
        </p:txBody>
      </p:sp>
      <p:pic>
        <p:nvPicPr>
          <p:cNvPr id="2" name="Picture 1">
            <a:extLst>
              <a:ext uri="{FF2B5EF4-FFF2-40B4-BE49-F238E27FC236}">
                <a16:creationId xmlns:a16="http://schemas.microsoft.com/office/drawing/2014/main" id="{3EABE2C5-742E-28FC-E49B-1E6EA7886437}"/>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7547" y="2029933"/>
            <a:ext cx="9236907" cy="3917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46680846"/>
      </p:ext>
    </p:extLst>
  </p:cSld>
  <p:clrMapOvr>
    <a:masterClrMapping/>
  </p:clrMapOvr>
  <mc:AlternateContent xmlns:mc="http://schemas.openxmlformats.org/markup-compatibility/2006" xmlns:p14="http://schemas.microsoft.com/office/powerpoint/2010/main">
    <mc:Choice Requires="p14">
      <p:transition spd="slow" p14:dur="1500">
        <p:split/>
      </p:transition>
    </mc:Choice>
    <mc:Fallback xmlns="">
      <p:transition spd="slow">
        <p:spli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71" name="Google Shape;171;p7"/>
          <p:cNvSpPr txBox="1"/>
          <p:nvPr/>
        </p:nvSpPr>
        <p:spPr>
          <a:xfrm>
            <a:off x="1285437" y="737241"/>
            <a:ext cx="9427925" cy="532612"/>
          </a:xfrm>
          <a:prstGeom prst="rect">
            <a:avLst/>
          </a:prstGeom>
          <a:noFill/>
          <a:ln>
            <a:noFill/>
          </a:ln>
        </p:spPr>
        <p:txBody>
          <a:bodyPr spcFirstLastPara="1" wrap="square" lIns="63294" tIns="31638" rIns="63294" bIns="31638" anchor="t" anchorCtr="0">
            <a:spAutoFit/>
          </a:bodyPr>
          <a:lstStyle/>
          <a:p>
            <a:r>
              <a:rPr lang="en-US" sz="3046" b="1" dirty="0">
                <a:solidFill>
                  <a:schemeClr val="dk1"/>
                </a:solidFill>
                <a:latin typeface="Quattrocento Sans"/>
                <a:ea typeface="Quattrocento Sans"/>
                <a:cs typeface="Quattrocento Sans"/>
                <a:sym typeface="Quattrocento Sans"/>
              </a:rPr>
              <a:t>Supply Chain Management –   After Blockchain</a:t>
            </a:r>
            <a:endParaRPr sz="3046" b="1" dirty="0">
              <a:solidFill>
                <a:schemeClr val="dk1"/>
              </a:solidFill>
              <a:latin typeface="Quattrocento Sans"/>
              <a:ea typeface="Quattrocento Sans"/>
              <a:cs typeface="Quattrocento Sans"/>
              <a:sym typeface="Quattrocento Sans"/>
            </a:endParaRPr>
          </a:p>
        </p:txBody>
      </p:sp>
      <p:pic>
        <p:nvPicPr>
          <p:cNvPr id="2" name="Picture 1">
            <a:extLst>
              <a:ext uri="{FF2B5EF4-FFF2-40B4-BE49-F238E27FC236}">
                <a16:creationId xmlns:a16="http://schemas.microsoft.com/office/drawing/2014/main" id="{57798550-765B-62C8-47EF-59FB038377BD}"/>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0139" y="1761395"/>
            <a:ext cx="8524040" cy="44621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411576"/>
      </p:ext>
    </p:extLst>
  </p:cSld>
  <p:clrMapOvr>
    <a:masterClrMapping/>
  </p:clrMapOvr>
  <mc:AlternateContent xmlns:mc="http://schemas.openxmlformats.org/markup-compatibility/2006" xmlns:p14="http://schemas.microsoft.com/office/powerpoint/2010/main">
    <mc:Choice Requires="p14">
      <p:transition spd="slow" p14:dur="1500">
        <p:split/>
      </p:transition>
    </mc:Choice>
    <mc:Fallback xmlns="">
      <p:transition spd="slow">
        <p:spli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70" name="Google Shape;170;p7"/>
          <p:cNvSpPr txBox="1">
            <a:spLocks noGrp="1"/>
          </p:cNvSpPr>
          <p:nvPr>
            <p:ph idx="1"/>
          </p:nvPr>
        </p:nvSpPr>
        <p:spPr>
          <a:xfrm>
            <a:off x="502298" y="1816294"/>
            <a:ext cx="10515600" cy="4351338"/>
          </a:xfrm>
          <a:prstGeom prst="rect">
            <a:avLst/>
          </a:prstGeom>
          <a:noFill/>
          <a:ln>
            <a:noFill/>
          </a:ln>
        </p:spPr>
        <p:txBody>
          <a:bodyPr spcFirstLastPara="1" vert="horz" wrap="square" lIns="63294" tIns="31638" rIns="63294" bIns="31638" rtlCol="0" anchor="t" anchorCtr="0">
            <a:normAutofit lnSpcReduction="10000"/>
          </a:bodyPr>
          <a:lstStyle/>
          <a:p>
            <a:pPr marL="395649" indent="-395649" algn="just">
              <a:lnSpc>
                <a:spcPct val="150000"/>
              </a:lnSpc>
              <a:spcBef>
                <a:spcPts val="0"/>
              </a:spcBef>
              <a:buSzPts val="4000"/>
            </a:pPr>
            <a:r>
              <a:rPr lang="en-US" sz="2400" dirty="0">
                <a:latin typeface="Times New Roman" panose="02020603050405020304" pitchFamily="18" charset="0"/>
                <a:cs typeface="Times New Roman" panose="02020603050405020304" pitchFamily="18" charset="0"/>
              </a:rPr>
              <a:t>The supply chain industry has become much more complex. </a:t>
            </a:r>
          </a:p>
          <a:p>
            <a:pPr marL="395649" indent="-395649" algn="just">
              <a:lnSpc>
                <a:spcPct val="150000"/>
              </a:lnSpc>
              <a:spcBef>
                <a:spcPts val="0"/>
              </a:spcBef>
              <a:buSzPts val="4000"/>
            </a:pPr>
            <a:endParaRPr lang="en-US" sz="2400" dirty="0">
              <a:latin typeface="Times New Roman" panose="02020603050405020304" pitchFamily="18" charset="0"/>
              <a:cs typeface="Times New Roman" panose="02020603050405020304" pitchFamily="18" charset="0"/>
            </a:endParaRPr>
          </a:p>
          <a:p>
            <a:pPr marL="395649" indent="-395649" algn="just">
              <a:lnSpc>
                <a:spcPct val="150000"/>
              </a:lnSpc>
              <a:spcBef>
                <a:spcPts val="0"/>
              </a:spcBef>
              <a:buSzPts val="4000"/>
            </a:pPr>
            <a:r>
              <a:rPr lang="en-US" sz="2400" dirty="0">
                <a:latin typeface="Times New Roman" panose="02020603050405020304" pitchFamily="18" charset="0"/>
                <a:cs typeface="Times New Roman" panose="02020603050405020304" pitchFamily="18" charset="0"/>
              </a:rPr>
              <a:t>The amount of time taken for a payment between a customer and a vendor, or a manufacturer and a supplier is notably long and tedious. </a:t>
            </a:r>
          </a:p>
          <a:p>
            <a:pPr marL="395649" indent="-395649" algn="just">
              <a:lnSpc>
                <a:spcPct val="150000"/>
              </a:lnSpc>
              <a:spcBef>
                <a:spcPts val="0"/>
              </a:spcBef>
              <a:buSzPts val="4000"/>
            </a:pPr>
            <a:endParaRPr lang="en-US" sz="2400" dirty="0">
              <a:latin typeface="Times New Roman" panose="02020603050405020304" pitchFamily="18" charset="0"/>
              <a:cs typeface="Times New Roman" panose="02020603050405020304" pitchFamily="18" charset="0"/>
            </a:endParaRPr>
          </a:p>
          <a:p>
            <a:pPr marL="395649" indent="-395649" algn="just">
              <a:lnSpc>
                <a:spcPct val="150000"/>
              </a:lnSpc>
              <a:spcBef>
                <a:spcPts val="0"/>
              </a:spcBef>
              <a:buSzPts val="4000"/>
            </a:pPr>
            <a:r>
              <a:rPr lang="en-US" sz="2400" dirty="0">
                <a:latin typeface="Times New Roman" panose="02020603050405020304" pitchFamily="18" charset="0"/>
                <a:cs typeface="Times New Roman" panose="02020603050405020304" pitchFamily="18" charset="0"/>
              </a:rPr>
              <a:t>The products once received, are extremely hard to trace back to its supplier which in turn makes it difficult to eliminate defects in food products, consumer goods, industrial equipment or digital offerings. </a:t>
            </a:r>
          </a:p>
        </p:txBody>
      </p:sp>
      <p:sp>
        <p:nvSpPr>
          <p:cNvPr id="171" name="Google Shape;171;p7"/>
          <p:cNvSpPr txBox="1"/>
          <p:nvPr/>
        </p:nvSpPr>
        <p:spPr>
          <a:xfrm>
            <a:off x="1477598" y="886311"/>
            <a:ext cx="6521847" cy="532612"/>
          </a:xfrm>
          <a:prstGeom prst="rect">
            <a:avLst/>
          </a:prstGeom>
          <a:noFill/>
          <a:ln>
            <a:noFill/>
          </a:ln>
          <a:effectLst>
            <a:outerShdw blurRad="50800" dist="38100" dir="5400000" algn="t" rotWithShape="0">
              <a:prstClr val="black">
                <a:alpha val="40000"/>
              </a:prstClr>
            </a:outerShdw>
          </a:effectLst>
        </p:spPr>
        <p:txBody>
          <a:bodyPr spcFirstLastPara="1" wrap="square" lIns="63294" tIns="31638" rIns="63294" bIns="31638" anchor="t" anchorCtr="0">
            <a:spAutoFit/>
          </a:bodyPr>
          <a:lstStyle/>
          <a:p>
            <a:r>
              <a:rPr lang="en-US" sz="3046" b="1" dirty="0">
                <a:solidFill>
                  <a:schemeClr val="dk1"/>
                </a:solidFill>
                <a:latin typeface="Quattrocento Sans"/>
                <a:ea typeface="Quattrocento Sans"/>
                <a:cs typeface="Quattrocento Sans"/>
                <a:sym typeface="Quattrocento Sans"/>
              </a:rPr>
              <a:t>Supply Chain Problem</a:t>
            </a:r>
            <a:endParaRPr sz="3046" b="1" dirty="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dur="1500">
        <p:split/>
      </p:transition>
    </mc:Choice>
    <mc:Fallback xmlns="">
      <p:transition spd="slow">
        <p:spli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70" name="Google Shape;170;p7"/>
          <p:cNvSpPr txBox="1">
            <a:spLocks noGrp="1"/>
          </p:cNvSpPr>
          <p:nvPr>
            <p:ph idx="1"/>
          </p:nvPr>
        </p:nvSpPr>
        <p:spPr>
          <a:xfrm>
            <a:off x="623597" y="1769641"/>
            <a:ext cx="10515600" cy="4351338"/>
          </a:xfrm>
          <a:prstGeom prst="rect">
            <a:avLst/>
          </a:prstGeom>
          <a:noFill/>
          <a:ln>
            <a:noFill/>
          </a:ln>
        </p:spPr>
        <p:txBody>
          <a:bodyPr spcFirstLastPara="1" vert="horz" wrap="square" lIns="63294" tIns="31638" rIns="63294" bIns="31638" rtlCol="0" anchor="t" anchorCtr="0">
            <a:normAutofit/>
          </a:bodyPr>
          <a:lstStyle/>
          <a:p>
            <a:pPr marL="395649" indent="-395649">
              <a:lnSpc>
                <a:spcPct val="150000"/>
              </a:lnSpc>
              <a:spcBef>
                <a:spcPts val="0"/>
              </a:spcBef>
              <a:buSzPts val="4000"/>
            </a:pPr>
            <a:r>
              <a:rPr lang="en-US" sz="2400" dirty="0">
                <a:latin typeface="Times New Roman" panose="02020603050405020304" pitchFamily="18" charset="0"/>
                <a:cs typeface="Times New Roman" panose="02020603050405020304" pitchFamily="18" charset="0"/>
              </a:rPr>
              <a:t>The friction in this supply chain is a major problem since there are a lot of middlemen and this vast chain increases the uncertainty and stops the chain from working as desired. </a:t>
            </a:r>
          </a:p>
          <a:p>
            <a:pPr marL="395649" indent="-395649">
              <a:lnSpc>
                <a:spcPct val="150000"/>
              </a:lnSpc>
              <a:spcBef>
                <a:spcPts val="0"/>
              </a:spcBef>
              <a:buSzPts val="4000"/>
            </a:pPr>
            <a:endParaRPr lang="en-US" sz="2400" dirty="0">
              <a:latin typeface="Times New Roman" panose="02020603050405020304" pitchFamily="18" charset="0"/>
              <a:cs typeface="Times New Roman" panose="02020603050405020304" pitchFamily="18" charset="0"/>
            </a:endParaRPr>
          </a:p>
          <a:p>
            <a:pPr marL="395649" indent="-395649">
              <a:lnSpc>
                <a:spcPct val="150000"/>
              </a:lnSpc>
              <a:spcBef>
                <a:spcPts val="0"/>
              </a:spcBef>
              <a:buSzPts val="4000"/>
            </a:pPr>
            <a:r>
              <a:rPr lang="en-US" sz="2400" dirty="0">
                <a:latin typeface="Times New Roman" panose="02020603050405020304" pitchFamily="18" charset="0"/>
                <a:cs typeface="Times New Roman" panose="02020603050405020304" pitchFamily="18" charset="0"/>
              </a:rPr>
              <a:t>A chain that is just a list of simple transactions turns into a lengthy procedure involving a high number of steps.</a:t>
            </a:r>
            <a:endParaRPr sz="2400" dirty="0">
              <a:latin typeface="Times New Roman" panose="02020603050405020304" pitchFamily="18" charset="0"/>
              <a:cs typeface="Times New Roman" panose="02020603050405020304" pitchFamily="18" charset="0"/>
            </a:endParaRPr>
          </a:p>
        </p:txBody>
      </p:sp>
      <p:sp>
        <p:nvSpPr>
          <p:cNvPr id="171" name="Google Shape;171;p7"/>
          <p:cNvSpPr txBox="1"/>
          <p:nvPr/>
        </p:nvSpPr>
        <p:spPr>
          <a:xfrm>
            <a:off x="1474237" y="671608"/>
            <a:ext cx="6521847" cy="532612"/>
          </a:xfrm>
          <a:prstGeom prst="rect">
            <a:avLst/>
          </a:prstGeom>
          <a:noFill/>
          <a:ln>
            <a:noFill/>
          </a:ln>
          <a:effectLst>
            <a:outerShdw blurRad="50800" dist="38100" dir="5400000" algn="t" rotWithShape="0">
              <a:prstClr val="black">
                <a:alpha val="40000"/>
              </a:prstClr>
            </a:outerShdw>
          </a:effectLst>
        </p:spPr>
        <p:txBody>
          <a:bodyPr spcFirstLastPara="1" wrap="square" lIns="63294" tIns="31638" rIns="63294" bIns="31638" anchor="t" anchorCtr="0">
            <a:spAutoFit/>
          </a:bodyPr>
          <a:lstStyle/>
          <a:p>
            <a:r>
              <a:rPr lang="en-US" sz="3046" b="1" dirty="0">
                <a:solidFill>
                  <a:schemeClr val="dk1"/>
                </a:solidFill>
                <a:latin typeface="Quattrocento Sans"/>
                <a:ea typeface="Quattrocento Sans"/>
                <a:cs typeface="Quattrocento Sans"/>
                <a:sym typeface="Quattrocento Sans"/>
              </a:rPr>
              <a:t>Supply Chain Problem</a:t>
            </a:r>
            <a:endParaRPr sz="3046" b="1" dirty="0">
              <a:solidFill>
                <a:schemeClr val="dk1"/>
              </a:solidFill>
              <a:latin typeface="Quattrocento Sans"/>
              <a:ea typeface="Quattrocento Sans"/>
              <a:cs typeface="Quattrocento Sans"/>
              <a:sym typeface="Quattrocento Sans"/>
            </a:endParaRPr>
          </a:p>
        </p:txBody>
      </p:sp>
    </p:spTree>
    <p:extLst>
      <p:ext uri="{BB962C8B-B14F-4D97-AF65-F5344CB8AC3E}">
        <p14:creationId xmlns:p14="http://schemas.microsoft.com/office/powerpoint/2010/main" val="1310344212"/>
      </p:ext>
    </p:extLst>
  </p:cSld>
  <p:clrMapOvr>
    <a:masterClrMapping/>
  </p:clrMapOvr>
  <mc:AlternateContent xmlns:mc="http://schemas.openxmlformats.org/markup-compatibility/2006" xmlns:p14="http://schemas.microsoft.com/office/powerpoint/2010/main">
    <mc:Choice Requires="p14">
      <p:transition spd="slow" p14:dur="1500">
        <p:split/>
      </p:transition>
    </mc:Choice>
    <mc:Fallback xmlns="">
      <p:transition spd="slow">
        <p:spli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A69A6-9A79-46A5-C943-A23039FC8EC6}"/>
              </a:ext>
            </a:extLst>
          </p:cNvPr>
          <p:cNvSpPr>
            <a:spLocks noGrp="1"/>
          </p:cNvSpPr>
          <p:nvPr>
            <p:ph type="title"/>
          </p:nvPr>
        </p:nvSpPr>
        <p:spPr>
          <a:xfrm>
            <a:off x="1378317" y="1101012"/>
            <a:ext cx="5992866" cy="419878"/>
          </a:xfrm>
          <a:effectLst>
            <a:outerShdw blurRad="50800" dist="38100" dir="5400000" algn="t" rotWithShape="0">
              <a:prstClr val="black">
                <a:alpha val="40000"/>
              </a:prstClr>
            </a:outerShdw>
          </a:effectLst>
        </p:spPr>
        <p:txBody>
          <a:bodyPr>
            <a:normAutofit fontScale="90000"/>
          </a:bodyPr>
          <a:lstStyle/>
          <a:p>
            <a:br>
              <a:rPr lang="en-US" sz="3200" b="1" dirty="0">
                <a:solidFill>
                  <a:schemeClr val="dk1"/>
                </a:solidFill>
                <a:latin typeface="Times New Roman" panose="02020603050405020304" pitchFamily="18" charset="0"/>
                <a:ea typeface="Quattrocento Sans"/>
                <a:cs typeface="Times New Roman" panose="02020603050405020304" pitchFamily="18" charset="0"/>
                <a:sym typeface="Quattrocento Sans"/>
              </a:rPr>
            </a:br>
            <a:br>
              <a:rPr lang="en-US" sz="4400" b="1" dirty="0">
                <a:solidFill>
                  <a:schemeClr val="dk1"/>
                </a:solidFill>
                <a:latin typeface="Quattrocento Sans"/>
                <a:ea typeface="Quattrocento Sans"/>
                <a:cs typeface="Quattrocento Sans"/>
                <a:sym typeface="Quattrocento Sans"/>
              </a:rPr>
            </a:br>
            <a:r>
              <a:rPr lang="en-US" sz="3600" b="1" dirty="0">
                <a:solidFill>
                  <a:schemeClr val="dk1"/>
                </a:solidFill>
                <a:latin typeface="Times New Roman" panose="02020603050405020304" pitchFamily="18" charset="0"/>
                <a:ea typeface="Quattrocento Sans"/>
                <a:cs typeface="Times New Roman" panose="02020603050405020304" pitchFamily="18" charset="0"/>
                <a:sym typeface="Quattrocento Sans"/>
              </a:rPr>
              <a:t>Problems in Political Systems</a:t>
            </a:r>
            <a:endParaRPr lang="en-IN" sz="3600" dirty="0"/>
          </a:p>
        </p:txBody>
      </p:sp>
      <p:sp>
        <p:nvSpPr>
          <p:cNvPr id="4" name="Content Placeholder 3">
            <a:extLst>
              <a:ext uri="{FF2B5EF4-FFF2-40B4-BE49-F238E27FC236}">
                <a16:creationId xmlns:a16="http://schemas.microsoft.com/office/drawing/2014/main" id="{21AB0D10-DB60-7B2D-AD40-127C2039E248}"/>
              </a:ext>
            </a:extLst>
          </p:cNvPr>
          <p:cNvSpPr>
            <a:spLocks noGrp="1"/>
          </p:cNvSpPr>
          <p:nvPr>
            <p:ph idx="1"/>
          </p:nvPr>
        </p:nvSpPr>
        <p:spPr>
          <a:xfrm>
            <a:off x="678522" y="1810139"/>
            <a:ext cx="10515600" cy="4351338"/>
          </a:xfrm>
        </p:spPr>
        <p:txBody>
          <a:bodyPr>
            <a:noAutofit/>
          </a:bodyPr>
          <a:lstStyle/>
          <a:p>
            <a:pPr marL="330189" lvl="0" indent="-330189" algn="just" rtl="0">
              <a:lnSpc>
                <a:spcPct val="150000"/>
              </a:lnSpc>
              <a:spcBef>
                <a:spcPts val="0"/>
              </a:spcBef>
              <a:spcAft>
                <a:spcPts val="0"/>
              </a:spcAft>
              <a:buClr>
                <a:schemeClr val="dk1"/>
              </a:buClr>
              <a:buSzPts val="4000"/>
              <a:buChar char="•"/>
            </a:pPr>
            <a:r>
              <a:rPr lang="en-US" dirty="0">
                <a:latin typeface="Times New Roman" panose="02020603050405020304" pitchFamily="18" charset="0"/>
                <a:cs typeface="Times New Roman" panose="02020603050405020304" pitchFamily="18" charset="0"/>
              </a:rPr>
              <a:t>Elections. Democracies. Politics. It is an open secret that our political systems are imperfect. </a:t>
            </a:r>
          </a:p>
          <a:p>
            <a:pPr marL="330189" lvl="0" indent="-330189" algn="just" rtl="0">
              <a:lnSpc>
                <a:spcPct val="150000"/>
              </a:lnSpc>
              <a:spcBef>
                <a:spcPts val="0"/>
              </a:spcBef>
              <a:spcAft>
                <a:spcPts val="0"/>
              </a:spcAft>
              <a:buClr>
                <a:schemeClr val="dk1"/>
              </a:buClr>
              <a:buSzPts val="4000"/>
              <a:buChar char="•"/>
            </a:pPr>
            <a:endParaRPr lang="en-US" dirty="0">
              <a:latin typeface="Times New Roman" panose="02020603050405020304" pitchFamily="18" charset="0"/>
              <a:cs typeface="Times New Roman" panose="02020603050405020304" pitchFamily="18" charset="0"/>
            </a:endParaRPr>
          </a:p>
          <a:p>
            <a:pPr marL="330189" lvl="0" indent="-330189" algn="just" rtl="0">
              <a:lnSpc>
                <a:spcPct val="150000"/>
              </a:lnSpc>
              <a:spcBef>
                <a:spcPts val="0"/>
              </a:spcBef>
              <a:spcAft>
                <a:spcPts val="0"/>
              </a:spcAft>
              <a:buClr>
                <a:schemeClr val="dk1"/>
              </a:buClr>
              <a:buSzPts val="4000"/>
              <a:buChar char="•"/>
            </a:pPr>
            <a:r>
              <a:rPr lang="en-US" dirty="0">
                <a:latin typeface="Times New Roman" panose="02020603050405020304" pitchFamily="18" charset="0"/>
                <a:cs typeface="Times New Roman" panose="02020603050405020304" pitchFamily="18" charset="0"/>
              </a:rPr>
              <a:t>In fact, one wouldn't hesitate to call them broken. The current system seems more and more dysfunctional and ineffective as the days pass because of the information that we receive from different sources. </a:t>
            </a:r>
          </a:p>
          <a:p>
            <a:pPr marL="330189" lvl="0" indent="-330189" algn="just" rtl="0">
              <a:lnSpc>
                <a:spcPct val="150000"/>
              </a:lnSpc>
              <a:spcBef>
                <a:spcPts val="0"/>
              </a:spcBef>
              <a:spcAft>
                <a:spcPts val="0"/>
              </a:spcAft>
              <a:buClr>
                <a:schemeClr val="dk1"/>
              </a:buClr>
              <a:buSzPts val="4000"/>
              <a:buChar char="•"/>
            </a:pPr>
            <a:endParaRPr lang="en-US" dirty="0">
              <a:latin typeface="Times New Roman" panose="02020603050405020304" pitchFamily="18" charset="0"/>
              <a:cs typeface="Times New Roman" panose="02020603050405020304" pitchFamily="18" charset="0"/>
            </a:endParaRPr>
          </a:p>
          <a:p>
            <a:pPr marL="330189" lvl="0" indent="-330189" algn="just" rtl="0">
              <a:lnSpc>
                <a:spcPct val="150000"/>
              </a:lnSpc>
              <a:spcBef>
                <a:spcPts val="0"/>
              </a:spcBef>
              <a:spcAft>
                <a:spcPts val="0"/>
              </a:spcAft>
              <a:buClr>
                <a:schemeClr val="dk1"/>
              </a:buClr>
              <a:buSzPts val="4000"/>
              <a:buChar char="•"/>
            </a:pPr>
            <a:r>
              <a:rPr lang="en-US" dirty="0">
                <a:latin typeface="Times New Roman" panose="02020603050405020304" pitchFamily="18" charset="0"/>
                <a:cs typeface="Times New Roman" panose="02020603050405020304" pitchFamily="18" charset="0"/>
              </a:rPr>
              <a:t>With the increasing news of manipulations by the official authorities, in the process of counting votes or passing a law, the trust in the government has reached new lows in the recent times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83198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CB0F165-F15B-C393-76E7-48B35A326991}"/>
              </a:ext>
            </a:extLst>
          </p:cNvPr>
          <p:cNvSpPr>
            <a:spLocks noGrp="1"/>
          </p:cNvSpPr>
          <p:nvPr>
            <p:ph type="title"/>
          </p:nvPr>
        </p:nvSpPr>
        <p:spPr>
          <a:xfrm>
            <a:off x="1220756" y="836482"/>
            <a:ext cx="5696338" cy="606490"/>
          </a:xfrm>
        </p:spPr>
        <p:txBody>
          <a:bodyPr>
            <a:normAutofit/>
          </a:bodyPr>
          <a:lstStyle/>
          <a:p>
            <a:r>
              <a:rPr lang="en-US" sz="3200" b="1" dirty="0">
                <a:solidFill>
                  <a:schemeClr val="dk1"/>
                </a:solidFill>
                <a:latin typeface="Times New Roman" panose="02020603050405020304" pitchFamily="18" charset="0"/>
                <a:ea typeface="Quattrocento Sans"/>
                <a:cs typeface="Times New Roman" panose="02020603050405020304" pitchFamily="18" charset="0"/>
                <a:sym typeface="Quattrocento Sans"/>
              </a:rPr>
              <a:t>Problems in Political Systems</a:t>
            </a:r>
            <a:endParaRPr lang="en-IN" sz="3200" dirty="0"/>
          </a:p>
        </p:txBody>
      </p:sp>
      <p:sp>
        <p:nvSpPr>
          <p:cNvPr id="4" name="Content Placeholder 3">
            <a:extLst>
              <a:ext uri="{FF2B5EF4-FFF2-40B4-BE49-F238E27FC236}">
                <a16:creationId xmlns:a16="http://schemas.microsoft.com/office/drawing/2014/main" id="{0B77FEE4-DF40-262C-897A-C2D2D1654E7A}"/>
              </a:ext>
            </a:extLst>
          </p:cNvPr>
          <p:cNvSpPr>
            <a:spLocks noGrp="1"/>
          </p:cNvSpPr>
          <p:nvPr>
            <p:ph idx="1"/>
          </p:nvPr>
        </p:nvSpPr>
        <p:spPr>
          <a:xfrm>
            <a:off x="586273" y="1670180"/>
            <a:ext cx="10515600" cy="4351338"/>
          </a:xfrm>
        </p:spPr>
        <p:txBody>
          <a:bodyPr>
            <a:normAutofit fontScale="85000" lnSpcReduction="10000"/>
          </a:bodyPr>
          <a:lstStyle/>
          <a:p>
            <a:pPr marL="330189" lvl="0" indent="-330189" algn="just" rtl="0">
              <a:lnSpc>
                <a:spcPct val="160000"/>
              </a:lnSpc>
              <a:spcBef>
                <a:spcPts val="0"/>
              </a:spcBef>
              <a:spcAft>
                <a:spcPts val="0"/>
              </a:spcAft>
              <a:buClr>
                <a:schemeClr val="dk1"/>
              </a:buClr>
              <a:buSzPts val="4000"/>
              <a:buChar char="•"/>
            </a:pPr>
            <a:r>
              <a:rPr lang="en-US" sz="2600" dirty="0">
                <a:latin typeface="Times New Roman" panose="02020603050405020304" pitchFamily="18" charset="0"/>
                <a:cs typeface="Times New Roman" panose="02020603050405020304" pitchFamily="18" charset="0"/>
              </a:rPr>
              <a:t>The recent sessions of the governments in all the leading democracies have been amongst the least productive ones. </a:t>
            </a:r>
          </a:p>
          <a:p>
            <a:pPr marL="330189" lvl="0" indent="-330189" algn="just" rtl="0">
              <a:lnSpc>
                <a:spcPct val="160000"/>
              </a:lnSpc>
              <a:spcBef>
                <a:spcPts val="0"/>
              </a:spcBef>
              <a:spcAft>
                <a:spcPts val="0"/>
              </a:spcAft>
              <a:buClr>
                <a:schemeClr val="dk1"/>
              </a:buClr>
              <a:buSzPts val="4000"/>
              <a:buChar char="•"/>
            </a:pPr>
            <a:endParaRPr lang="en-US" sz="2600" dirty="0">
              <a:latin typeface="Times New Roman" panose="02020603050405020304" pitchFamily="18" charset="0"/>
              <a:cs typeface="Times New Roman" panose="02020603050405020304" pitchFamily="18" charset="0"/>
            </a:endParaRPr>
          </a:p>
          <a:p>
            <a:pPr marL="330189" lvl="0" indent="-330189" algn="just" rtl="0">
              <a:lnSpc>
                <a:spcPct val="160000"/>
              </a:lnSpc>
              <a:spcBef>
                <a:spcPts val="0"/>
              </a:spcBef>
              <a:spcAft>
                <a:spcPts val="0"/>
              </a:spcAft>
              <a:buClr>
                <a:schemeClr val="dk1"/>
              </a:buClr>
              <a:buSzPts val="4000"/>
              <a:buChar char="•"/>
            </a:pPr>
            <a:r>
              <a:rPr lang="en-US" sz="2600" dirty="0">
                <a:latin typeface="Times New Roman" panose="02020603050405020304" pitchFamily="18" charset="0"/>
                <a:cs typeface="Times New Roman" panose="02020603050405020304" pitchFamily="18" charset="0"/>
              </a:rPr>
              <a:t>Certain news about the foreign and non-state actors with real power affecting the elections has shaken the pillars of trust the citizens had in the prevailing system of politics. </a:t>
            </a:r>
          </a:p>
          <a:p>
            <a:pPr marL="330189" lvl="0" indent="-330189" algn="just" rtl="0">
              <a:lnSpc>
                <a:spcPct val="160000"/>
              </a:lnSpc>
              <a:spcBef>
                <a:spcPts val="0"/>
              </a:spcBef>
              <a:spcAft>
                <a:spcPts val="0"/>
              </a:spcAft>
              <a:buClr>
                <a:schemeClr val="dk1"/>
              </a:buClr>
              <a:buSzPts val="4000"/>
              <a:buChar char="•"/>
            </a:pPr>
            <a:endParaRPr lang="en-US" sz="2600" dirty="0">
              <a:latin typeface="Times New Roman" panose="02020603050405020304" pitchFamily="18" charset="0"/>
              <a:cs typeface="Times New Roman" panose="02020603050405020304" pitchFamily="18" charset="0"/>
            </a:endParaRPr>
          </a:p>
          <a:p>
            <a:pPr marL="330189" lvl="0" indent="-330189" algn="just" rtl="0">
              <a:lnSpc>
                <a:spcPct val="160000"/>
              </a:lnSpc>
              <a:spcBef>
                <a:spcPts val="0"/>
              </a:spcBef>
              <a:spcAft>
                <a:spcPts val="0"/>
              </a:spcAft>
              <a:buClr>
                <a:schemeClr val="dk1"/>
              </a:buClr>
              <a:buSzPts val="4000"/>
              <a:buChar char="•"/>
            </a:pPr>
            <a:r>
              <a:rPr lang="en-US" sz="2600" dirty="0">
                <a:latin typeface="Times New Roman" panose="02020603050405020304" pitchFamily="18" charset="0"/>
                <a:cs typeface="Times New Roman" panose="02020603050405020304" pitchFamily="18" charset="0"/>
              </a:rPr>
              <a:t>Majority of the people from all over the world are expressing their dissatisfaction and concern over the direction in which all the democracies are headed</a:t>
            </a:r>
            <a:r>
              <a:rPr lang="en-US" sz="2400" dirty="0">
                <a:latin typeface="Times New Roman" panose="02020603050405020304" pitchFamily="18"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27939497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pic>
        <p:nvPicPr>
          <p:cNvPr id="2" name="Picture 1">
            <a:extLst>
              <a:ext uri="{FF2B5EF4-FFF2-40B4-BE49-F238E27FC236}">
                <a16:creationId xmlns:a16="http://schemas.microsoft.com/office/drawing/2014/main" id="{4208B49D-4DB3-4E08-B018-7D2E2D5D4260}"/>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0973" y="1876542"/>
            <a:ext cx="9024528" cy="4169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itle 2">
            <a:extLst>
              <a:ext uri="{FF2B5EF4-FFF2-40B4-BE49-F238E27FC236}">
                <a16:creationId xmlns:a16="http://schemas.microsoft.com/office/drawing/2014/main" id="{9DDDA372-32E4-513E-18EC-5D7F256C238B}"/>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Before Blockchain –A problem in Political Systems</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0306998"/>
      </p:ext>
    </p:extLst>
  </p:cSld>
  <p:clrMapOvr>
    <a:masterClrMapping/>
  </p:clrMapOvr>
  <mc:AlternateContent xmlns:mc="http://schemas.openxmlformats.org/markup-compatibility/2006" xmlns:p14="http://schemas.microsoft.com/office/powerpoint/2010/main">
    <mc:Choice Requires="p14">
      <p:transition spd="slow" p14:dur="1500">
        <p:split/>
      </p:transition>
    </mc:Choice>
    <mc:Fallback xmlns="">
      <p:transition spd="slow">
        <p:spli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71" name="Google Shape;171;p7"/>
          <p:cNvSpPr txBox="1"/>
          <p:nvPr/>
        </p:nvSpPr>
        <p:spPr>
          <a:xfrm>
            <a:off x="853152" y="404868"/>
            <a:ext cx="6521847" cy="532612"/>
          </a:xfrm>
          <a:prstGeom prst="rect">
            <a:avLst/>
          </a:prstGeom>
          <a:noFill/>
          <a:ln>
            <a:noFill/>
          </a:ln>
        </p:spPr>
        <p:txBody>
          <a:bodyPr spcFirstLastPara="1" wrap="square" lIns="63294" tIns="31638" rIns="63294" bIns="31638" anchor="t" anchorCtr="0">
            <a:spAutoFit/>
          </a:bodyPr>
          <a:lstStyle/>
          <a:p>
            <a:pPr algn="ctr"/>
            <a:r>
              <a:rPr lang="en-US" sz="3046" b="1" dirty="0">
                <a:solidFill>
                  <a:schemeClr val="dk1"/>
                </a:solidFill>
                <a:latin typeface="Quattrocento Sans"/>
                <a:ea typeface="Quattrocento Sans"/>
                <a:cs typeface="Quattrocento Sans"/>
                <a:sym typeface="Quattrocento Sans"/>
              </a:rPr>
              <a:t>Political Systems – After Blockchain</a:t>
            </a:r>
          </a:p>
        </p:txBody>
      </p:sp>
      <p:pic>
        <p:nvPicPr>
          <p:cNvPr id="2" name="Picture 1">
            <a:extLst>
              <a:ext uri="{FF2B5EF4-FFF2-40B4-BE49-F238E27FC236}">
                <a16:creationId xmlns:a16="http://schemas.microsoft.com/office/drawing/2014/main" id="{003D67B9-55D2-943E-F764-58C7D2F7778F}"/>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6006" y="1432491"/>
            <a:ext cx="9505801" cy="4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43264962"/>
      </p:ext>
    </p:extLst>
  </p:cSld>
  <p:clrMapOvr>
    <a:masterClrMapping/>
  </p:clrMapOvr>
  <mc:AlternateContent xmlns:mc="http://schemas.openxmlformats.org/markup-compatibility/2006" xmlns:p14="http://schemas.microsoft.com/office/powerpoint/2010/main">
    <mc:Choice Requires="p14">
      <p:transition spd="slow" p14:dur="1500">
        <p:split/>
      </p:transition>
    </mc:Choice>
    <mc:Fallback xmlns="">
      <p:transition spd="slow">
        <p:split/>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71" name="Google Shape;171;p7"/>
          <p:cNvSpPr txBox="1"/>
          <p:nvPr/>
        </p:nvSpPr>
        <p:spPr>
          <a:xfrm>
            <a:off x="1477593" y="713290"/>
            <a:ext cx="7435065" cy="532612"/>
          </a:xfrm>
          <a:prstGeom prst="rect">
            <a:avLst/>
          </a:prstGeom>
          <a:noFill/>
          <a:ln>
            <a:noFill/>
          </a:ln>
        </p:spPr>
        <p:txBody>
          <a:bodyPr spcFirstLastPara="1" wrap="square" lIns="63294" tIns="31638" rIns="63294" bIns="31638" anchor="t" anchorCtr="0">
            <a:spAutoFit/>
          </a:bodyPr>
          <a:lstStyle/>
          <a:p>
            <a:r>
              <a:rPr lang="en-US" sz="3046" b="1" dirty="0">
                <a:solidFill>
                  <a:schemeClr val="dk1"/>
                </a:solidFill>
                <a:latin typeface="Quattrocento Sans"/>
                <a:ea typeface="Quattrocento Sans"/>
                <a:cs typeface="Quattrocento Sans"/>
                <a:sym typeface="Quattrocento Sans"/>
              </a:rPr>
              <a:t>Political Systems – After Blockchain</a:t>
            </a:r>
          </a:p>
        </p:txBody>
      </p:sp>
      <p:pic>
        <p:nvPicPr>
          <p:cNvPr id="2" name="Picture 1">
            <a:extLst>
              <a:ext uri="{FF2B5EF4-FFF2-40B4-BE49-F238E27FC236}">
                <a16:creationId xmlns:a16="http://schemas.microsoft.com/office/drawing/2014/main" id="{539DA176-A01C-166F-7F01-F2CA8D16783E}"/>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246" y="1599392"/>
            <a:ext cx="9867775" cy="4829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21678507"/>
      </p:ext>
    </p:extLst>
  </p:cSld>
  <p:clrMapOvr>
    <a:masterClrMapping/>
  </p:clrMapOvr>
  <mc:AlternateContent xmlns:mc="http://schemas.openxmlformats.org/markup-compatibility/2006" xmlns:p14="http://schemas.microsoft.com/office/powerpoint/2010/main">
    <mc:Choice Requires="p14">
      <p:transition spd="slow" p14:dur="1500">
        <p:split/>
      </p:transition>
    </mc:Choice>
    <mc:Fallback xmlns="">
      <p:transition spd="slow">
        <p:split/>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F3956-82C4-1144-90E6-B84E7B39E6D9}"/>
              </a:ext>
            </a:extLst>
          </p:cNvPr>
          <p:cNvSpPr>
            <a:spLocks noGrp="1"/>
          </p:cNvSpPr>
          <p:nvPr>
            <p:ph type="title"/>
          </p:nvPr>
        </p:nvSpPr>
        <p:spPr>
          <a:xfrm>
            <a:off x="1153886" y="1562714"/>
            <a:ext cx="10515600" cy="558702"/>
          </a:xfrm>
        </p:spPr>
        <p:txBody>
          <a:bodyPr>
            <a:normAutofit fontScale="90000"/>
          </a:bodyPr>
          <a:lstStyle/>
          <a:p>
            <a:r>
              <a:rPr lang="en-US" sz="4400" b="1" dirty="0">
                <a:solidFill>
                  <a:schemeClr val="dk1"/>
                </a:solidFill>
                <a:latin typeface="Quattrocento Sans"/>
                <a:ea typeface="Quattrocento Sans"/>
                <a:cs typeface="Quattrocento Sans"/>
                <a:sym typeface="Quattrocento Sans"/>
              </a:rPr>
              <a:t>Solution via Blockchain</a:t>
            </a:r>
            <a:br>
              <a:rPr lang="en-US" sz="4400" b="1" dirty="0">
                <a:solidFill>
                  <a:schemeClr val="dk1"/>
                </a:solidFill>
                <a:latin typeface="Quattrocento Sans"/>
                <a:ea typeface="Quattrocento Sans"/>
                <a:cs typeface="Quattrocento Sans"/>
                <a:sym typeface="Quattrocento Sans"/>
              </a:rPr>
            </a:br>
            <a:endParaRPr lang="en-IN" dirty="0"/>
          </a:p>
        </p:txBody>
      </p:sp>
      <p:sp>
        <p:nvSpPr>
          <p:cNvPr id="3" name="Content Placeholder 2">
            <a:extLst>
              <a:ext uri="{FF2B5EF4-FFF2-40B4-BE49-F238E27FC236}">
                <a16:creationId xmlns:a16="http://schemas.microsoft.com/office/drawing/2014/main" id="{5013D736-689D-8E64-8E90-E6DA14F23683}"/>
              </a:ext>
            </a:extLst>
          </p:cNvPr>
          <p:cNvSpPr>
            <a:spLocks noGrp="1"/>
          </p:cNvSpPr>
          <p:nvPr>
            <p:ph idx="1"/>
          </p:nvPr>
        </p:nvSpPr>
        <p:spPr>
          <a:xfrm>
            <a:off x="522514" y="1758099"/>
            <a:ext cx="10515600" cy="5099901"/>
          </a:xfrm>
        </p:spPr>
        <p:txBody>
          <a:bodyPr>
            <a:normAutofit/>
          </a:bodyPr>
          <a:lstStyle/>
          <a:p>
            <a:pPr marL="330189" lvl="0" indent="-330189" algn="just" rtl="0">
              <a:lnSpc>
                <a:spcPct val="150000"/>
              </a:lnSpc>
              <a:spcBef>
                <a:spcPts val="0"/>
              </a:spcBef>
              <a:spcAft>
                <a:spcPts val="0"/>
              </a:spcAft>
              <a:buClr>
                <a:schemeClr val="dk1"/>
              </a:buClr>
              <a:buSzPts val="4000"/>
              <a:buChar char="•"/>
            </a:pPr>
            <a:r>
              <a:rPr lang="en-US" sz="2000" dirty="0"/>
              <a:t>Blockchain technology gives us a viable solution here. With its </a:t>
            </a:r>
            <a:r>
              <a:rPr lang="en-US" sz="2000" dirty="0">
                <a:solidFill>
                  <a:schemeClr val="accent5">
                    <a:lumMod val="75000"/>
                  </a:schemeClr>
                </a:solidFill>
              </a:rPr>
              <a:t>decentralized, selective</a:t>
            </a:r>
            <a:r>
              <a:rPr lang="en-US" sz="2000" dirty="0"/>
              <a:t> and </a:t>
            </a:r>
            <a:r>
              <a:rPr lang="en-US" sz="2000" dirty="0">
                <a:solidFill>
                  <a:schemeClr val="accent5">
                    <a:lumMod val="75000"/>
                  </a:schemeClr>
                </a:solidFill>
              </a:rPr>
              <a:t>impenetrable</a:t>
            </a:r>
            <a:r>
              <a:rPr lang="en-US" sz="2000" dirty="0"/>
              <a:t> storage of data, it also provides a perfect ledger to track the information. </a:t>
            </a:r>
          </a:p>
          <a:p>
            <a:pPr marL="330189" lvl="0" indent="-330189" algn="just" rtl="0">
              <a:lnSpc>
                <a:spcPct val="150000"/>
              </a:lnSpc>
              <a:spcBef>
                <a:spcPts val="0"/>
              </a:spcBef>
              <a:spcAft>
                <a:spcPts val="0"/>
              </a:spcAft>
              <a:buClr>
                <a:schemeClr val="dk1"/>
              </a:buClr>
              <a:buSzPts val="4000"/>
              <a:buChar char="•"/>
            </a:pPr>
            <a:endParaRPr lang="en-US" sz="2000" dirty="0"/>
          </a:p>
          <a:p>
            <a:pPr marL="330189" lvl="0" indent="-330189" algn="just" rtl="0">
              <a:lnSpc>
                <a:spcPct val="150000"/>
              </a:lnSpc>
              <a:spcBef>
                <a:spcPts val="0"/>
              </a:spcBef>
              <a:spcAft>
                <a:spcPts val="0"/>
              </a:spcAft>
              <a:buClr>
                <a:schemeClr val="dk1"/>
              </a:buClr>
              <a:buSzPts val="4000"/>
              <a:buChar char="•"/>
            </a:pPr>
            <a:r>
              <a:rPr lang="en-US" sz="2000" dirty="0"/>
              <a:t>With this feature, blockchain can replace anything where the humans are prone to make mistakes, and this is where the governments come to mind. </a:t>
            </a:r>
          </a:p>
          <a:p>
            <a:pPr marL="330189" lvl="0" indent="-330189" algn="just" rtl="0">
              <a:lnSpc>
                <a:spcPct val="150000"/>
              </a:lnSpc>
              <a:spcBef>
                <a:spcPts val="0"/>
              </a:spcBef>
              <a:spcAft>
                <a:spcPts val="0"/>
              </a:spcAft>
              <a:buClr>
                <a:schemeClr val="dk1"/>
              </a:buClr>
              <a:buSzPts val="4000"/>
              <a:buChar char="•"/>
            </a:pPr>
            <a:endParaRPr lang="en-US" sz="2000" dirty="0"/>
          </a:p>
          <a:p>
            <a:pPr marL="330189" lvl="0" indent="-330189" algn="just" rtl="0">
              <a:lnSpc>
                <a:spcPct val="150000"/>
              </a:lnSpc>
              <a:spcBef>
                <a:spcPts val="0"/>
              </a:spcBef>
              <a:spcAft>
                <a:spcPts val="0"/>
              </a:spcAft>
              <a:buClr>
                <a:schemeClr val="dk1"/>
              </a:buClr>
              <a:buSzPts val="4000"/>
              <a:buChar char="•"/>
            </a:pPr>
            <a:r>
              <a:rPr lang="en-US" sz="2000" dirty="0"/>
              <a:t>Voting could go digital with no scope of manipulation by any official authorities or foreign agents involved. All would be able to vote online, and it would be put on the blockchain ledgers on each computer in the blockchain.</a:t>
            </a:r>
          </a:p>
        </p:txBody>
      </p:sp>
    </p:spTree>
    <p:extLst>
      <p:ext uri="{BB962C8B-B14F-4D97-AF65-F5344CB8AC3E}">
        <p14:creationId xmlns:p14="http://schemas.microsoft.com/office/powerpoint/2010/main" val="6912940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67D9820-4D0F-CEFF-B538-5792CF9301E8}"/>
              </a:ext>
            </a:extLst>
          </p:cNvPr>
          <p:cNvSpPr>
            <a:spLocks noGrp="1"/>
          </p:cNvSpPr>
          <p:nvPr>
            <p:ph type="title"/>
          </p:nvPr>
        </p:nvSpPr>
        <p:spPr>
          <a:xfrm>
            <a:off x="1377198" y="827779"/>
            <a:ext cx="7048344" cy="945038"/>
          </a:xfrm>
        </p:spPr>
        <p:txBody>
          <a:bodyPr>
            <a:normAutofit/>
          </a:bodyPr>
          <a:lstStyle/>
          <a:p>
            <a:r>
              <a:rPr lang="en-US" sz="3200" b="1" dirty="0">
                <a:solidFill>
                  <a:schemeClr val="dk1"/>
                </a:solidFill>
                <a:latin typeface="Times New Roman" panose="02020603050405020304" pitchFamily="18" charset="0"/>
                <a:ea typeface="Quattrocento Sans"/>
                <a:cs typeface="Times New Roman" panose="02020603050405020304" pitchFamily="18" charset="0"/>
                <a:sym typeface="Quattrocento Sans"/>
              </a:rPr>
              <a:t>Financial Technology Solution</a:t>
            </a:r>
            <a:br>
              <a:rPr lang="en-US" sz="3200" b="1" dirty="0">
                <a:solidFill>
                  <a:schemeClr val="dk1"/>
                </a:solidFill>
                <a:latin typeface="Times New Roman" panose="02020603050405020304" pitchFamily="18" charset="0"/>
                <a:ea typeface="Quattrocento Sans"/>
                <a:cs typeface="Times New Roman" panose="02020603050405020304" pitchFamily="18" charset="0"/>
                <a:sym typeface="Quattrocento Sans"/>
              </a:rPr>
            </a:br>
            <a:endParaRPr lang="en-IN" sz="3200"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2ADD8ECE-DAF1-28B0-BCB6-E44C034E65AC}"/>
              </a:ext>
            </a:extLst>
          </p:cNvPr>
          <p:cNvSpPr>
            <a:spLocks noGrp="1"/>
          </p:cNvSpPr>
          <p:nvPr>
            <p:ph idx="1"/>
          </p:nvPr>
        </p:nvSpPr>
        <p:spPr/>
        <p:txBody>
          <a:bodyPr>
            <a:normAutofit/>
          </a:bodyPr>
          <a:lstStyle/>
          <a:p>
            <a:pPr marL="330189" lvl="0" indent="-330189" algn="just" rtl="0">
              <a:lnSpc>
                <a:spcPct val="100000"/>
              </a:lnSpc>
              <a:spcBef>
                <a:spcPts val="0"/>
              </a:spcBef>
              <a:spcAft>
                <a:spcPts val="0"/>
              </a:spcAft>
              <a:buClr>
                <a:schemeClr val="dk1"/>
              </a:buClr>
              <a:buSzPts val="4000"/>
              <a:buChar char="•"/>
            </a:pPr>
            <a:r>
              <a:rPr lang="en-US" sz="2400" dirty="0"/>
              <a:t>The details of a user are held with the bank and an individual has no control over the security of their own information. </a:t>
            </a:r>
          </a:p>
          <a:p>
            <a:pPr marL="330189" lvl="0" indent="-330189" algn="just" rtl="0">
              <a:lnSpc>
                <a:spcPct val="100000"/>
              </a:lnSpc>
              <a:spcBef>
                <a:spcPts val="0"/>
              </a:spcBef>
              <a:spcAft>
                <a:spcPts val="0"/>
              </a:spcAft>
              <a:buClr>
                <a:schemeClr val="dk1"/>
              </a:buClr>
              <a:buSzPts val="4000"/>
              <a:buChar char="•"/>
            </a:pPr>
            <a:endParaRPr lang="en-US" sz="2400" dirty="0"/>
          </a:p>
          <a:p>
            <a:pPr marL="330189" lvl="0" indent="-330189" algn="just" rtl="0">
              <a:lnSpc>
                <a:spcPct val="100000"/>
              </a:lnSpc>
              <a:spcBef>
                <a:spcPts val="0"/>
              </a:spcBef>
              <a:spcAft>
                <a:spcPts val="0"/>
              </a:spcAft>
              <a:buClr>
                <a:schemeClr val="dk1"/>
              </a:buClr>
              <a:buSzPts val="4000"/>
              <a:buChar char="•"/>
            </a:pPr>
            <a:r>
              <a:rPr lang="en-US" sz="2400" dirty="0"/>
              <a:t>Authentication methods and secured transmission are the major issues faced by FinTech at the moment. </a:t>
            </a:r>
          </a:p>
          <a:p>
            <a:pPr marL="330189" lvl="0" indent="-330189" algn="just" rtl="0">
              <a:lnSpc>
                <a:spcPct val="100000"/>
              </a:lnSpc>
              <a:spcBef>
                <a:spcPts val="0"/>
              </a:spcBef>
              <a:spcAft>
                <a:spcPts val="0"/>
              </a:spcAft>
              <a:buClr>
                <a:schemeClr val="dk1"/>
              </a:buClr>
              <a:buSzPts val="4000"/>
              <a:buChar char="•"/>
            </a:pPr>
            <a:endParaRPr lang="en-US" sz="2400" dirty="0"/>
          </a:p>
          <a:p>
            <a:pPr marL="330189" lvl="0" indent="-330189" algn="just" rtl="0">
              <a:lnSpc>
                <a:spcPct val="100000"/>
              </a:lnSpc>
              <a:spcBef>
                <a:spcPts val="0"/>
              </a:spcBef>
              <a:spcAft>
                <a:spcPts val="0"/>
              </a:spcAft>
              <a:buClr>
                <a:schemeClr val="dk1"/>
              </a:buClr>
              <a:buSzPts val="4000"/>
              <a:buChar char="•"/>
            </a:pPr>
            <a:r>
              <a:rPr lang="en-US" sz="2400" dirty="0"/>
              <a:t>Ensuring the authenticity and identity of the person signing the documents, supervisory controls on the financial markets, transaction control, insurance claiming processes, etc. are some of the issues created due to the oversight of the Financial industry.</a:t>
            </a:r>
          </a:p>
          <a:p>
            <a:endParaRPr lang="en-IN" dirty="0"/>
          </a:p>
        </p:txBody>
      </p:sp>
    </p:spTree>
    <p:extLst>
      <p:ext uri="{BB962C8B-B14F-4D97-AF65-F5344CB8AC3E}">
        <p14:creationId xmlns:p14="http://schemas.microsoft.com/office/powerpoint/2010/main" val="16675227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AA14D-C80F-40F5-68FA-2DB36170973F}"/>
              </a:ext>
            </a:extLst>
          </p:cNvPr>
          <p:cNvSpPr>
            <a:spLocks noGrp="1"/>
          </p:cNvSpPr>
          <p:nvPr>
            <p:ph type="title"/>
          </p:nvPr>
        </p:nvSpPr>
        <p:spPr>
          <a:xfrm>
            <a:off x="1498497" y="557191"/>
            <a:ext cx="10058400" cy="1450757"/>
          </a:xfrm>
        </p:spPr>
        <p:txBody>
          <a:bodyPr>
            <a:normAutofit/>
          </a:bodyPr>
          <a:lstStyle/>
          <a:p>
            <a:r>
              <a:rPr lang="en-US" sz="3200" b="1" dirty="0">
                <a:solidFill>
                  <a:schemeClr val="dk1"/>
                </a:solidFill>
                <a:latin typeface="Times New Roman" panose="02020603050405020304" pitchFamily="18" charset="0"/>
                <a:ea typeface="Quattrocento Sans"/>
                <a:cs typeface="Times New Roman" panose="02020603050405020304" pitchFamily="18" charset="0"/>
                <a:sym typeface="Quattrocento Sans"/>
              </a:rPr>
              <a:t>Financial Technology Solution</a:t>
            </a:r>
            <a:br>
              <a:rPr lang="en-US" sz="3200" b="1" dirty="0">
                <a:solidFill>
                  <a:schemeClr val="dk1"/>
                </a:solidFill>
                <a:latin typeface="Times New Roman" panose="02020603050405020304" pitchFamily="18" charset="0"/>
                <a:ea typeface="Quattrocento Sans"/>
                <a:cs typeface="Times New Roman" panose="02020603050405020304" pitchFamily="18" charset="0"/>
                <a:sym typeface="Quattrocento Sans"/>
              </a:rPr>
            </a:br>
            <a:endParaRPr lang="en-IN" sz="3200" dirty="0"/>
          </a:p>
        </p:txBody>
      </p:sp>
      <p:sp>
        <p:nvSpPr>
          <p:cNvPr id="3" name="Content Placeholder 2">
            <a:extLst>
              <a:ext uri="{FF2B5EF4-FFF2-40B4-BE49-F238E27FC236}">
                <a16:creationId xmlns:a16="http://schemas.microsoft.com/office/drawing/2014/main" id="{E5F9A216-2B75-A235-7A48-848671DF0E18}"/>
              </a:ext>
            </a:extLst>
          </p:cNvPr>
          <p:cNvSpPr>
            <a:spLocks noGrp="1"/>
          </p:cNvSpPr>
          <p:nvPr>
            <p:ph idx="1"/>
          </p:nvPr>
        </p:nvSpPr>
        <p:spPr/>
        <p:txBody>
          <a:bodyPr>
            <a:normAutofit/>
          </a:bodyPr>
          <a:lstStyle/>
          <a:p>
            <a:pPr marL="330189" lvl="0" indent="-330189" algn="just" rtl="0">
              <a:lnSpc>
                <a:spcPct val="90000"/>
              </a:lnSpc>
              <a:spcBef>
                <a:spcPts val="0"/>
              </a:spcBef>
              <a:spcAft>
                <a:spcPts val="0"/>
              </a:spcAft>
              <a:buClr>
                <a:schemeClr val="dk1"/>
              </a:buClr>
              <a:buSzPts val="4000"/>
              <a:buChar char="•"/>
            </a:pPr>
            <a:r>
              <a:rPr lang="en-US" sz="2400" dirty="0"/>
              <a:t>This is where blockchain comes in to solve all these problems. </a:t>
            </a:r>
          </a:p>
          <a:p>
            <a:pPr marL="330189" lvl="0" indent="-330189" algn="just" rtl="0">
              <a:lnSpc>
                <a:spcPct val="90000"/>
              </a:lnSpc>
              <a:spcBef>
                <a:spcPts val="0"/>
              </a:spcBef>
              <a:spcAft>
                <a:spcPts val="0"/>
              </a:spcAft>
              <a:buClr>
                <a:schemeClr val="dk1"/>
              </a:buClr>
              <a:buSzPts val="4000"/>
              <a:buChar char="•"/>
            </a:pPr>
            <a:endParaRPr lang="en-US" sz="2400" dirty="0"/>
          </a:p>
          <a:p>
            <a:pPr marL="330189" lvl="0" indent="-330189" algn="just" rtl="0">
              <a:lnSpc>
                <a:spcPct val="90000"/>
              </a:lnSpc>
              <a:spcBef>
                <a:spcPts val="0"/>
              </a:spcBef>
              <a:spcAft>
                <a:spcPts val="0"/>
              </a:spcAft>
              <a:buClr>
                <a:schemeClr val="dk1"/>
              </a:buClr>
              <a:buSzPts val="4000"/>
              <a:buChar char="•"/>
            </a:pPr>
            <a:r>
              <a:rPr lang="en-US" sz="2400" dirty="0"/>
              <a:t>With the application of blockchain in FinTech, all the data available will be decentralized. </a:t>
            </a:r>
          </a:p>
          <a:p>
            <a:pPr marL="330189" lvl="0" indent="-330189" algn="just" rtl="0">
              <a:lnSpc>
                <a:spcPct val="90000"/>
              </a:lnSpc>
              <a:spcBef>
                <a:spcPts val="0"/>
              </a:spcBef>
              <a:spcAft>
                <a:spcPts val="0"/>
              </a:spcAft>
              <a:buClr>
                <a:schemeClr val="dk1"/>
              </a:buClr>
              <a:buSzPts val="4000"/>
              <a:buChar char="•"/>
            </a:pPr>
            <a:endParaRPr lang="en-US" sz="2400" dirty="0"/>
          </a:p>
          <a:p>
            <a:pPr marL="330189" lvl="0" indent="-330189" algn="just" rtl="0">
              <a:lnSpc>
                <a:spcPct val="90000"/>
              </a:lnSpc>
              <a:spcBef>
                <a:spcPts val="0"/>
              </a:spcBef>
              <a:spcAft>
                <a:spcPts val="0"/>
              </a:spcAft>
              <a:buClr>
                <a:schemeClr val="dk1"/>
              </a:buClr>
              <a:buSzPts val="4000"/>
              <a:buChar char="•"/>
            </a:pPr>
            <a:r>
              <a:rPr lang="en-US" sz="2400" dirty="0"/>
              <a:t>All the transactions taking place will be authorized by the miners, making it immutable and </a:t>
            </a:r>
            <a:r>
              <a:rPr lang="en-US" sz="2400" dirty="0" err="1"/>
              <a:t>unhackable</a:t>
            </a:r>
            <a:r>
              <a:rPr lang="en-US" sz="2400" dirty="0"/>
              <a:t>. </a:t>
            </a:r>
          </a:p>
          <a:p>
            <a:pPr marL="330189" lvl="0" indent="-330189" algn="just" rtl="0">
              <a:lnSpc>
                <a:spcPct val="90000"/>
              </a:lnSpc>
              <a:spcBef>
                <a:spcPts val="0"/>
              </a:spcBef>
              <a:spcAft>
                <a:spcPts val="0"/>
              </a:spcAft>
              <a:buClr>
                <a:schemeClr val="dk1"/>
              </a:buClr>
              <a:buSzPts val="4000"/>
              <a:buChar char="•"/>
            </a:pPr>
            <a:endParaRPr lang="en-US" sz="2400" dirty="0"/>
          </a:p>
          <a:p>
            <a:pPr marL="330189" lvl="0" indent="-330189" algn="just" rtl="0">
              <a:lnSpc>
                <a:spcPct val="90000"/>
              </a:lnSpc>
              <a:spcBef>
                <a:spcPts val="0"/>
              </a:spcBef>
              <a:spcAft>
                <a:spcPts val="0"/>
              </a:spcAft>
              <a:buClr>
                <a:schemeClr val="dk1"/>
              </a:buClr>
              <a:buSzPts val="4000"/>
              <a:buChar char="•"/>
            </a:pPr>
            <a:r>
              <a:rPr lang="en-US" sz="2400" dirty="0"/>
              <a:t>With the help of the public ledger, all the transactions recorded will be on the chain and validate each other transaction, making it reliable and secure.</a:t>
            </a:r>
          </a:p>
          <a:p>
            <a:endParaRPr lang="en-IN" dirty="0"/>
          </a:p>
        </p:txBody>
      </p:sp>
    </p:spTree>
    <p:extLst>
      <p:ext uri="{BB962C8B-B14F-4D97-AF65-F5344CB8AC3E}">
        <p14:creationId xmlns:p14="http://schemas.microsoft.com/office/powerpoint/2010/main" val="28722088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DBDC4-DF3D-E1F3-FF47-3784AB582A04}"/>
              </a:ext>
            </a:extLst>
          </p:cNvPr>
          <p:cNvSpPr>
            <a:spLocks noGrp="1"/>
          </p:cNvSpPr>
          <p:nvPr>
            <p:ph type="title"/>
          </p:nvPr>
        </p:nvSpPr>
        <p:spPr>
          <a:xfrm>
            <a:off x="1757730" y="1426914"/>
            <a:ext cx="5364637" cy="707010"/>
          </a:xfrm>
        </p:spPr>
        <p:txBody>
          <a:bodyPr>
            <a:normAutofit fontScale="90000"/>
          </a:bodyPr>
          <a:lstStyle/>
          <a:p>
            <a:r>
              <a:rPr lang="en-US" sz="3200" b="1" dirty="0">
                <a:solidFill>
                  <a:schemeClr val="dk1"/>
                </a:solidFill>
                <a:latin typeface="Times New Roman" panose="02020603050405020304" pitchFamily="18" charset="0"/>
                <a:ea typeface="Quattrocento Sans"/>
                <a:cs typeface="Times New Roman" panose="02020603050405020304" pitchFamily="18" charset="0"/>
                <a:sym typeface="Quattrocento Sans"/>
              </a:rPr>
              <a:t>Financial Technology Solution</a:t>
            </a:r>
            <a:br>
              <a:rPr lang="en-US" sz="4400" b="1" dirty="0">
                <a:solidFill>
                  <a:schemeClr val="dk1"/>
                </a:solidFill>
                <a:latin typeface="Times New Roman" panose="02020603050405020304" pitchFamily="18" charset="0"/>
                <a:ea typeface="Quattrocento Sans"/>
                <a:cs typeface="Times New Roman" panose="02020603050405020304" pitchFamily="18" charset="0"/>
                <a:sym typeface="Quattrocento Sans"/>
              </a:rPr>
            </a:br>
            <a:endParaRPr lang="en-IN" dirty="0"/>
          </a:p>
        </p:txBody>
      </p:sp>
      <p:sp>
        <p:nvSpPr>
          <p:cNvPr id="3" name="Content Placeholder 2">
            <a:extLst>
              <a:ext uri="{FF2B5EF4-FFF2-40B4-BE49-F238E27FC236}">
                <a16:creationId xmlns:a16="http://schemas.microsoft.com/office/drawing/2014/main" id="{BE918398-EC59-AE23-7D1C-62BDD00B94E6}"/>
              </a:ext>
            </a:extLst>
          </p:cNvPr>
          <p:cNvSpPr>
            <a:spLocks noGrp="1"/>
          </p:cNvSpPr>
          <p:nvPr>
            <p:ph idx="1"/>
          </p:nvPr>
        </p:nvSpPr>
        <p:spPr/>
        <p:txBody>
          <a:bodyPr>
            <a:normAutofit/>
          </a:bodyPr>
          <a:lstStyle/>
          <a:p>
            <a:pPr marL="330189" lvl="0" indent="-330189" algn="just" rtl="0">
              <a:lnSpc>
                <a:spcPct val="90000"/>
              </a:lnSpc>
              <a:spcBef>
                <a:spcPts val="0"/>
              </a:spcBef>
              <a:spcAft>
                <a:spcPts val="0"/>
              </a:spcAft>
              <a:buClr>
                <a:schemeClr val="dk1"/>
              </a:buClr>
              <a:buSzPts val="4000"/>
              <a:buChar char="•"/>
            </a:pPr>
            <a:r>
              <a:rPr lang="en-US" sz="2400" dirty="0"/>
              <a:t>The blockchain technology will discard any third party trying to get a hold of the data and make it a peer-to-peer transaction, giving everyone complete control over their data security. </a:t>
            </a:r>
          </a:p>
          <a:p>
            <a:pPr marL="330189" lvl="0" indent="-330189" algn="just" rtl="0">
              <a:lnSpc>
                <a:spcPct val="90000"/>
              </a:lnSpc>
              <a:spcBef>
                <a:spcPts val="0"/>
              </a:spcBef>
              <a:spcAft>
                <a:spcPts val="0"/>
              </a:spcAft>
              <a:buClr>
                <a:schemeClr val="dk1"/>
              </a:buClr>
              <a:buSzPts val="4000"/>
              <a:buChar char="•"/>
            </a:pPr>
            <a:endParaRPr lang="en-US" sz="2400" dirty="0"/>
          </a:p>
          <a:p>
            <a:pPr marL="330189" lvl="0" indent="-330189" algn="just" rtl="0">
              <a:lnSpc>
                <a:spcPct val="90000"/>
              </a:lnSpc>
              <a:spcBef>
                <a:spcPts val="0"/>
              </a:spcBef>
              <a:spcAft>
                <a:spcPts val="0"/>
              </a:spcAft>
              <a:buClr>
                <a:schemeClr val="dk1"/>
              </a:buClr>
              <a:buSzPts val="4000"/>
              <a:buChar char="•"/>
            </a:pPr>
            <a:r>
              <a:rPr lang="en-US" sz="2400" dirty="0"/>
              <a:t>The transparency that an irreversible ledger provides would make financial operations smooth-running. </a:t>
            </a:r>
          </a:p>
          <a:p>
            <a:pPr marL="330189" lvl="0" indent="-330189" algn="just" rtl="0">
              <a:lnSpc>
                <a:spcPct val="90000"/>
              </a:lnSpc>
              <a:spcBef>
                <a:spcPts val="0"/>
              </a:spcBef>
              <a:spcAft>
                <a:spcPts val="0"/>
              </a:spcAft>
              <a:buClr>
                <a:schemeClr val="dk1"/>
              </a:buClr>
              <a:buSzPts val="4000"/>
              <a:buChar char="•"/>
            </a:pPr>
            <a:endParaRPr lang="en-US" sz="2400" dirty="0"/>
          </a:p>
          <a:p>
            <a:pPr marL="330189" lvl="0" indent="-330189" algn="just" rtl="0">
              <a:lnSpc>
                <a:spcPct val="90000"/>
              </a:lnSpc>
              <a:spcBef>
                <a:spcPts val="0"/>
              </a:spcBef>
              <a:spcAft>
                <a:spcPts val="0"/>
              </a:spcAft>
              <a:buClr>
                <a:schemeClr val="dk1"/>
              </a:buClr>
              <a:buSzPts val="4000"/>
              <a:buChar char="•"/>
            </a:pPr>
            <a:r>
              <a:rPr lang="en-US" sz="2400" dirty="0"/>
              <a:t>Moreover, the ability to create smart contracts would significantly decrease the possibility of defaulting on payments. This way blockchain would reinvent the way FinTech industry operates making it secure and stable than before.</a:t>
            </a:r>
          </a:p>
          <a:p>
            <a:endParaRPr lang="en-IN" dirty="0"/>
          </a:p>
        </p:txBody>
      </p:sp>
    </p:spTree>
    <p:extLst>
      <p:ext uri="{BB962C8B-B14F-4D97-AF65-F5344CB8AC3E}">
        <p14:creationId xmlns:p14="http://schemas.microsoft.com/office/powerpoint/2010/main" val="2485557174"/>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219</TotalTime>
  <Words>1362</Words>
  <Application>Microsoft Office PowerPoint</Application>
  <PresentationFormat>Widescreen</PresentationFormat>
  <Paragraphs>143</Paragraphs>
  <Slides>36</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Arial</vt:lpstr>
      <vt:lpstr>Calibri</vt:lpstr>
      <vt:lpstr>Calibri Light</vt:lpstr>
      <vt:lpstr>CircularXXWeb</vt:lpstr>
      <vt:lpstr>Quattrocento Sans</vt:lpstr>
      <vt:lpstr>Reddit Mono</vt:lpstr>
      <vt:lpstr>Times New Roman</vt:lpstr>
      <vt:lpstr>Retrospect</vt:lpstr>
      <vt:lpstr>D. Y. Patil College of Engineering &amp; Technology, Kolhapur. Department of Computer Science &amp; Engineering Academic Year 2025-26   Elective-III (Block Chain Technology) Topic 1-Introduction of Blockchain    Mrs.N.N.Patil(CSE)</vt:lpstr>
      <vt:lpstr>Distributed database and Decentralized database </vt:lpstr>
      <vt:lpstr>Key Concepts and Differences </vt:lpstr>
      <vt:lpstr>Distributed  &amp; Decentralized Network </vt:lpstr>
      <vt:lpstr>Decentralized System</vt:lpstr>
      <vt:lpstr>PowerPoint Presentation</vt:lpstr>
      <vt:lpstr>PowerPoint Presentation</vt:lpstr>
      <vt:lpstr>What is Blockchain?</vt:lpstr>
      <vt:lpstr>Traditional Approach</vt:lpstr>
      <vt:lpstr>Blockchain Approach</vt:lpstr>
      <vt:lpstr>PowerPoint Presentation</vt:lpstr>
      <vt:lpstr>Why Blockchain? </vt:lpstr>
      <vt:lpstr>PowerPoint Presentation</vt:lpstr>
      <vt:lpstr>Blockchain Introduction</vt:lpstr>
      <vt:lpstr>PowerPoint Presentation</vt:lpstr>
      <vt:lpstr>Network Types</vt:lpstr>
      <vt:lpstr> Highlights </vt:lpstr>
      <vt:lpstr>PowerPoint Presentation</vt:lpstr>
      <vt:lpstr> Highlights </vt:lpstr>
      <vt:lpstr>Applications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Problems in Political Systems</vt:lpstr>
      <vt:lpstr>Problems in Political Systems</vt:lpstr>
      <vt:lpstr>Before Blockchain –A problem in Political Systems</vt:lpstr>
      <vt:lpstr>PowerPoint Presentation</vt:lpstr>
      <vt:lpstr>PowerPoint Presentation</vt:lpstr>
      <vt:lpstr>Solution via Blockchain </vt:lpstr>
      <vt:lpstr>Financial Technology Solution </vt:lpstr>
      <vt:lpstr>Financial Technology Solution </vt:lpstr>
      <vt:lpstr>Financial Technology Solution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Nandini Patil</dc:creator>
  <cp:lastModifiedBy>Hasina Shafique Alam</cp:lastModifiedBy>
  <cp:revision>7</cp:revision>
  <dcterms:created xsi:type="dcterms:W3CDTF">2023-02-20T16:04:02Z</dcterms:created>
  <dcterms:modified xsi:type="dcterms:W3CDTF">2025-07-30T04:28:04Z</dcterms:modified>
</cp:coreProperties>
</file>